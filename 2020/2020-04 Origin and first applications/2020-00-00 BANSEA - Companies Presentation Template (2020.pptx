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[redacted]" r:id="rId1"/>
  </p:sldMasterIdLst>
  <p:notesMasterIdLst>
    <p:notesMasterId r:id="rId5"/>
  </p:notesMasterIdLst>
  <p:handoutMasterIdLst>
    <p:handoutMasterId r:id="rId6"/>
  </p:handoutMasterIdLst>
  <p:sldIdLst>
    <p:sldId id="277" r:id="rId2"/>
    <p:sldId id="280" r:id="rId3"/>
    <p:sldId id="26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6C99"/>
    <a:srgbClr val="7A95BC"/>
    <a:srgbClr val="2A3B53"/>
    <a:srgbClr val="FFC82D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73" autoAdjust="0"/>
  </p:normalViewPr>
  <p:slideViewPr>
    <p:cSldViewPr snapToGrid="0">
      <p:cViewPr varScale="1">
        <p:scale>
          <a:sx n="90" d="100"/>
          <a:sy n="90" d="100"/>
        </p:scale>
        <p:origin x="13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C9C297-76EE-42AA-A8CC-221442D909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18CAA-E9D8-4972-93A1-94CAFA122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0E731-381E-4147-9BE9-0C42AFD55C48}" type="datetimeFigureOut">
              <a:rPr lang="en-SG" smtClean="0"/>
              <a:t>23/2/2020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5FE66-F6CA-4DCD-98FD-3740B8DB4A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03105-96C4-4CB8-8EC9-DE86B4D982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0A93-6847-4043-A3BA-6D6FAAD2B35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Background to Lean Canvas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https://leanstack.com/lean-canvas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Source of Lean Canvas Template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http://invcapital.com/pub/Lcanvas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Actual Examples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-----------------------------------------------------------------------------------------------------------------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Recommended sequence of Inputs: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 -&gt; CS -&gt; V -&gt; S -&gt; C -&gt; RS -&gt; CO -&gt; KM -&gt; UA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Versions: 2016: v1 © Dr. [Third party]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(at)ye.sg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43014" y="107115"/>
            <a:ext cx="11748986" cy="884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43014" y="1132316"/>
            <a:ext cx="11748986" cy="51770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0" name="Shape 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9553" y="6309360"/>
            <a:ext cx="649424" cy="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r" rtl="0">
              <a:spcBef>
                <a:spcPts val="0"/>
              </a:spcBef>
              <a:defRPr sz="5000" b="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399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lnSpc>
                <a:spcPct val="10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1800">
                <a:solidFill>
                  <a:srgbClr val="191919"/>
                </a:solidFill>
              </a:defRPr>
            </a:lvl1pPr>
            <a:lvl2pPr marL="457200" lvl="1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800">
                <a:solidFill>
                  <a:srgbClr val="888888"/>
                </a:solidFill>
              </a:defRPr>
            </a:lvl2pPr>
            <a:lvl3pPr marL="914400" lvl="2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600">
                <a:solidFill>
                  <a:srgbClr val="888888"/>
                </a:solidFill>
              </a:defRPr>
            </a:lvl3pPr>
            <a:lvl4pPr marL="1371600" lvl="3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4pPr>
            <a:lvl5pPr marL="1828800" lvl="4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5pPr>
            <a:lvl6pPr marL="2286000" lvl="5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6pPr>
            <a:lvl7pPr marL="2743200" lvl="6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7pPr>
            <a:lvl8pPr marL="3200400" lvl="7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8pPr>
            <a:lvl9pPr marL="3657600" lvl="8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8" name="Shape 38"/>
          <p:cNvCxnSpPr/>
          <p:nvPr/>
        </p:nvCxnSpPr>
        <p:spPr>
          <a:xfrm rot="10800000">
            <a:off x="8386842" y="5264105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5989319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46" name="Shape 46"/>
          <p:cNvPicPr preferRelativeResize="0"/>
          <p:nvPr/>
        </p:nvPicPr>
        <p:blipFill rotWithShape="1">
          <a:blip r:embed="rId2">
            <a:alphaModFix/>
          </a:blip>
          <a:srcRect l="11013" r="43344" b="34266"/>
          <a:stretch/>
        </p:blipFill>
        <p:spPr>
          <a:xfrm>
            <a:off x="107081" y="913033"/>
            <a:ext cx="490688" cy="48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1024128" y="2179635"/>
            <a:ext cx="4754879" cy="8229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Questrial"/>
              <a:buNone/>
              <a:defRPr sz="2300" b="0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1024128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5989319" y="2179635"/>
            <a:ext cx="4754879" cy="8229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Questrial"/>
              <a:buNone/>
              <a:defRPr sz="2300" b="0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5989319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024128" y="471508"/>
            <a:ext cx="4389119" cy="1737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lnSpc>
                <a:spcPct val="80000"/>
              </a:lnSpc>
              <a:spcBef>
                <a:spcPts val="0"/>
              </a:spcBef>
              <a:defRPr sz="4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5715000" y="822959"/>
            <a:ext cx="5678423" cy="518464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6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1024128" y="2257506"/>
            <a:ext cx="4389119" cy="376229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rtl="0">
              <a:lnSpc>
                <a:spcPct val="108000"/>
              </a:lnSpc>
              <a:spcBef>
                <a:spcPts val="600"/>
              </a:spcBef>
              <a:buFont typeface="Questrial"/>
              <a:buNone/>
              <a:defRPr sz="1600"/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1200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000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900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900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900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900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900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900"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r" rtl="0">
              <a:spcBef>
                <a:spcPts val="0"/>
              </a:spcBef>
              <a:defRPr sz="5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pic" idx="2"/>
          </p:nvPr>
        </p:nvSpPr>
        <p:spPr>
          <a:xfrm>
            <a:off x="0" y="0"/>
            <a:ext cx="12188951" cy="4572000"/>
          </a:xfrm>
          <a:prstGeom prst="rect">
            <a:avLst/>
          </a:prstGeom>
          <a:solidFill>
            <a:srgbClr val="9ED47A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32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399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lnSpc>
                <a:spcPct val="10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1800">
                <a:solidFill>
                  <a:srgbClr val="191919"/>
                </a:solidFill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1400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200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000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000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000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000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000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0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79" name="Shape 79"/>
          <p:cNvCxnSpPr/>
          <p:nvPr/>
        </p:nvCxnSpPr>
        <p:spPr>
          <a:xfrm rot="10800000">
            <a:off x="8386842" y="5264105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 rot="5400000">
            <a:off x="3872483" y="-562355"/>
            <a:ext cx="4023360" cy="97200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 rot="5400000">
            <a:off x="7334249" y="2152650"/>
            <a:ext cx="5410200" cy="2628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 rot="5400000">
            <a:off x="2076450" y="-323849"/>
            <a:ext cx="5410200" cy="7581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92" name="Shape 92"/>
          <p:cNvCxnSpPr/>
          <p:nvPr/>
        </p:nvCxnSpPr>
        <p:spPr>
          <a:xfrm rot="10800000">
            <a:off x="10058400" y="59262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60104" y="112978"/>
            <a:ext cx="11731896" cy="9144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60104" y="1145136"/>
            <a:ext cx="11731896" cy="51642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marR="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marR="0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marR="0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marR="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marR="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marR="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marR="0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marR="0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marR="0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 dirty="0"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5" name="Shape 15"/>
          <p:cNvCxnSpPr/>
          <p:nvPr/>
        </p:nvCxnSpPr>
        <p:spPr>
          <a:xfrm rot="10800000">
            <a:off x="266344" y="112978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601-3511-4DCD-BE50-2D77BD1F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AND COMPANY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6F14-8310-46FF-8FF6-98D27BE57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1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" name="Shape 111">
            <a:extLst>
              <a:ext uri="{FF2B5EF4-FFF2-40B4-BE49-F238E27FC236}">
                <a16:creationId xmlns:a16="http://schemas.microsoft.com/office/drawing/2014/main" id="{E75CB463-75A5-405B-92DA-5B51F202C037}"/>
              </a:ext>
            </a:extLst>
          </p:cNvPr>
          <p:cNvSpPr txBox="1"/>
          <p:nvPr/>
        </p:nvSpPr>
        <p:spPr>
          <a:xfrm>
            <a:off x="1533964" y="1164821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7F7F7F"/>
              </a:buClr>
              <a:buSzPct val="250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Name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</a:t>
            </a:r>
          </a:p>
        </p:txBody>
      </p:sp>
      <p:pic>
        <p:nvPicPr>
          <p:cNvPr id="7" name="Shape 112">
            <a:extLst>
              <a:ext uri="{FF2B5EF4-FFF2-40B4-BE49-F238E27FC236}">
                <a16:creationId xmlns:a16="http://schemas.microsoft.com/office/drawing/2014/main" id="{C48483C9-73B6-44E5-B0B4-1BEAF6277E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75" y="1267562"/>
            <a:ext cx="908118" cy="90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16">
            <a:extLst>
              <a:ext uri="{FF2B5EF4-FFF2-40B4-BE49-F238E27FC236}">
                <a16:creationId xmlns:a16="http://schemas.microsoft.com/office/drawing/2014/main" id="{F5913097-E842-41DA-ACB6-FB0FF08CF7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75" y="2757516"/>
            <a:ext cx="908118" cy="90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118">
            <a:extLst>
              <a:ext uri="{FF2B5EF4-FFF2-40B4-BE49-F238E27FC236}">
                <a16:creationId xmlns:a16="http://schemas.microsoft.com/office/drawing/2014/main" id="{F537A9D5-20BF-4EB6-BD82-C16FFD03C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75" y="4282188"/>
            <a:ext cx="908118" cy="908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CF44FD-01E8-4152-83C2-DDCDCF559CCF}"/>
              </a:ext>
            </a:extLst>
          </p:cNvPr>
          <p:cNvCxnSpPr>
            <a:cxnSpLocks/>
          </p:cNvCxnSpPr>
          <p:nvPr/>
        </p:nvCxnSpPr>
        <p:spPr>
          <a:xfrm>
            <a:off x="5455604" y="1154548"/>
            <a:ext cx="0" cy="5513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C7D17-121E-4C7F-B71D-39AFBA53954F}"/>
              </a:ext>
            </a:extLst>
          </p:cNvPr>
          <p:cNvSpPr/>
          <p:nvPr/>
        </p:nvSpPr>
        <p:spPr>
          <a:xfrm>
            <a:off x="5609686" y="1144274"/>
            <a:ext cx="6577889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Company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________ </a:t>
            </a:r>
            <a:r>
              <a:rPr lang="en-SG" dirty="0" err="1">
                <a:solidFill>
                  <a:schemeClr val="accent5">
                    <a:lumMod val="50000"/>
                  </a:schemeClr>
                </a:solidFill>
              </a:rPr>
              <a:t>Pte.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 Ltd. </a:t>
            </a:r>
          </a:p>
          <a:p>
            <a:pPr marL="342900" indent="-342900">
              <a:buFont typeface="+mj-lt"/>
              <a:buAutoNum type="alphaLcParenR"/>
            </a:pP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ACRA </a:t>
            </a: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Business No.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URL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http://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Incorporated in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 DD/MMM/YYYY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No. of Employees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Investors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Advisors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</a:p>
          <a:p>
            <a:endParaRPr lang="en-SG" sz="700" dirty="0"/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Total capital raised so far (S$)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Capital sought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this round(S$):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Equity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(%) 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SAFE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Cash @ Bank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Total revenue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 date (S$):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Current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monthly revenues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Current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monthly expenses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Total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Grant(s)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from Gov 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Name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Grant(s):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Outstanding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Debt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Most Recent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Capital Investment [MRCI](S$):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Equity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Given for MRCI (%):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Date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MRCI (%):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Name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MRCI’s Investor: 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Current valuation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Basis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Current </a:t>
            </a:r>
            <a:r>
              <a:rPr lang="en-US" dirty="0"/>
              <a:t>valuation: </a:t>
            </a:r>
            <a:endParaRPr lang="en-SG" dirty="0"/>
          </a:p>
        </p:txBody>
      </p:sp>
      <p:sp>
        <p:nvSpPr>
          <p:cNvPr id="14" name="Shape 111">
            <a:extLst>
              <a:ext uri="{FF2B5EF4-FFF2-40B4-BE49-F238E27FC236}">
                <a16:creationId xmlns:a16="http://schemas.microsoft.com/office/drawing/2014/main" id="{F5621029-F1B6-45A1-8389-9C5A8002BA74}"/>
              </a:ext>
            </a:extLst>
          </p:cNvPr>
          <p:cNvSpPr txBox="1"/>
          <p:nvPr/>
        </p:nvSpPr>
        <p:spPr>
          <a:xfrm>
            <a:off x="1533964" y="2648416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7F7F7F"/>
              </a:buClr>
              <a:buSzPct val="25000"/>
            </a:pPr>
            <a:r>
              <a:rPr lang="en-US" sz="16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Name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</a:t>
            </a:r>
          </a:p>
        </p:txBody>
      </p:sp>
      <p:sp>
        <p:nvSpPr>
          <p:cNvPr id="15" name="Shape 111">
            <a:extLst>
              <a:ext uri="{FF2B5EF4-FFF2-40B4-BE49-F238E27FC236}">
                <a16:creationId xmlns:a16="http://schemas.microsoft.com/office/drawing/2014/main" id="{31998405-ED2C-407C-9597-D054A96A0CFA}"/>
              </a:ext>
            </a:extLst>
          </p:cNvPr>
          <p:cNvSpPr txBox="1"/>
          <p:nvPr/>
        </p:nvSpPr>
        <p:spPr>
          <a:xfrm>
            <a:off x="1533964" y="4191521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7F7F7F"/>
              </a:buClr>
              <a:buSzPct val="25000"/>
            </a:pPr>
            <a:r>
              <a:rPr lang="en-US" sz="16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Name</a:t>
            </a:r>
            <a:r>
              <a:rPr lang="en-US" sz="1600" b="1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B708-822D-4946-882B-6A36A863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30808-44D4-47D0-BF3A-B3B4D44DE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SzPct val="25000"/>
              <a:buNone/>
            </a:pPr>
            <a:r>
              <a:rPr lang="en-US" dirty="0"/>
              <a:t>[Good if you are able to compare your product features with other competitors]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4086-F7C7-4939-91E0-449D265D1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2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19D66-1A28-4E0A-9EB5-7C2B84F62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513" y="1871938"/>
            <a:ext cx="8178229" cy="443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6096000" y="179388"/>
            <a:ext cx="0" cy="6678612"/>
          </a:xfrm>
          <a:prstGeom prst="line">
            <a:avLst/>
          </a:prstGeom>
          <a:ln w="2540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12277725" y="5715001"/>
            <a:ext cx="28194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008000"/>
                </a:solidFill>
              </a:rPr>
              <a:t>Key Metrics, KM</a:t>
            </a:r>
          </a:p>
          <a:p>
            <a:r>
              <a:rPr lang="en-SG" altLang="en-US" sz="1000">
                <a:solidFill>
                  <a:srgbClr val="008000"/>
                </a:solidFill>
              </a:rPr>
              <a:t>List the key numbers that tell you how your business is doing</a:t>
            </a:r>
          </a:p>
        </p:txBody>
      </p:sp>
      <p:sp>
        <p:nvSpPr>
          <p:cNvPr id="54" name="Rectangle 5"/>
          <p:cNvSpPr>
            <a:spLocks noChangeArrowheads="1"/>
          </p:cNvSpPr>
          <p:nvPr/>
        </p:nvSpPr>
        <p:spPr bwMode="auto">
          <a:xfrm>
            <a:off x="12315825" y="4270376"/>
            <a:ext cx="2667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FF0000"/>
                </a:solidFill>
              </a:rPr>
              <a:t>Cost Structure, CO</a:t>
            </a:r>
            <a:br>
              <a:rPr lang="en-US" altLang="en-US" sz="1300" b="1" u="sng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List your fixed and variable costs: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Customer Acquisition Costs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Distributed Costs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Hosting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People, etc.;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What are the most important costs inherent in our business model?</a:t>
            </a: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12344400" y="2209801"/>
            <a:ext cx="3276600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00B050"/>
                </a:solidFill>
                <a:latin typeface="Arial" panose="020B0604020202020204" pitchFamily="34" charset="0"/>
              </a:rPr>
              <a:t>Revenue Stream, RS</a:t>
            </a:r>
            <a:br>
              <a:rPr lang="en-US" altLang="en-US" sz="1300" b="1" u="sng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List your sources of revenue: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Revenue Model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Lifetime Value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Revenue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Gross Margin;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For what value are our customers really willing to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For what do they currently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are they currently paying?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would they prefer to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much does each Revenue Stream contribute to overall revenues?</a:t>
            </a:r>
          </a:p>
        </p:txBody>
      </p:sp>
      <p:sp>
        <p:nvSpPr>
          <p:cNvPr id="56" name="Text Box 12"/>
          <p:cNvSpPr txBox="1">
            <a:spLocks noChangeArrowheads="1"/>
          </p:cNvSpPr>
          <p:nvPr/>
        </p:nvSpPr>
        <p:spPr bwMode="auto">
          <a:xfrm>
            <a:off x="12268200" y="6335714"/>
            <a:ext cx="3252788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9933FF"/>
                </a:solidFill>
                <a:latin typeface="Arial" panose="020B0604020202020204" pitchFamily="34" charset="0"/>
              </a:rPr>
              <a:t>[Team member], UA</a:t>
            </a:r>
            <a:br>
              <a:rPr lang="en-US" altLang="en-US" sz="1300" b="1" u="sng">
                <a:solidFill>
                  <a:srgbClr val="9933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9933FF"/>
                </a:solidFill>
                <a:latin typeface="Arial" panose="020B0604020202020204" pitchFamily="34" charset="0"/>
              </a:rPr>
              <a:t>Something that can’t be easily copied or brought</a:t>
            </a:r>
          </a:p>
        </p:txBody>
      </p:sp>
      <p:pic>
        <p:nvPicPr>
          <p:cNvPr id="57" name="Picture 28" descr="https://lh4.googleusercontent.com/HUbn7IjlqhwUAwafKKtY5HsLKYvYXKeUoAHK0z2xTXNRjvH2cw-6S9mIGAjc6-yBzgYWTgGOd4XDhAhWhbdCgQSiaXX5SFK2fMbGTD-bsPVgmD-zPYiCtCPFkss9G_9waq-Njy_l2Js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09875" y="-1588"/>
            <a:ext cx="1809750" cy="102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0" descr="https://lh6.googleusercontent.com/j0Ba_M2W10pnrvPjIxvQIXKJG3DqyL3fAILRI8rxsIaIKHANPwy5pMuDojmEZEbbehtI4Ls4zbWX6iB-NT2SDRByLlWsSTvAOfm6kq1RgAJn9eOA8ItKBrM5UD3wXYCtc_6UVD3vKE-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0163" y="3810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2" descr="https://lh5.googleusercontent.com/xcNJ18ZDtX8rWG0nH_8qrMYWcy6IsfW4blyWRaszHZzXN3JW5Uts8HM_7bDQpaDPYkTR8WWOAfPEBgNGVLtyt5_NLQivsOc2gzdb_w0jeQq20fktU0kjXK4oy0xhn3E3HZcCO5T6kxY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1563" y="8001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34" descr="https://lh6.googleusercontent.com/So-qghY26Rr0rWpJmts97_5jvM9xO_Dfay8XMkyYHnrpqSmAu6dYg7UPtBhPSzsT0DXea5LBKA0rrKwd9QYcTVQp26mV3e5_TRtiBV3W28fmX3D_cjy0OzzbraxqRY-6_PgxKviRWfF-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2963" y="12573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36" descr="https://lh5.googleusercontent.com/fHMsdCuPFhMVCh7wIdhNEClix3TQgOBaZh8x2p99jfh8gPSwnj2CGq94mYkz2pTervfIEVCe4MVrHpsOsdzy5BhXMxY5Qp-LdGYHZUGXsd4K_M-wwT67PLClos-jFGGC8kODawYtFm2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4363" y="17145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51552"/>
            <a:ext cx="12179300" cy="65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128571" y="495057"/>
            <a:ext cx="2368912" cy="61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CC0099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CC0099"/>
                </a:solidFill>
                <a:latin typeface="Arial" panose="020B0604020202020204" pitchFamily="34" charset="0"/>
              </a:rPr>
              <a:t>P1</a:t>
            </a:r>
            <a:r>
              <a:rPr lang="en-US" altLang="en-US" sz="1300">
                <a:solidFill>
                  <a:srgbClr val="CC0099"/>
                </a:solidFill>
                <a:latin typeface="Arial" panose="020B0604020202020204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CC0099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CC0099"/>
                </a:solidFill>
                <a:latin typeface="Arial" panose="020B0604020202020204" pitchFamily="34" charset="0"/>
              </a:rPr>
              <a:t>P2</a:t>
            </a:r>
            <a:r>
              <a:rPr lang="en-US" altLang="en-US" sz="1300">
                <a:solidFill>
                  <a:srgbClr val="CC0099"/>
                </a:solidFill>
                <a:latin typeface="Arial" panose="020B0604020202020204" pitchFamily="34" charset="0"/>
              </a:rPr>
              <a:t>: 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2497483" y="495057"/>
            <a:ext cx="2431140" cy="61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S1</a:t>
            </a:r>
            <a:r>
              <a:rPr lang="en-US" altLang="en-US" sz="1300">
                <a:solidFill>
                  <a:srgbClr val="0070C0"/>
                </a:solidFill>
                <a:latin typeface="Arial" panose="020B0604020202020204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S2</a:t>
            </a:r>
            <a:r>
              <a:rPr lang="en-US" altLang="en-US" sz="1300">
                <a:solidFill>
                  <a:srgbClr val="0070C0"/>
                </a:solidFill>
                <a:latin typeface="Arial" panose="020B0604020202020204" pitchFamily="34" charset="0"/>
              </a:rPr>
              <a:t>: </a:t>
            </a: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2497483" y="3136073"/>
            <a:ext cx="2265916" cy="61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8000"/>
                </a:solidFill>
                <a:latin typeface="Arial" panose="020B0604020202020204" pitchFamily="34" charset="0"/>
              </a:rPr>
              <a:t>K1</a:t>
            </a:r>
            <a:r>
              <a:rPr lang="en-US" altLang="en-US" sz="1300">
                <a:solidFill>
                  <a:srgbClr val="008000"/>
                </a:solidFill>
                <a:latin typeface="Arial" panose="020B0604020202020204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8000"/>
                </a:solidFill>
                <a:latin typeface="Arial" panose="020B0604020202020204" pitchFamily="34" charset="0"/>
              </a:rPr>
              <a:t>K2</a:t>
            </a:r>
            <a:r>
              <a:rPr lang="en-US" altLang="en-US" sz="1300">
                <a:solidFill>
                  <a:srgbClr val="008000"/>
                </a:solidFill>
                <a:latin typeface="Arial" panose="020B0604020202020204" pitchFamily="34" charset="0"/>
              </a:rPr>
              <a:t>: 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4928623" y="633443"/>
            <a:ext cx="2409681" cy="61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CC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CC6600"/>
                </a:solidFill>
                <a:latin typeface="Arial" panose="020B0604020202020204" pitchFamily="34" charset="0"/>
              </a:rPr>
              <a:t>V1</a:t>
            </a:r>
            <a:r>
              <a:rPr lang="en-US" altLang="en-US" sz="1300">
                <a:solidFill>
                  <a:srgbClr val="CC6600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CC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CC6600"/>
                </a:solidFill>
                <a:latin typeface="Arial" panose="020B0604020202020204" pitchFamily="34" charset="0"/>
              </a:rPr>
              <a:t>V2</a:t>
            </a:r>
            <a:r>
              <a:rPr lang="en-US" altLang="en-US" sz="1300">
                <a:solidFill>
                  <a:srgbClr val="CC66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7338306" y="633443"/>
            <a:ext cx="2381787" cy="61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9933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9933FF"/>
                </a:solidFill>
                <a:latin typeface="Arial" panose="020B0604020202020204" pitchFamily="34" charset="0"/>
              </a:rPr>
              <a:t>U1</a:t>
            </a:r>
            <a:r>
              <a:rPr lang="en-US" altLang="en-US" sz="1300">
                <a:solidFill>
                  <a:srgbClr val="9933FF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9933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9933FF"/>
                </a:solidFill>
                <a:latin typeface="Arial" panose="020B0604020202020204" pitchFamily="34" charset="0"/>
              </a:rPr>
              <a:t>U2</a:t>
            </a:r>
            <a:r>
              <a:rPr lang="en-US" altLang="en-US" sz="1300">
                <a:solidFill>
                  <a:srgbClr val="9933FF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5" name="Text Box 13"/>
          <p:cNvSpPr txBox="1">
            <a:spLocks noChangeArrowheads="1"/>
          </p:cNvSpPr>
          <p:nvPr/>
        </p:nvSpPr>
        <p:spPr bwMode="auto">
          <a:xfrm>
            <a:off x="9707217" y="655119"/>
            <a:ext cx="2420411" cy="618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00FF"/>
                </a:solidFill>
                <a:latin typeface="Arial" panose="020B0604020202020204" pitchFamily="34" charset="0"/>
              </a:rPr>
              <a:t>CS1</a:t>
            </a:r>
            <a:r>
              <a:rPr lang="en-US" altLang="en-US" sz="1300">
                <a:solidFill>
                  <a:srgbClr val="0000FF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00FF"/>
                </a:solidFill>
                <a:latin typeface="Arial" panose="020B0604020202020204" pitchFamily="34" charset="0"/>
              </a:rPr>
              <a:t>CS2</a:t>
            </a:r>
            <a:r>
              <a:rPr lang="en-US" altLang="en-US" sz="1300">
                <a:solidFill>
                  <a:srgbClr val="0000FF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6" name="Text Box 14"/>
          <p:cNvSpPr txBox="1">
            <a:spLocks noChangeArrowheads="1"/>
          </p:cNvSpPr>
          <p:nvPr/>
        </p:nvSpPr>
        <p:spPr bwMode="auto">
          <a:xfrm>
            <a:off x="7338306" y="3114398"/>
            <a:ext cx="2381787" cy="61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FF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FF"/>
                </a:solidFill>
                <a:latin typeface="Arial" panose="020B0604020202020204" pitchFamily="34" charset="0"/>
              </a:rPr>
              <a:t>C1</a:t>
            </a:r>
            <a:r>
              <a:rPr lang="en-US" altLang="en-US" sz="1300">
                <a:solidFill>
                  <a:srgbClr val="FF00FF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300">
                <a:solidFill>
                  <a:srgbClr val="FF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FF"/>
                </a:solidFill>
                <a:latin typeface="Arial" panose="020B0604020202020204" pitchFamily="34" charset="0"/>
              </a:rPr>
              <a:t>C2</a:t>
            </a:r>
            <a:r>
              <a:rPr lang="en-US" altLang="en-US" sz="1300">
                <a:solidFill>
                  <a:srgbClr val="FF00FF"/>
                </a:solidFill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128571" y="5115167"/>
            <a:ext cx="5870783" cy="618571"/>
            <a:chOff x="152400" y="5410200"/>
            <a:chExt cx="4343400" cy="588963"/>
          </a:xfrm>
        </p:grpSpPr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152400" y="5410200"/>
              <a:ext cx="2209800" cy="588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[redacted]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FF0000"/>
                  </a:solidFill>
                  <a:latin typeface="Arial" panose="020B0604020202020204" pitchFamily="34" charset="0"/>
                </a:rPr>
                <a:t>CO1</a:t>
              </a: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FF0000"/>
                  </a:solidFill>
                  <a:latin typeface="Arial" panose="020B0604020202020204" pitchFamily="34" charset="0"/>
                </a:rPr>
                <a:t>CO2</a:t>
              </a: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2286000" y="5410200"/>
              <a:ext cx="2209800" cy="588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[redacted]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FF0000"/>
                  </a:solidFill>
                  <a:latin typeface="Arial" panose="020B0604020202020204" pitchFamily="34" charset="0"/>
                </a:rPr>
                <a:t>CO3</a:t>
              </a: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FF0000"/>
                  </a:solidFill>
                  <a:latin typeface="Arial" panose="020B0604020202020204" pitchFamily="34" charset="0"/>
                </a:rPr>
                <a:t>CO4</a:t>
              </a:r>
              <a:r>
                <a:rPr lang="en-US" altLang="en-US" sz="130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</p:grpSp>
      <p:grpSp>
        <p:nvGrpSpPr>
          <p:cNvPr id="50" name="Group 49"/>
          <p:cNvGrpSpPr>
            <a:grpSpLocks/>
          </p:cNvGrpSpPr>
          <p:nvPr/>
        </p:nvGrpSpPr>
        <p:grpSpPr bwMode="auto">
          <a:xfrm>
            <a:off x="6205346" y="5115167"/>
            <a:ext cx="5870783" cy="618571"/>
            <a:chOff x="4648200" y="5486400"/>
            <a:chExt cx="4343400" cy="588963"/>
          </a:xfrm>
        </p:grpSpPr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4648200" y="5486400"/>
              <a:ext cx="2209800" cy="588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[redacted]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00B050"/>
                  </a:solidFill>
                  <a:latin typeface="Arial" panose="020B0604020202020204" pitchFamily="34" charset="0"/>
                </a:rPr>
                <a:t>RS1</a:t>
              </a: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: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00B050"/>
                  </a:solidFill>
                  <a:latin typeface="Arial" panose="020B0604020202020204" pitchFamily="34" charset="0"/>
                </a:rPr>
                <a:t>RS2</a:t>
              </a: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6781800" y="5486400"/>
              <a:ext cx="2209800" cy="588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[redacted]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00B050"/>
                  </a:solidFill>
                  <a:latin typeface="Arial" panose="020B0604020202020204" pitchFamily="34" charset="0"/>
                </a:rPr>
                <a:t>RS3</a:t>
              </a: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: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300" b="1">
                  <a:solidFill>
                    <a:srgbClr val="00B050"/>
                  </a:solidFill>
                  <a:latin typeface="Arial" panose="020B0604020202020204" pitchFamily="34" charset="0"/>
                </a:rPr>
                <a:t>RS4</a:t>
              </a:r>
              <a:r>
                <a:rPr lang="en-US" altLang="en-US" sz="1300">
                  <a:solidFill>
                    <a:srgbClr val="00B05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62" name="TextBox 8"/>
          <p:cNvSpPr txBox="1">
            <a:spLocks noChangeArrowheads="1"/>
          </p:cNvSpPr>
          <p:nvPr/>
        </p:nvSpPr>
        <p:spPr bwMode="auto">
          <a:xfrm>
            <a:off x="2085498" y="6594069"/>
            <a:ext cx="865168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SG" altLang="en-US" sz="1500" b="1" dirty="0">
                <a:solidFill>
                  <a:srgbClr val="FFC000"/>
                </a:solidFill>
              </a:rPr>
              <a:t>PRODUCT				                                  MARKET</a:t>
            </a: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-2762250" y="2976564"/>
            <a:ext cx="2654300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CC0099"/>
                </a:solidFill>
                <a:latin typeface="Arial" panose="020B0604020202020204" pitchFamily="34" charset="0"/>
              </a:rPr>
              <a:t>Problem, P</a:t>
            </a:r>
            <a:br>
              <a:rPr lang="en-US" altLang="en-US" sz="1300" b="1" u="sng">
                <a:solidFill>
                  <a:srgbClr val="CC0099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CC0099"/>
                </a:solidFill>
                <a:latin typeface="Arial" panose="020B0604020202020204" pitchFamily="34" charset="0"/>
              </a:rPr>
              <a:t>List your customer’s top 3 problems</a:t>
            </a: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-2655094" y="3710782"/>
            <a:ext cx="2895600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 dirty="0">
                <a:solidFill>
                  <a:srgbClr val="0000FF"/>
                </a:solidFill>
                <a:latin typeface="Arial" panose="020B0604020202020204" pitchFamily="34" charset="0"/>
              </a:rPr>
              <a:t>Customer Segments, CS</a:t>
            </a:r>
            <a:br>
              <a:rPr lang="en-US" altLang="en-US" sz="1300" b="1" u="sng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List your target customers and users; </a:t>
            </a:r>
            <a:b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For whom are we creating value?</a:t>
            </a:r>
            <a:b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Who are our most important customers?</a:t>
            </a:r>
          </a:p>
        </p:txBody>
      </p: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-2747963" y="4752976"/>
            <a:ext cx="2640013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CC6600"/>
                </a:solidFill>
                <a:latin typeface="Arial" panose="020B0604020202020204" pitchFamily="34" charset="0"/>
              </a:rPr>
              <a:t>Unique Value Proposition, V</a:t>
            </a:r>
            <a:br>
              <a:rPr lang="en-US" altLang="en-US" sz="1300" b="1" u="sng">
                <a:solidFill>
                  <a:srgbClr val="CC660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CC6600"/>
                </a:solidFill>
                <a:latin typeface="Arial" panose="020B0604020202020204" pitchFamily="34" charset="0"/>
              </a:rPr>
              <a:t>Single, clear compelling message that turns an unaware visitor into an interested product</a:t>
            </a:r>
          </a:p>
        </p:txBody>
      </p:sp>
      <p:sp>
        <p:nvSpPr>
          <p:cNvPr id="66" name="Rectangle 3"/>
          <p:cNvSpPr>
            <a:spLocks noChangeArrowheads="1"/>
          </p:cNvSpPr>
          <p:nvPr/>
        </p:nvSpPr>
        <p:spPr bwMode="auto">
          <a:xfrm>
            <a:off x="12299950" y="0"/>
            <a:ext cx="268763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0070C0"/>
                </a:solidFill>
              </a:rPr>
              <a:t>Solution, S</a:t>
            </a:r>
            <a:br>
              <a:rPr lang="en-US" altLang="en-US" sz="1300" b="1" u="sng">
                <a:solidFill>
                  <a:srgbClr val="0070C0"/>
                </a:solidFill>
              </a:rPr>
            </a:br>
            <a:r>
              <a:rPr lang="en-SG" altLang="en-US" sz="1000">
                <a:solidFill>
                  <a:srgbClr val="0070C0"/>
                </a:solidFill>
              </a:rPr>
              <a:t>Outline a possible solution for each problem</a:t>
            </a:r>
          </a:p>
        </p:txBody>
      </p:sp>
      <p:sp>
        <p:nvSpPr>
          <p:cNvPr id="67" name="Text Box 14"/>
          <p:cNvSpPr txBox="1">
            <a:spLocks noChangeArrowheads="1"/>
          </p:cNvSpPr>
          <p:nvPr/>
        </p:nvSpPr>
        <p:spPr bwMode="auto">
          <a:xfrm>
            <a:off x="12299950" y="631825"/>
            <a:ext cx="3276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FF00FF"/>
                </a:solidFill>
                <a:latin typeface="Arial" panose="020B0604020202020204" pitchFamily="34" charset="0"/>
              </a:rPr>
              <a:t>Channels, C</a:t>
            </a:r>
            <a:br>
              <a:rPr lang="en-US" altLang="en-US" sz="1300" b="1" u="sng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List your path to customers; 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Through which Channels do our Customer Segments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want to be reached?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we reaching them now?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our Channels integrated?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Which ones work best?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Which ones are most cost-efficient?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we integrating them with customer routines?</a:t>
            </a:r>
            <a:endParaRPr lang="en-US" altLang="en-US" sz="1000">
              <a:solidFill>
                <a:srgbClr val="FF00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555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3" grpId="0"/>
      <p:bldP spid="64" grpId="0"/>
      <p:bldP spid="65" grpId="0"/>
      <p:bldP spid="67" grpId="0"/>
    </p:bldLst>
  </p:timing>
</p:sld>
</file>

<file path=ppt/theme/theme1.xml><?xml version="1.0" encoding="utf-8"?>
<a:theme xmlns:a="http://schemas.openxmlformats.org/drawingml/2006/main" name="Integral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631</Words>
  <Application>Microsoft Office PowerPoint</Application>
  <PresentationFormat>Widescreen</PresentationFormat>
  <Paragraphs>83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Helvetica Neue</vt:lpstr>
      <vt:lpstr>Noto Sans Symbol</vt:lpstr>
      <vt:lpstr>Questrial</vt:lpstr>
      <vt:lpstr>Wingdings</vt:lpstr>
      <vt:lpstr>Wingdings 3</vt:lpstr>
      <vt:lpstr>Integral</vt:lpstr>
      <vt:lpstr>TEAM AND COMPANY</vt:lpstr>
      <vt:lpstr>COMPETITORS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26</ns0:revision>
  <ns1:modified xsi:type="dcterms:W3CDTF">2020-02-23T08:27:09Z</ns1:modified>
</ns0:coreProperties>
</file>