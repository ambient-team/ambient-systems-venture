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[redacted]" r:id="rId1"/>
  </p:sldMasterIdLst>
  <p:notesMasterIdLst>
    <p:notesMasterId r:id="rId5"/>
  </p:notesMasterIdLst>
  <p:sldIdLst>
    <p:sldId id="3328" r:id="rId2"/>
    <p:sldId id="3349" r:id="rId3"/>
    <p:sldId id="3362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AAA3DB67-17DA-5A4A-8890-E56095FBA841}" v="1" dt="2020-10-20T13:34:37.633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1958"/>
    <p:restoredTop sz="95100"/>
  </p:normalViewPr>
  <p:slideViewPr>
    <p:cSldViewPr snapToGrid="0" snapToObjects="1">
      <p:cViewPr varScale="1">
        <p:scale>
          <a:sx n="88" d="100"/>
          <a:sy n="88" d="100"/>
        </p:scale>
        <p:origin x="184" y="2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11" Type="http://schemas.microsoft.com/office/2015/10/relationships/revisionInfo" Target="revisionInfo.xml"/><Relationship Id="rId5" Type="http://schemas.openxmlformats.org/officeDocument/2006/relationships/notesMaster" Target="notesMasters/notesMaster1.xml"/><Relationship Id="rId10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Ivan Damnjanovic" userId="ac64187cd8522d98" providerId="LiveId" clId="{AAA3DB67-17DA-5A4A-8890-E56095FBA841}"/>
    <pc:docChg chg="modSld">
      <pc:chgData name="Ivan Damnjanovic" userId="ac64187cd8522d98" providerId="LiveId" clId="{AAA3DB67-17DA-5A4A-8890-E56095FBA841}" dt="2020-10-20T13:34:37.633" v="2" actId="20578"/>
      <pc:docMkLst>
        <pc:docMk/>
      </pc:docMkLst>
      <pc:sldChg chg="modSp mod">
        <pc:chgData name="Ivan Damnjanovic" userId="ac64187cd8522d98" providerId="LiveId" clId="{AAA3DB67-17DA-5A4A-8890-E56095FBA841}" dt="2020-10-20T13:34:37.633" v="2" actId="20578"/>
        <pc:sldMkLst>
          <pc:docMk/>
          <pc:sldMk cId="[redacted]" sldId="3328"/>
        </pc:sldMkLst>
        <pc:spChg chg="mod">
          <ac:chgData name="Ivan Damnjanovic" userId="ac64187cd8522d98" providerId="LiveId" clId="{AAA3DB67-17DA-5A4A-8890-E56095FBA841}" dt="2020-10-20T13:34:37.633" v="2" actId="20578"/>
          <ac:spMkLst>
            <pc:docMk/>
            <pc:sldMk cId="[redacted]" sldId="3328"/>
            <ac:spMk id="3" creationId="{0FBF2BAB-53DE-5A4F-A006-68F3154EDC1C}"/>
          </ac:spMkLst>
        </pc:spChg>
        <pc:graphicFrameChg chg="modGraphic">
          <ac:chgData name="Ivan Damnjanovic" userId="ac64187cd8522d98" providerId="LiveId" clId="{AAA3DB67-17DA-5A4A-8890-E56095FBA841}" dt="2020-09-21T07:42:46.010" v="1" actId="20577"/>
          <ac:graphicFrameMkLst>
            <pc:docMk/>
            <pc:sldMk cId="[redacted]" sldId="3328"/>
            <ac:graphicFrameMk id="14" creationId="{3815F5BC-331A-7E4D-AC7A-D3380203E91A}"/>
          </ac:graphicFrameMkLst>
        </pc:graphicFrame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8EC36CD-D707-374A-B688-ABE864020903}" type="datetimeFigureOut">
              <a:rPr lang="en-US" smtClean="0"/>
              <a:t>10/20/20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93B4281-22B7-DB40-B46F-B7A4F622F39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66139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93B4281-22B7-DB40-B46F-B7A4F622F39A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[redacted]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86CADA-9C0B-DD48-9C56-716DD0EAAFA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4E73E36-79D6-A94A-A0AD-94A73794B4B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68F58E0-1AF5-474E-B5A0-0026CEF705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B8F10A-4E52-274F-906B-735B153173B4}" type="datetimeFigureOut">
              <a:rPr lang="en-GB" smtClean="0"/>
              <a:t>20/10/2020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078A95C-5ABE-6847-9767-5C61C9C49E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C9F21D6-7DFA-EC47-AA9C-D85CB85F50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686B2A-2EB7-004E-B1DA-BE8CB495D4F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5020243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B7BA48-8288-B449-9C37-0C3F083692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8D47DC3-B8B6-8F47-936F-A41276F648E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70C3FFF-C924-8949-B114-D583C6FE5D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B8F10A-4E52-274F-906B-735B153173B4}" type="datetimeFigureOut">
              <a:rPr lang="en-GB" smtClean="0"/>
              <a:t>20/10/2020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C074D01-B2AD-D14B-9646-D17780EA75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2887A9A-B7D9-BE41-9044-BD868FDAA0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686B2A-2EB7-004E-B1DA-BE8CB495D4F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0553671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4E7213-5671-9D44-8DAF-FF4C967B4B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AD797F0-46FD-9C48-A3BF-9BF74C71F0D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C03F4B2-356C-7845-ABC5-611FDDFB5A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B8F10A-4E52-274F-906B-735B153173B4}" type="datetimeFigureOut">
              <a:rPr lang="en-GB" smtClean="0"/>
              <a:t>20/10/2020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72F3BBA-E566-6D49-A3BA-E34DE71B1C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1E7370E-3261-6842-A1B1-0BFCC9E837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686B2A-2EB7-004E-B1DA-BE8CB495D4F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066706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119139-FB8F-9245-B039-4EF38C443B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85B31AC-E0EF-B64E-8D24-DF4AF8FE42B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2A3C3AC-7D8F-0349-8583-143F05F07C4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B143F02-DC36-9740-A759-075F5B2362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B8F10A-4E52-274F-906B-735B153173B4}" type="datetimeFigureOut">
              <a:rPr lang="en-GB" smtClean="0"/>
              <a:t>20/10/2020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971B3D3-5B08-E948-B12C-CCC7768024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732759D-B68C-5947-8AEF-157447AFFC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686B2A-2EB7-004E-B1DA-BE8CB495D4F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5928418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B5468C-495A-5C4F-9CF8-A5EBE8C4E4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0FEEF0E-7C46-E14B-B85E-959171795E4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9B68463-63F2-6248-BD4D-23F9723419E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E51A007-FCD4-8442-80AA-DA2DABCF25F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9541479-F73D-5F48-AAE3-175BC3F24B5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99E45D7-B7F7-1043-9FB9-DE81FD8D67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B8F10A-4E52-274F-906B-735B153173B4}" type="datetimeFigureOut">
              <a:rPr lang="en-GB" smtClean="0"/>
              <a:t>20/10/2020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2640D8D-B70F-4E4D-8A13-B1D94AF9B2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91390C7-231D-F24D-A36D-65E2022971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686B2A-2EB7-004E-B1DA-BE8CB495D4F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[redacted]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8FFC81-72F7-D44B-8F4A-35AEF408CA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67B6873-6E15-0543-AE0C-74706E1C6C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B8F10A-4E52-274F-906B-735B153173B4}" type="datetimeFigureOut">
              <a:rPr lang="en-GB" smtClean="0"/>
              <a:t>20/10/2020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4E8AAEE-1EF1-CF45-B6C1-B8E32E23C7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D6A322E-647B-824F-9F4B-9466CEA95E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686B2A-2EB7-004E-B1DA-BE8CB495D4F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3230724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8AF7B0A-8901-F14D-836D-C330644BB8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B8F10A-4E52-274F-906B-735B153173B4}" type="datetimeFigureOut">
              <a:rPr lang="en-GB" smtClean="0"/>
              <a:t>20/10/2020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AF5A1C4-B322-7D45-B83B-C4101AF3CC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4F97B9D-D285-E341-ACAF-70F9292762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686B2A-2EB7-004E-B1DA-BE8CB495D4F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116059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A91BC9-737B-0B4C-BA78-83C338F38D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61D74BA-B528-7148-BB07-884125BBA10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4D3DFDE-D96B-D84A-B2D9-729FF82F71F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B67289B-62AC-5C45-8401-C1063FAD9A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B8F10A-4E52-274F-906B-735B153173B4}" type="datetimeFigureOut">
              <a:rPr lang="en-GB" smtClean="0"/>
              <a:t>20/10/2020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F327EC4-07D4-3A48-9507-A4774DB5E9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79D3408-7C42-AB4A-945A-2D4670CB37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686B2A-2EB7-004E-B1DA-BE8CB495D4F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8424521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5D56AD-E57A-9749-BC72-371D6E51AE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A277657-647A-504F-B522-2FA88369F90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3D7611E-AAF6-EC42-BB47-F7420835FC8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7F1CF40-85A9-6949-8F19-355255C6B4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B8F10A-4E52-274F-906B-735B153173B4}" type="datetimeFigureOut">
              <a:rPr lang="en-GB" smtClean="0"/>
              <a:t>20/10/2020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CB3B3FD-2F3F-7043-BDD6-6851989188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6108B6A-A8F2-5F44-B026-47B4BF078E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686B2A-2EB7-004E-B1DA-BE8CB495D4F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[redacted]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28EBD4-8359-E84A-A83B-8777463814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64675B8-576C-3643-96D3-C4CE1DC9603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7FA83E6-44AC-7D47-925A-D3197EFEF6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B8F10A-4E52-274F-906B-735B153173B4}" type="datetimeFigureOut">
              <a:rPr lang="en-GB" smtClean="0"/>
              <a:t>20/10/2020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21BDB0C-791D-2746-9069-274FEBB4D5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DB828B3-59D5-4C4E-A1B6-D44B5635F1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686B2A-2EB7-004E-B1DA-BE8CB495D4F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[redacted]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897486B-B78E-6644-926C-8CF146296DA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7B45F84-F9FF-714A-B44E-6AEABFEAE25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0FAA97F-0740-E549-8CF0-8D282260F0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B8F10A-4E52-274F-906B-735B153173B4}" type="datetimeFigureOut">
              <a:rPr lang="en-GB" smtClean="0"/>
              <a:t>20/10/2020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492EBCF-4632-F04B-8833-316CF86D29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982066D-EA78-5847-AB5A-454AAE0E7A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686B2A-2EB7-004E-B1DA-BE8CB495D4F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052053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2F2BA4A-913D-DA40-A869-F5F6146D10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BEFEA31-591F-194E-A296-E48F020076F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9D23963-756B-194B-890E-16E799655FA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CB8F10A-4E52-274F-906B-735B153173B4}" type="datetimeFigureOut">
              <a:rPr lang="en-GB" smtClean="0"/>
              <a:t>20/10/2020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14B3606-F982-AB4E-863C-6AA59067956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51229AF-2E16-8A4C-8231-684230E5453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D686B2A-2EB7-004E-B1DA-BE8CB495D4F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4628806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[redacted]" r:id="rId1"/>
    <p:sldLayoutId id="[redacted]" r:id="rId2"/>
    <p:sldLayoutId id="[redacted]" r:id="rId3"/>
    <p:sldLayoutId id="[redacted]" r:id="rId4"/>
    <p:sldLayoutId id="[redacted]" r:id="rId5"/>
    <p:sldLayoutId id="[redacted]" r:id="rId6"/>
    <p:sldLayoutId id="[redacted]" r:id="rId7"/>
    <p:sldLayoutId id="[redacted]" r:id="rId8"/>
    <p:sldLayoutId id="[redacted]" r:id="rId9"/>
    <p:sldLayoutId id="[redacted]" r:id="rId10"/>
    <p:sldLayoutId id="[redacted]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5FFF3E9D-F9EC-E349-9DA6-9CF974F46424}"/>
              </a:ext>
            </a:extLst>
          </p:cNvPr>
          <p:cNvSpPr txBox="1"/>
          <p:nvPr/>
        </p:nvSpPr>
        <p:spPr>
          <a:xfrm>
            <a:off x="10153300" y="118456"/>
            <a:ext cx="118192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b="1" u="sng" dirty="0"/>
              <a:t>Pitch Deck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FBF2BAB-53DE-5A4F-A006-68F3154EDC1C}"/>
              </a:ext>
            </a:extLst>
          </p:cNvPr>
          <p:cNvSpPr txBox="1"/>
          <p:nvPr/>
        </p:nvSpPr>
        <p:spPr>
          <a:xfrm>
            <a:off x="9586760" y="487788"/>
            <a:ext cx="2483319" cy="54784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AutoNum type="arabicPeriod"/>
            </a:pPr>
            <a:r>
              <a:rPr lang="en-GB" sz="1000" dirty="0"/>
              <a:t>Company Name/Product Name</a:t>
            </a:r>
          </a:p>
          <a:p>
            <a:pPr marL="342900" indent="-342900">
              <a:buAutoNum type="arabicPeriod"/>
            </a:pPr>
            <a:r>
              <a:rPr lang="en-GB" sz="1000" dirty="0"/>
              <a:t>PROBLEM (1)(3)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GB" sz="1000" dirty="0"/>
              <a:t>Jobs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GB" sz="1000" dirty="0"/>
              <a:t>Customer pain / gain</a:t>
            </a:r>
          </a:p>
          <a:p>
            <a:pPr marL="342900" indent="-342900">
              <a:buFont typeface="+mj-lt"/>
              <a:buAutoNum type="arabicPeriod"/>
            </a:pPr>
            <a:r>
              <a:rPr lang="en-GB" sz="1000" dirty="0"/>
              <a:t>SOLUTION (3)(14)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GB" sz="1000" dirty="0"/>
              <a:t>Value Prop/Features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GB" sz="1000" dirty="0"/>
              <a:t>IP (Pain Reliever / Gain Creator</a:t>
            </a:r>
          </a:p>
          <a:p>
            <a:pPr marL="342900" indent="-342900">
              <a:buFont typeface="+mj-lt"/>
              <a:buAutoNum type="arabicPeriod"/>
            </a:pPr>
            <a:r>
              <a:rPr lang="en-GB" sz="1000" dirty="0"/>
              <a:t>PRODUCT (6)(7)(9)(10)(11)</a:t>
            </a:r>
          </a:p>
          <a:p>
            <a:pPr marL="342900" indent="-342900">
              <a:buFont typeface="+mj-lt"/>
              <a:buAutoNum type="arabicPeriod"/>
            </a:pPr>
            <a:r>
              <a:rPr lang="en-GB" sz="1000" dirty="0"/>
              <a:t>17)(18)(19)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GB" sz="1000" dirty="0"/>
              <a:t>IP filed and no.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GB" sz="1000" dirty="0"/>
              <a:t>Certification/Stds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GB" sz="1000" dirty="0"/>
              <a:t>Free to Operate </a:t>
            </a:r>
          </a:p>
          <a:p>
            <a:pPr marL="342900" indent="-342900">
              <a:buFont typeface="+mj-lt"/>
              <a:buAutoNum type="arabicPeriod"/>
            </a:pPr>
            <a:r>
              <a:rPr lang="en-GB" sz="1000" dirty="0"/>
              <a:t>MARKET (1)(2)(4)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GB" sz="1000" dirty="0"/>
              <a:t>Total Available Mkt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GB" sz="1000" dirty="0"/>
              <a:t>Serviceable Avail. Mkt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GB" sz="1000" dirty="0"/>
              <a:t>Serviceable Obtainable Mkt</a:t>
            </a:r>
          </a:p>
          <a:p>
            <a:pPr marL="342900" indent="-342900">
              <a:buFont typeface="+mj-lt"/>
              <a:buAutoNum type="arabicPeriod"/>
            </a:pPr>
            <a:r>
              <a:rPr lang="en-GB" sz="1000" dirty="0"/>
              <a:t>BUSINESS MODEL (15)(20)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GB" sz="1000" dirty="0"/>
              <a:t>Value chain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GB" sz="1000" dirty="0"/>
              <a:t>How to make the product/provide service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GB" sz="1000" dirty="0"/>
              <a:t>How to go to mkt?</a:t>
            </a:r>
          </a:p>
          <a:p>
            <a:pPr marL="228600" indent="-228600">
              <a:buFont typeface="+mj-lt"/>
              <a:buAutoNum type="arabicPeriod"/>
            </a:pPr>
            <a:r>
              <a:rPr lang="en-GB" sz="1000" dirty="0"/>
              <a:t>   COMPETITIVE  (4 quadrant) (14)</a:t>
            </a:r>
          </a:p>
          <a:p>
            <a:pPr marL="342900" indent="-342900">
              <a:buFont typeface="+mj-lt"/>
              <a:buAutoNum type="arabicPeriod"/>
            </a:pPr>
            <a:r>
              <a:rPr lang="en-GB" sz="1000" dirty="0"/>
              <a:t>FINANCIALS (12)(13)(16)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GB" sz="1000" dirty="0"/>
              <a:t>Revenue Projection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GB" sz="1000" dirty="0"/>
              <a:t>Net Profit Projection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GB" sz="1000" dirty="0"/>
              <a:t>[Team member]</a:t>
            </a:r>
          </a:p>
          <a:p>
            <a:pPr marL="342900" indent="-342900">
              <a:buFont typeface="+mj-lt"/>
              <a:buAutoNum type="arabicPeriod"/>
            </a:pPr>
            <a:r>
              <a:rPr lang="en-GB" sz="1000" dirty="0"/>
              <a:t>MILESTONES  (5)(8)(11)(19)(20)(21)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GB" sz="1000" dirty="0"/>
              <a:t>What has the co done in the past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GB" sz="1000" dirty="0"/>
              <a:t>What will the co do</a:t>
            </a:r>
          </a:p>
          <a:p>
            <a:pPr marL="342900" indent="-342900">
              <a:buFont typeface="+mj-lt"/>
              <a:buAutoNum type="arabicPeriod"/>
            </a:pPr>
            <a:r>
              <a:rPr lang="en-GB" sz="1000" dirty="0"/>
              <a:t>TRACTION (2)</a:t>
            </a:r>
          </a:p>
          <a:p>
            <a:pPr marL="342900" indent="-342900">
              <a:buFont typeface="+mj-lt"/>
              <a:buAutoNum type="arabicPeriod"/>
            </a:pPr>
            <a:r>
              <a:rPr lang="en-GB" sz="1000" dirty="0"/>
              <a:t>TEAM 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GB" sz="1000" dirty="0"/>
              <a:t>Members leading company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GB" sz="1000" dirty="0"/>
              <a:t>Varied roles/responsibilities</a:t>
            </a:r>
          </a:p>
        </p:txBody>
      </p:sp>
      <p:graphicFrame>
        <p:nvGraphicFramePr>
          <p:cNvPr id="14" name="Table 13">
            <a:extLst>
              <a:ext uri="{FF2B5EF4-FFF2-40B4-BE49-F238E27FC236}">
                <a16:creationId xmlns:a16="http://schemas.microsoft.com/office/drawing/2014/main" id="{3815F5BC-331A-7E4D-AC7A-D3380203E91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3874518"/>
              </p:ext>
            </p:extLst>
          </p:nvPr>
        </p:nvGraphicFramePr>
        <p:xfrm>
          <a:off x="377789" y="487788"/>
          <a:ext cx="9208970" cy="6126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94876">
                  <a:extLst>
                    <a:ext uri="{9D8B030D-6E8A-4147-A177-3AD203B41FA5}">
                      <a16:colId xmlns:a16="http://schemas.microsoft.com/office/drawing/2014/main" val="[redacted]"/>
                    </a:ext>
                  </a:extLst>
                </a:gridCol>
                <a:gridCol w="1087655">
                  <a:extLst>
                    <a:ext uri="{9D8B030D-6E8A-4147-A177-3AD203B41FA5}">
                      <a16:colId xmlns:a16="http://schemas.microsoft.com/office/drawing/2014/main" val="[redacted]"/>
                    </a:ext>
                  </a:extLst>
                </a:gridCol>
                <a:gridCol w="972152">
                  <a:extLst>
                    <a:ext uri="{9D8B030D-6E8A-4147-A177-3AD203B41FA5}">
                      <a16:colId xmlns:a16="http://schemas.microsoft.com/office/drawing/2014/main" val="870801823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111161531"/>
                    </a:ext>
                  </a:extLst>
                </a:gridCol>
                <a:gridCol w="972151">
                  <a:extLst>
                    <a:ext uri="{9D8B030D-6E8A-4147-A177-3AD203B41FA5}">
                      <a16:colId xmlns:a16="http://schemas.microsoft.com/office/drawing/2014/main" val="[redacted]"/>
                    </a:ext>
                  </a:extLst>
                </a:gridCol>
                <a:gridCol w="962526">
                  <a:extLst>
                    <a:ext uri="{9D8B030D-6E8A-4147-A177-3AD203B41FA5}">
                      <a16:colId xmlns:a16="http://schemas.microsoft.com/office/drawing/2014/main" val="[redacted]"/>
                    </a:ext>
                  </a:extLst>
                </a:gridCol>
                <a:gridCol w="962527">
                  <a:extLst>
                    <a:ext uri="{9D8B030D-6E8A-4147-A177-3AD203B41FA5}">
                      <a16:colId xmlns:a16="http://schemas.microsoft.com/office/drawing/2014/main" val="1727251557"/>
                    </a:ext>
                  </a:extLst>
                </a:gridCol>
                <a:gridCol w="1106905">
                  <a:extLst>
                    <a:ext uri="{9D8B030D-6E8A-4147-A177-3AD203B41FA5}">
                      <a16:colId xmlns:a16="http://schemas.microsoft.com/office/drawing/2014/main" val="[redacted]"/>
                    </a:ext>
                  </a:extLst>
                </a:gridCol>
                <a:gridCol w="952898">
                  <a:extLst>
                    <a:ext uri="{9D8B030D-6E8A-4147-A177-3AD203B41FA5}">
                      <a16:colId xmlns:a16="http://schemas.microsoft.com/office/drawing/2014/main" val="[redacted]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GB" sz="1000" dirty="0"/>
                        <a:t>Workshop #1</a:t>
                      </a:r>
                    </a:p>
                    <a:p>
                      <a:r>
                        <a:rPr lang="en-GB" sz="1000" dirty="0"/>
                        <a:t>Full Day</a:t>
                      </a:r>
                    </a:p>
                    <a:p>
                      <a:r>
                        <a:rPr lang="en-GB" sz="1000" dirty="0"/>
                        <a:t>Date: 22 Aug</a:t>
                      </a:r>
                    </a:p>
                  </a:txBody>
                  <a:tcPr>
                    <a:solidFill>
                      <a:srgbClr val="4372C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1000" dirty="0"/>
                        <a:t>Assign #1</a:t>
                      </a:r>
                    </a:p>
                    <a:p>
                      <a:r>
                        <a:rPr lang="en-GB" sz="1000" dirty="0"/>
                        <a:t>Consult #1 </a:t>
                      </a:r>
                    </a:p>
                    <a:p>
                      <a:r>
                        <a:rPr lang="en-GB" sz="1000" dirty="0"/>
                        <a:t>Date: 1 Sep</a:t>
                      </a:r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1000" dirty="0"/>
                        <a:t>Assign #2</a:t>
                      </a:r>
                    </a:p>
                    <a:p>
                      <a:r>
                        <a:rPr lang="en-GB" sz="1000" dirty="0"/>
                        <a:t>Consult 2 </a:t>
                      </a:r>
                    </a:p>
                    <a:p>
                      <a:r>
                        <a:rPr lang="en-GB" sz="1000" dirty="0"/>
                        <a:t>Date: 8 Sep</a:t>
                      </a:r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1000" dirty="0"/>
                        <a:t>Workshop #2</a:t>
                      </a:r>
                    </a:p>
                    <a:p>
                      <a:r>
                        <a:rPr lang="en-GB" sz="1000" dirty="0"/>
                        <a:t>Full Day</a:t>
                      </a:r>
                    </a:p>
                    <a:p>
                      <a:r>
                        <a:rPr lang="en-GB" sz="1000" dirty="0"/>
                        <a:t>Date: 19 Sep</a:t>
                      </a:r>
                    </a:p>
                  </a:txBody>
                  <a:tcPr>
                    <a:solidFill>
                      <a:srgbClr val="4372C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1000" dirty="0"/>
                        <a:t>Assign #3</a:t>
                      </a:r>
                    </a:p>
                    <a:p>
                      <a:r>
                        <a:rPr lang="en-GB" sz="1000" dirty="0"/>
                        <a:t>Consult #3 Date</a:t>
                      </a:r>
                      <a:r>
                        <a:rPr lang="en-GB" sz="1000"/>
                        <a:t>: 29 </a:t>
                      </a:r>
                      <a:r>
                        <a:rPr lang="en-GB" sz="1000" dirty="0"/>
                        <a:t>Sep</a:t>
                      </a:r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1000" dirty="0"/>
                        <a:t>Assign #4</a:t>
                      </a:r>
                    </a:p>
                    <a:p>
                      <a:r>
                        <a:rPr lang="en-GB" sz="1000" dirty="0"/>
                        <a:t>Consult #4</a:t>
                      </a:r>
                    </a:p>
                    <a:p>
                      <a:r>
                        <a:rPr lang="en-GB" sz="1000" dirty="0"/>
                        <a:t>Date: 6 Oct</a:t>
                      </a:r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1000" dirty="0"/>
                        <a:t>Workshop #3</a:t>
                      </a:r>
                    </a:p>
                    <a:p>
                      <a:r>
                        <a:rPr lang="en-GB" sz="1000" dirty="0"/>
                        <a:t>Full Day</a:t>
                      </a:r>
                    </a:p>
                    <a:p>
                      <a:r>
                        <a:rPr lang="en-GB" sz="1000" dirty="0"/>
                        <a:t>Date: 10 Oct</a:t>
                      </a:r>
                    </a:p>
                  </a:txBody>
                  <a:tcPr>
                    <a:solidFill>
                      <a:srgbClr val="4372C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1000" dirty="0"/>
                        <a:t>Assign #5</a:t>
                      </a:r>
                    </a:p>
                    <a:p>
                      <a:r>
                        <a:rPr lang="en-GB" sz="1000" dirty="0"/>
                        <a:t>Consult #5</a:t>
                      </a:r>
                    </a:p>
                    <a:p>
                      <a:r>
                        <a:rPr lang="en-GB" sz="1000" dirty="0"/>
                        <a:t>Date:  20 Oct</a:t>
                      </a:r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1000" dirty="0"/>
                        <a:t>Assign #6</a:t>
                      </a:r>
                    </a:p>
                    <a:p>
                      <a:r>
                        <a:rPr lang="en-GB" sz="1000" dirty="0"/>
                        <a:t>Consult #6</a:t>
                      </a:r>
                    </a:p>
                    <a:p>
                      <a:r>
                        <a:rPr lang="en-GB" sz="1000" dirty="0"/>
                        <a:t>Date: 27 Oct</a:t>
                      </a:r>
                    </a:p>
                  </a:txBody>
                  <a:tcPr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[redacted]"/>
                  </a:ext>
                </a:extLst>
              </a:tr>
              <a:tr h="741680">
                <a:tc>
                  <a:txBody>
                    <a:bodyPr/>
                    <a:lstStyle/>
                    <a:p>
                      <a:r>
                        <a:rPr lang="en-US" sz="1000" b="1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Business Opportunities for Deep Technology (Sizable, Sustainable &amp; Scalable Business Framework)</a:t>
                      </a:r>
                      <a:endParaRPr lang="en-SG" sz="100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r>
                        <a:rPr lang="en-SG" sz="1000" b="1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Building world class global business.</a:t>
                      </a:r>
                    </a:p>
                    <a:p>
                      <a:endParaRPr lang="en-GB" sz="1000" dirty="0">
                        <a:solidFill>
                          <a:schemeClr val="tx1"/>
                        </a:solidFill>
                      </a:endParaRPr>
                    </a:p>
                    <a:p>
                      <a:pPr marR="0" algn="l" rtl="0"/>
                      <a:r>
                        <a:rPr lang="en-US" altLang="zh-CN" sz="1000" b="1" i="0" u="none" strike="noStrike" baseline="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rPr>
                        <a:t>Minimal Viable Product (MVP)</a:t>
                      </a:r>
                      <a:endParaRPr lang="en-SG" altLang="zh-CN" sz="1000" b="0" i="0" u="none" strike="noStrike" baseline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</a:endParaRPr>
                    </a:p>
                    <a:p>
                      <a:pPr marR="0" algn="l" rtl="0"/>
                      <a:r>
                        <a:rPr lang="en-US" altLang="zh-CN" sz="1000" b="1" i="0" u="none" strike="noStrike" baseline="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rPr>
                        <a:t>- Value Proposition Design</a:t>
                      </a:r>
                      <a:endParaRPr lang="en-SG" altLang="zh-CN" sz="1000" b="0" i="0" u="none" strike="noStrike" baseline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</a:endParaRPr>
                    </a:p>
                    <a:p>
                      <a:pPr marR="0" algn="l" rtl="0"/>
                      <a:r>
                        <a:rPr lang="en-US" altLang="zh-CN" sz="1000" b="1" i="0" u="none" strike="noStrike" baseline="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rPr>
                        <a:t>- Product Specifications  &amp; Technology Roadmap</a:t>
                      </a:r>
                      <a:endParaRPr lang="en-SG" altLang="zh-CN" sz="1000" b="0" i="0" u="none" strike="noStrike" baseline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</a:endParaRPr>
                    </a:p>
                    <a:p>
                      <a:pPr marR="0" algn="l" rtl="0"/>
                      <a:r>
                        <a:rPr lang="en-US" altLang="zh-CN" sz="1000" b="1" i="0" u="none" strike="noStrike" baseline="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rPr>
                        <a:t>- Product Brochures Design</a:t>
                      </a:r>
                      <a:endParaRPr lang="en-GB" sz="10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28600" indent="-228600">
                        <a:buAutoNum type="arabicPeriod"/>
                      </a:pPr>
                      <a:r>
                        <a:rPr lang="en-GB" sz="1000" dirty="0">
                          <a:solidFill>
                            <a:schemeClr val="tx1"/>
                          </a:solidFill>
                        </a:rPr>
                        <a:t>Determine value/supply chain</a:t>
                      </a:r>
                    </a:p>
                    <a:p>
                      <a:pPr marL="228600" indent="-228600">
                        <a:buAutoNum type="arabicPeriod"/>
                      </a:pPr>
                      <a:r>
                        <a:rPr lang="en-GB" sz="1000" dirty="0">
                          <a:solidFill>
                            <a:schemeClr val="tx1"/>
                          </a:solidFill>
                        </a:rPr>
                        <a:t>Identify customers paying S$1 mil</a:t>
                      </a:r>
                    </a:p>
                    <a:p>
                      <a:pPr marL="228600" indent="-228600">
                        <a:buAutoNum type="arabicPeriod"/>
                      </a:pPr>
                      <a:r>
                        <a:rPr lang="en-GB" sz="1000" dirty="0">
                          <a:solidFill>
                            <a:schemeClr val="tx1"/>
                          </a:solidFill>
                        </a:rPr>
                        <a:t>Customer –pain points, gain creator, job list</a:t>
                      </a:r>
                    </a:p>
                    <a:p>
                      <a:pPr marL="228600" indent="-228600">
                        <a:buAutoNum type="arabicPeriod"/>
                      </a:pPr>
                      <a:endParaRPr lang="en-GB" sz="1000" dirty="0">
                        <a:solidFill>
                          <a:schemeClr val="tx1"/>
                        </a:solidFill>
                      </a:endParaRPr>
                    </a:p>
                    <a:p>
                      <a:pPr marL="228600" indent="-228600">
                        <a:buFont typeface="+mj-lt"/>
                        <a:buAutoNum type="arabicPeriod" startAt="4"/>
                      </a:pPr>
                      <a:r>
                        <a:rPr lang="en-GB" sz="1000" dirty="0">
                          <a:solidFill>
                            <a:schemeClr val="tx1"/>
                          </a:solidFill>
                        </a:rPr>
                        <a:t>Market sizing SOM SAM, TAM</a:t>
                      </a:r>
                    </a:p>
                    <a:p>
                      <a:pPr marL="228600" indent="-228600">
                        <a:buFont typeface="+mj-lt"/>
                        <a:buAutoNum type="arabicPeriod" startAt="4"/>
                      </a:pPr>
                      <a:endParaRPr lang="en-GB" sz="1000" dirty="0">
                        <a:solidFill>
                          <a:schemeClr val="tx1"/>
                        </a:solidFill>
                      </a:endParaRPr>
                    </a:p>
                    <a:p>
                      <a:pPr marL="228600" indent="-228600">
                        <a:buFont typeface="+mj-lt"/>
                        <a:buAutoNum type="arabicPeriod" startAt="4"/>
                      </a:pPr>
                      <a:r>
                        <a:rPr lang="en-GB" sz="1000" dirty="0">
                          <a:solidFill>
                            <a:schemeClr val="tx1"/>
                          </a:solidFill>
                        </a:rPr>
                        <a:t>S3 framework and pinball diagram</a:t>
                      </a:r>
                    </a:p>
                    <a:p>
                      <a:pPr marL="228600" indent="-228600">
                        <a:buFont typeface="+mj-lt"/>
                        <a:buAutoNum type="arabicPeriod" startAt="4"/>
                      </a:pPr>
                      <a:endParaRPr lang="en-GB" sz="1000" dirty="0">
                        <a:solidFill>
                          <a:schemeClr val="tx1"/>
                        </a:solidFill>
                      </a:endParaRPr>
                    </a:p>
                    <a:p>
                      <a:pPr marL="228600" indent="-228600">
                        <a:buFont typeface="+mj-lt"/>
                        <a:buAutoNum type="arabicPeriod" startAt="4"/>
                      </a:pPr>
                      <a:endParaRPr lang="en-GB" sz="1000" dirty="0">
                        <a:solidFill>
                          <a:schemeClr val="tx1"/>
                        </a:solidFill>
                      </a:endParaRPr>
                    </a:p>
                    <a:p>
                      <a:pPr marL="228600" indent="-228600">
                        <a:buFont typeface="+mj-lt"/>
                        <a:buAutoNum type="arabicPeriod" startAt="4"/>
                      </a:pPr>
                      <a:endParaRPr lang="en-GB" sz="1000" dirty="0">
                        <a:solidFill>
                          <a:schemeClr val="tx1"/>
                        </a:solidFill>
                      </a:endParaRPr>
                    </a:p>
                    <a:p>
                      <a:pPr marL="0" indent="0">
                        <a:buFont typeface="+mj-lt"/>
                        <a:buNone/>
                      </a:pPr>
                      <a:endParaRPr lang="en-GB" sz="10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000" dirty="0">
                          <a:solidFill>
                            <a:schemeClr val="tx1"/>
                          </a:solidFill>
                        </a:rPr>
                        <a:t>6. Identify and explain MVP</a:t>
                      </a:r>
                    </a:p>
                    <a:p>
                      <a:endParaRPr lang="en-GB" sz="1000" dirty="0">
                        <a:solidFill>
                          <a:schemeClr val="tx1"/>
                        </a:solidFill>
                      </a:endParaRPr>
                    </a:p>
                    <a:p>
                      <a:r>
                        <a:rPr lang="en-GB" sz="1000" dirty="0">
                          <a:solidFill>
                            <a:schemeClr val="tx1"/>
                          </a:solidFill>
                        </a:rPr>
                        <a:t>7. Product specifications</a:t>
                      </a:r>
                    </a:p>
                    <a:p>
                      <a:endParaRPr lang="en-GB" sz="1000" dirty="0">
                        <a:solidFill>
                          <a:schemeClr val="tx1"/>
                        </a:solidFill>
                      </a:endParaRPr>
                    </a:p>
                    <a:p>
                      <a:r>
                        <a:rPr lang="en-GB" sz="1000" dirty="0">
                          <a:solidFill>
                            <a:schemeClr val="tx1"/>
                          </a:solidFill>
                        </a:rPr>
                        <a:t>8. Product Road Map</a:t>
                      </a:r>
                    </a:p>
                    <a:p>
                      <a:endParaRPr lang="en-GB" sz="1000" dirty="0">
                        <a:solidFill>
                          <a:schemeClr val="tx1"/>
                        </a:solidFill>
                      </a:endParaRPr>
                    </a:p>
                    <a:p>
                      <a:r>
                        <a:rPr lang="en-GB" sz="1000" dirty="0">
                          <a:solidFill>
                            <a:schemeClr val="tx1"/>
                          </a:solidFill>
                        </a:rPr>
                        <a:t>9. Product Brochure</a:t>
                      </a:r>
                    </a:p>
                    <a:p>
                      <a:endParaRPr lang="en-GB" sz="1000" dirty="0">
                        <a:solidFill>
                          <a:schemeClr val="tx1"/>
                        </a:solidFill>
                      </a:endParaRPr>
                    </a:p>
                    <a:p>
                      <a:endParaRPr lang="en-GB" sz="1000" dirty="0">
                        <a:solidFill>
                          <a:schemeClr val="tx1"/>
                        </a:solidFill>
                      </a:endParaRPr>
                    </a:p>
                    <a:p>
                      <a:endParaRPr lang="en-GB" sz="1000" dirty="0">
                        <a:solidFill>
                          <a:schemeClr val="tx1"/>
                        </a:solidFill>
                      </a:endParaRPr>
                    </a:p>
                    <a:p>
                      <a:endParaRPr lang="en-GB" sz="1000" dirty="0">
                        <a:solidFill>
                          <a:schemeClr val="tx1"/>
                        </a:solidFill>
                      </a:endParaRPr>
                    </a:p>
                    <a:p>
                      <a:endParaRPr lang="en-GB" sz="1000" dirty="0">
                        <a:solidFill>
                          <a:schemeClr val="tx1"/>
                        </a:solidFill>
                      </a:endParaRPr>
                    </a:p>
                    <a:p>
                      <a:endParaRPr lang="en-GB" sz="1000" dirty="0">
                        <a:solidFill>
                          <a:schemeClr val="tx1"/>
                        </a:solidFill>
                      </a:endParaRPr>
                    </a:p>
                    <a:p>
                      <a:endParaRPr lang="en-GB" sz="1000" dirty="0">
                        <a:solidFill>
                          <a:schemeClr val="tx1"/>
                        </a:solidFill>
                      </a:endParaRPr>
                    </a:p>
                    <a:p>
                      <a:endParaRPr lang="en-GB" sz="1000" dirty="0">
                        <a:solidFill>
                          <a:schemeClr val="tx1"/>
                        </a:solidFill>
                      </a:endParaRPr>
                    </a:p>
                    <a:p>
                      <a:endParaRPr lang="en-GB" sz="1000" dirty="0">
                        <a:solidFill>
                          <a:schemeClr val="tx1"/>
                        </a:solidFill>
                      </a:endParaRPr>
                    </a:p>
                    <a:p>
                      <a:endParaRPr lang="en-GB" sz="1000" dirty="0">
                        <a:solidFill>
                          <a:schemeClr val="tx1"/>
                        </a:solidFill>
                      </a:endParaRPr>
                    </a:p>
                    <a:p>
                      <a:endParaRPr lang="en-GB" sz="1000" dirty="0">
                        <a:solidFill>
                          <a:schemeClr val="tx1"/>
                        </a:solidFill>
                      </a:endParaRPr>
                    </a:p>
                    <a:p>
                      <a:endParaRPr lang="en-GB" sz="1000" dirty="0">
                        <a:solidFill>
                          <a:schemeClr val="tx1"/>
                        </a:solidFill>
                      </a:endParaRPr>
                    </a:p>
                    <a:p>
                      <a:pPr marL="0" indent="0">
                        <a:buFont typeface="+mj-lt"/>
                        <a:buNone/>
                      </a:pPr>
                      <a:r>
                        <a:rPr lang="en-GB" sz="1000" u="sng" dirty="0">
                          <a:solidFill>
                            <a:schemeClr val="tx1"/>
                          </a:solidFill>
                        </a:rPr>
                        <a:t>Pitch</a:t>
                      </a:r>
                      <a:r>
                        <a:rPr lang="en-GB" sz="1000" u="sng" baseline="0" dirty="0">
                          <a:solidFill>
                            <a:schemeClr val="tx1"/>
                          </a:solidFill>
                        </a:rPr>
                        <a:t> deck</a:t>
                      </a:r>
                      <a:r>
                        <a:rPr lang="en-GB" sz="1000" u="sng" dirty="0">
                          <a:solidFill>
                            <a:schemeClr val="tx1"/>
                          </a:solidFill>
                        </a:rPr>
                        <a:t>:</a:t>
                      </a:r>
                    </a:p>
                    <a:p>
                      <a:pPr marL="0" indent="0">
                        <a:buFontTx/>
                        <a:buNone/>
                      </a:pPr>
                      <a:r>
                        <a:rPr lang="en-GB" sz="1000" dirty="0">
                          <a:solidFill>
                            <a:schemeClr val="tx1"/>
                          </a:solidFill>
                        </a:rPr>
                        <a:t>PROBLEM</a:t>
                      </a:r>
                    </a:p>
                    <a:p>
                      <a:pPr marL="0" indent="0">
                        <a:buFontTx/>
                        <a:buNone/>
                      </a:pPr>
                      <a:r>
                        <a:rPr lang="en-GB" sz="1000" dirty="0">
                          <a:solidFill>
                            <a:schemeClr val="tx1"/>
                          </a:solidFill>
                        </a:rPr>
                        <a:t>SOLUTION</a:t>
                      </a:r>
                    </a:p>
                    <a:p>
                      <a:pPr marL="0" indent="0">
                        <a:buFontTx/>
                        <a:buNone/>
                      </a:pPr>
                      <a:r>
                        <a:rPr lang="en-GB" sz="1000" dirty="0">
                          <a:solidFill>
                            <a:schemeClr val="tx1"/>
                          </a:solidFill>
                        </a:rPr>
                        <a:t>MARKET</a:t>
                      </a:r>
                    </a:p>
                    <a:p>
                      <a:endParaRPr lang="en-GB" sz="10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SG" sz="1000" b="1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Product Development Economics</a:t>
                      </a:r>
                      <a:endParaRPr lang="en-SG" sz="100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r>
                        <a:rPr lang="en-SG" sz="1000" b="1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- Development &amp; Certification Process</a:t>
                      </a:r>
                      <a:endParaRPr lang="en-SG" sz="100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r>
                        <a:rPr lang="en-US" sz="1000" b="1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- Bill of Materials and Pricing</a:t>
                      </a:r>
                      <a:endParaRPr lang="en-SG" sz="100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r>
                        <a:rPr lang="en-SG" sz="1000" b="1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- Cashflow Analysis and Financing</a:t>
                      </a:r>
                      <a:r>
                        <a:rPr lang="en-SG" sz="1000" dirty="0">
                          <a:solidFill>
                            <a:schemeClr val="tx1"/>
                          </a:solidFill>
                          <a:effectLst/>
                        </a:rPr>
                        <a:t> </a:t>
                      </a:r>
                      <a:endParaRPr lang="en-GB" sz="1000" dirty="0">
                        <a:solidFill>
                          <a:schemeClr val="tx1"/>
                        </a:solidFill>
                      </a:endParaRPr>
                    </a:p>
                    <a:p>
                      <a:r>
                        <a:rPr lang="en-US" sz="1000" b="1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Business Model Design</a:t>
                      </a:r>
                      <a:endParaRPr lang="en-SG" sz="100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r>
                        <a:rPr lang="en-US" sz="1000" b="1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- Business [Team member] &amp; Validation</a:t>
                      </a:r>
                      <a:endParaRPr lang="en-SG" sz="100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r>
                        <a:rPr lang="en-US" sz="1000" b="1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- Platform Architecture and Network Effect</a:t>
                      </a:r>
                      <a:r>
                        <a:rPr lang="en-SG" sz="1000" dirty="0">
                          <a:solidFill>
                            <a:schemeClr val="tx1"/>
                          </a:solidFill>
                          <a:effectLst/>
                        </a:rPr>
                        <a:t> </a:t>
                      </a:r>
                    </a:p>
                    <a:p>
                      <a:endParaRPr lang="en-SG" sz="1000" dirty="0">
                        <a:solidFill>
                          <a:schemeClr val="tx1"/>
                        </a:solidFill>
                        <a:effectLst/>
                      </a:endParaRPr>
                    </a:p>
                    <a:p>
                      <a:endParaRPr lang="en-SG" sz="1000" dirty="0">
                        <a:solidFill>
                          <a:schemeClr val="tx1"/>
                        </a:solidFill>
                        <a:effectLst/>
                      </a:endParaRPr>
                    </a:p>
                    <a:p>
                      <a:endParaRPr lang="en-SG" sz="1000" dirty="0">
                        <a:solidFill>
                          <a:schemeClr val="tx1"/>
                        </a:solidFill>
                        <a:effectLst/>
                      </a:endParaRPr>
                    </a:p>
                    <a:p>
                      <a:endParaRPr lang="en-SG" sz="1000" dirty="0">
                        <a:solidFill>
                          <a:schemeClr val="tx1"/>
                        </a:solidFill>
                        <a:effectLst/>
                      </a:endParaRPr>
                    </a:p>
                    <a:p>
                      <a:pPr marL="0" indent="0">
                        <a:buFont typeface="+mj-lt"/>
                        <a:buNone/>
                      </a:pPr>
                      <a:r>
                        <a:rPr lang="en-GB" sz="1000" u="sng" dirty="0">
                          <a:solidFill>
                            <a:schemeClr val="tx1"/>
                          </a:solidFill>
                        </a:rPr>
                        <a:t>Pitch</a:t>
                      </a:r>
                      <a:r>
                        <a:rPr lang="en-GB" sz="1000" u="sng" baseline="0" dirty="0">
                          <a:solidFill>
                            <a:schemeClr val="tx1"/>
                          </a:solidFill>
                        </a:rPr>
                        <a:t> deck</a:t>
                      </a:r>
                      <a:r>
                        <a:rPr lang="en-GB" sz="1000" u="sng" dirty="0">
                          <a:solidFill>
                            <a:schemeClr val="tx1"/>
                          </a:solidFill>
                        </a:rPr>
                        <a:t>:</a:t>
                      </a:r>
                    </a:p>
                    <a:p>
                      <a:pPr marL="0" indent="0">
                        <a:buFontTx/>
                        <a:buNone/>
                      </a:pPr>
                      <a:r>
                        <a:rPr lang="en-GB" sz="1000" dirty="0">
                          <a:solidFill>
                            <a:schemeClr val="tx1"/>
                          </a:solidFill>
                        </a:rPr>
                        <a:t>PROBLEM</a:t>
                      </a:r>
                    </a:p>
                    <a:p>
                      <a:pPr marL="0" indent="0">
                        <a:buFontTx/>
                        <a:buNone/>
                      </a:pPr>
                      <a:r>
                        <a:rPr lang="en-GB" sz="1000" dirty="0">
                          <a:solidFill>
                            <a:schemeClr val="tx1"/>
                          </a:solidFill>
                        </a:rPr>
                        <a:t>SOLUTION</a:t>
                      </a:r>
                    </a:p>
                    <a:p>
                      <a:pPr marL="0" indent="0">
                        <a:buFontTx/>
                        <a:buNone/>
                      </a:pPr>
                      <a:r>
                        <a:rPr lang="en-GB" sz="1000" dirty="0">
                          <a:solidFill>
                            <a:schemeClr val="tx1"/>
                          </a:solidFill>
                        </a:rPr>
                        <a:t>MARKET</a:t>
                      </a:r>
                    </a:p>
                    <a:p>
                      <a:pPr marL="0" indent="0">
                        <a:buFontTx/>
                        <a:buNone/>
                      </a:pPr>
                      <a:r>
                        <a:rPr lang="en-GB" sz="1000" dirty="0">
                          <a:solidFill>
                            <a:schemeClr val="tx1"/>
                          </a:solidFill>
                        </a:rPr>
                        <a:t>PRODUCT</a:t>
                      </a:r>
                    </a:p>
                    <a:p>
                      <a:endParaRPr lang="en-GB" sz="10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000" dirty="0">
                          <a:solidFill>
                            <a:schemeClr val="tx1"/>
                          </a:solidFill>
                        </a:rPr>
                        <a:t>10. Quality system and classification</a:t>
                      </a:r>
                    </a:p>
                    <a:p>
                      <a:endParaRPr lang="en-GB" sz="1000" dirty="0">
                        <a:solidFill>
                          <a:schemeClr val="tx1"/>
                        </a:solidFill>
                      </a:endParaRPr>
                    </a:p>
                    <a:p>
                      <a:r>
                        <a:rPr lang="en-GB" sz="1000" dirty="0">
                          <a:solidFill>
                            <a:schemeClr val="tx1"/>
                          </a:solidFill>
                        </a:rPr>
                        <a:t>11. Certification</a:t>
                      </a:r>
                    </a:p>
                    <a:p>
                      <a:endParaRPr lang="en-GB" sz="1000" dirty="0">
                        <a:solidFill>
                          <a:schemeClr val="tx1"/>
                        </a:solidFill>
                      </a:endParaRPr>
                    </a:p>
                    <a:p>
                      <a:r>
                        <a:rPr lang="en-GB" sz="1000" dirty="0">
                          <a:solidFill>
                            <a:schemeClr val="tx1"/>
                          </a:solidFill>
                        </a:rPr>
                        <a:t>12. Bill of Material</a:t>
                      </a:r>
                    </a:p>
                    <a:p>
                      <a:endParaRPr lang="en-GB" sz="1000" dirty="0">
                        <a:solidFill>
                          <a:schemeClr val="tx1"/>
                        </a:solidFill>
                      </a:endParaRPr>
                    </a:p>
                    <a:p>
                      <a:r>
                        <a:rPr lang="en-GB" sz="1000" dirty="0">
                          <a:solidFill>
                            <a:schemeClr val="tx1"/>
                          </a:solidFill>
                        </a:rPr>
                        <a:t>13. Pricing</a:t>
                      </a:r>
                    </a:p>
                    <a:p>
                      <a:endParaRPr lang="en-GB" sz="1000" dirty="0">
                        <a:solidFill>
                          <a:schemeClr val="tx1"/>
                        </a:solidFill>
                      </a:endParaRPr>
                    </a:p>
                    <a:p>
                      <a:endParaRPr lang="en-GB" sz="1000" dirty="0">
                        <a:solidFill>
                          <a:schemeClr val="tx1"/>
                        </a:solidFill>
                      </a:endParaRPr>
                    </a:p>
                    <a:p>
                      <a:endParaRPr lang="en-GB" sz="1000" dirty="0">
                        <a:solidFill>
                          <a:schemeClr val="tx1"/>
                        </a:solidFill>
                      </a:endParaRPr>
                    </a:p>
                    <a:p>
                      <a:endParaRPr lang="en-GB" sz="1000" dirty="0">
                        <a:solidFill>
                          <a:schemeClr val="tx1"/>
                        </a:solidFill>
                      </a:endParaRPr>
                    </a:p>
                    <a:p>
                      <a:endParaRPr lang="en-GB" sz="1000" dirty="0">
                        <a:solidFill>
                          <a:schemeClr val="tx1"/>
                        </a:solidFill>
                      </a:endParaRPr>
                    </a:p>
                    <a:p>
                      <a:endParaRPr lang="en-GB" sz="1000" dirty="0">
                        <a:solidFill>
                          <a:schemeClr val="tx1"/>
                        </a:solidFill>
                      </a:endParaRPr>
                    </a:p>
                    <a:p>
                      <a:endParaRPr lang="en-GB" sz="1000" dirty="0">
                        <a:solidFill>
                          <a:schemeClr val="tx1"/>
                        </a:solidFill>
                      </a:endParaRPr>
                    </a:p>
                    <a:p>
                      <a:endParaRPr lang="en-GB" sz="1000" dirty="0">
                        <a:solidFill>
                          <a:schemeClr val="tx1"/>
                        </a:solidFill>
                      </a:endParaRPr>
                    </a:p>
                    <a:p>
                      <a:endParaRPr lang="en-GB" sz="1000" dirty="0">
                        <a:solidFill>
                          <a:schemeClr val="tx1"/>
                        </a:solidFill>
                      </a:endParaRPr>
                    </a:p>
                    <a:p>
                      <a:endParaRPr lang="en-GB" sz="1000" dirty="0">
                        <a:solidFill>
                          <a:schemeClr val="tx1"/>
                        </a:solidFill>
                      </a:endParaRPr>
                    </a:p>
                    <a:p>
                      <a:endParaRPr lang="en-GB" sz="1000" dirty="0">
                        <a:solidFill>
                          <a:schemeClr val="tx1"/>
                        </a:solidFill>
                      </a:endParaRPr>
                    </a:p>
                    <a:p>
                      <a:endParaRPr lang="en-GB" sz="1000" dirty="0">
                        <a:solidFill>
                          <a:schemeClr val="tx1"/>
                        </a:solidFill>
                      </a:endParaRPr>
                    </a:p>
                    <a:p>
                      <a:pPr marL="0" indent="0">
                        <a:buFont typeface="+mj-lt"/>
                        <a:buNone/>
                      </a:pPr>
                      <a:r>
                        <a:rPr lang="en-GB" sz="1000" u="sng" dirty="0">
                          <a:solidFill>
                            <a:schemeClr val="tx1"/>
                          </a:solidFill>
                        </a:rPr>
                        <a:t>Pitch</a:t>
                      </a:r>
                      <a:r>
                        <a:rPr lang="en-GB" sz="1000" u="sng" baseline="0" dirty="0">
                          <a:solidFill>
                            <a:schemeClr val="tx1"/>
                          </a:solidFill>
                        </a:rPr>
                        <a:t> deck</a:t>
                      </a:r>
                      <a:r>
                        <a:rPr lang="en-GB" sz="1000" u="sng" dirty="0">
                          <a:solidFill>
                            <a:schemeClr val="tx1"/>
                          </a:solidFill>
                        </a:rPr>
                        <a:t>:</a:t>
                      </a:r>
                    </a:p>
                    <a:p>
                      <a:pPr marL="0" indent="0">
                        <a:buFontTx/>
                        <a:buNone/>
                      </a:pPr>
                      <a:r>
                        <a:rPr lang="en-GB" sz="1000" dirty="0">
                          <a:solidFill>
                            <a:schemeClr val="tx1"/>
                          </a:solidFill>
                        </a:rPr>
                        <a:t>PROBLEM</a:t>
                      </a:r>
                    </a:p>
                    <a:p>
                      <a:pPr marL="0" indent="0">
                        <a:buFontTx/>
                        <a:buNone/>
                      </a:pPr>
                      <a:r>
                        <a:rPr lang="en-GB" sz="1000" dirty="0">
                          <a:solidFill>
                            <a:schemeClr val="tx1"/>
                          </a:solidFill>
                        </a:rPr>
                        <a:t>SOLUTION</a:t>
                      </a:r>
                    </a:p>
                    <a:p>
                      <a:pPr marL="0" indent="0">
                        <a:buFontTx/>
                        <a:buNone/>
                      </a:pPr>
                      <a:r>
                        <a:rPr lang="en-GB" sz="1000" dirty="0">
                          <a:solidFill>
                            <a:schemeClr val="tx1"/>
                          </a:solidFill>
                        </a:rPr>
                        <a:t>MARKET</a:t>
                      </a:r>
                    </a:p>
                    <a:p>
                      <a:pPr marL="0" indent="0">
                        <a:buFontTx/>
                        <a:buNone/>
                      </a:pPr>
                      <a:r>
                        <a:rPr lang="en-GB" sz="1000" dirty="0">
                          <a:solidFill>
                            <a:schemeClr val="tx1"/>
                          </a:solidFill>
                        </a:rPr>
                        <a:t>PRODUCT</a:t>
                      </a:r>
                    </a:p>
                    <a:p>
                      <a:endParaRPr lang="en-GB" sz="10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000" dirty="0">
                          <a:solidFill>
                            <a:schemeClr val="tx1"/>
                          </a:solidFill>
                        </a:rPr>
                        <a:t>14. Competitive Analysis, [Team member] and Competitive Landscape</a:t>
                      </a:r>
                    </a:p>
                    <a:p>
                      <a:endParaRPr lang="en-GB" sz="1000" dirty="0">
                        <a:solidFill>
                          <a:schemeClr val="tx1"/>
                        </a:solidFill>
                      </a:endParaRPr>
                    </a:p>
                    <a:p>
                      <a:r>
                        <a:rPr lang="en-GB" sz="1000" dirty="0">
                          <a:solidFill>
                            <a:schemeClr val="tx1"/>
                          </a:solidFill>
                        </a:rPr>
                        <a:t>15. Business [Team member]</a:t>
                      </a:r>
                    </a:p>
                    <a:p>
                      <a:endParaRPr lang="en-GB" sz="1000" dirty="0">
                        <a:solidFill>
                          <a:schemeClr val="tx1"/>
                        </a:solidFill>
                      </a:endParaRPr>
                    </a:p>
                    <a:p>
                      <a:endParaRPr lang="en-GB" sz="1000" dirty="0">
                        <a:solidFill>
                          <a:schemeClr val="tx1"/>
                        </a:solidFill>
                      </a:endParaRPr>
                    </a:p>
                    <a:p>
                      <a:r>
                        <a:rPr lang="en-GB" sz="1000" dirty="0">
                          <a:solidFill>
                            <a:schemeClr val="tx1"/>
                          </a:solidFill>
                        </a:rPr>
                        <a:t>16. Cashflow analysis, valuation and [Team member] computation</a:t>
                      </a:r>
                    </a:p>
                    <a:p>
                      <a:endParaRPr lang="en-GB" sz="1000" dirty="0">
                        <a:solidFill>
                          <a:schemeClr val="tx1"/>
                        </a:solidFill>
                      </a:endParaRPr>
                    </a:p>
                    <a:p>
                      <a:endParaRPr lang="en-GB" sz="1000" dirty="0">
                        <a:solidFill>
                          <a:schemeClr val="tx1"/>
                        </a:solidFill>
                      </a:endParaRPr>
                    </a:p>
                    <a:p>
                      <a:endParaRPr lang="en-GB" sz="1000" dirty="0">
                        <a:solidFill>
                          <a:schemeClr val="tx1"/>
                        </a:solidFill>
                      </a:endParaRPr>
                    </a:p>
                    <a:p>
                      <a:endParaRPr lang="en-GB" sz="1000" dirty="0">
                        <a:solidFill>
                          <a:schemeClr val="tx1"/>
                        </a:solidFill>
                      </a:endParaRPr>
                    </a:p>
                    <a:p>
                      <a:endParaRPr lang="en-GB" sz="1000" dirty="0">
                        <a:solidFill>
                          <a:schemeClr val="tx1"/>
                        </a:solidFill>
                      </a:endParaRPr>
                    </a:p>
                    <a:p>
                      <a:pPr marL="0" indent="0">
                        <a:buFont typeface="+mj-lt"/>
                        <a:buNone/>
                      </a:pPr>
                      <a:r>
                        <a:rPr lang="en-GB" sz="1000" u="sng" dirty="0">
                          <a:solidFill>
                            <a:schemeClr val="tx1"/>
                          </a:solidFill>
                        </a:rPr>
                        <a:t>Pitch</a:t>
                      </a:r>
                      <a:r>
                        <a:rPr lang="en-GB" sz="1000" u="sng" baseline="0" dirty="0">
                          <a:solidFill>
                            <a:schemeClr val="tx1"/>
                          </a:solidFill>
                        </a:rPr>
                        <a:t> deck</a:t>
                      </a:r>
                      <a:r>
                        <a:rPr lang="en-GB" sz="1000" u="sng" dirty="0">
                          <a:solidFill>
                            <a:schemeClr val="tx1"/>
                          </a:solidFill>
                        </a:rPr>
                        <a:t>:</a:t>
                      </a:r>
                    </a:p>
                    <a:p>
                      <a:pPr marL="0" indent="0">
                        <a:buFontTx/>
                        <a:buNone/>
                      </a:pPr>
                      <a:r>
                        <a:rPr lang="en-GB" sz="1000" dirty="0">
                          <a:solidFill>
                            <a:schemeClr val="tx1"/>
                          </a:solidFill>
                        </a:rPr>
                        <a:t>PROBLEM</a:t>
                      </a:r>
                    </a:p>
                    <a:p>
                      <a:pPr marL="0" indent="0">
                        <a:buFontTx/>
                        <a:buNone/>
                      </a:pPr>
                      <a:r>
                        <a:rPr lang="en-GB" sz="1000" dirty="0">
                          <a:solidFill>
                            <a:schemeClr val="tx1"/>
                          </a:solidFill>
                        </a:rPr>
                        <a:t>SOLUTION</a:t>
                      </a:r>
                    </a:p>
                    <a:p>
                      <a:pPr marL="0" indent="0">
                        <a:buFontTx/>
                        <a:buNone/>
                      </a:pPr>
                      <a:r>
                        <a:rPr lang="en-GB" sz="1000" dirty="0">
                          <a:solidFill>
                            <a:schemeClr val="tx1"/>
                          </a:solidFill>
                        </a:rPr>
                        <a:t>MARKET</a:t>
                      </a:r>
                    </a:p>
                    <a:p>
                      <a:pPr marL="0" indent="0">
                        <a:buFontTx/>
                        <a:buNone/>
                      </a:pPr>
                      <a:r>
                        <a:rPr lang="en-GB" sz="1000" dirty="0">
                          <a:solidFill>
                            <a:schemeClr val="tx1"/>
                          </a:solidFill>
                        </a:rPr>
                        <a:t>PRODUCT</a:t>
                      </a:r>
                    </a:p>
                    <a:p>
                      <a:endParaRPr lang="en-GB" sz="10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000" b="1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Intellectual Properties I (Trademarks, Copyrights, Patents, &amp; IP Strategies)</a:t>
                      </a:r>
                      <a:endParaRPr lang="en-SG" sz="10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000" b="1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Growth Strategies I (Disruptive Innovations and Cross the Chasm)</a:t>
                      </a:r>
                    </a:p>
                    <a:p>
                      <a:pPr>
                        <a:spcAft>
                          <a:spcPts val="0"/>
                        </a:spcAft>
                      </a:pPr>
                      <a:endParaRPr lang="en-US" sz="1000" b="1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DengXian" panose="02010600030101010101" pitchFamily="2" charset="-122"/>
                        <a:cs typeface="Calibri" panose="020F0502020204030204" pitchFamily="34" charset="0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1" kern="120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</a:rPr>
                        <a:t>Growth Strategies II (Strategic Alliance, E-Commence, Digital Marketing)</a:t>
                      </a:r>
                      <a:r>
                        <a:rPr lang="en-SG" sz="1000" b="1" kern="120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 </a:t>
                      </a:r>
                      <a:endParaRPr lang="en-GB" sz="1000" b="1" kern="12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  <a:p>
                      <a:pPr>
                        <a:spcAft>
                          <a:spcPts val="0"/>
                        </a:spcAft>
                      </a:pPr>
                      <a:endParaRPr lang="en-SG" sz="10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  <a:p>
                      <a:pPr>
                        <a:spcAft>
                          <a:spcPts val="0"/>
                        </a:spcAft>
                      </a:pPr>
                      <a:endParaRPr lang="en-SG" sz="10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  <a:p>
                      <a:pPr>
                        <a:spcAft>
                          <a:spcPts val="0"/>
                        </a:spcAft>
                      </a:pPr>
                      <a:endParaRPr lang="en-SG" sz="10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  <a:p>
                      <a:pPr marL="0" indent="0">
                        <a:buFont typeface="+mj-lt"/>
                        <a:buNone/>
                      </a:pPr>
                      <a:r>
                        <a:rPr lang="en-GB" sz="1000" u="sng" dirty="0">
                          <a:solidFill>
                            <a:schemeClr val="tx1"/>
                          </a:solidFill>
                        </a:rPr>
                        <a:t>Pitch</a:t>
                      </a:r>
                      <a:r>
                        <a:rPr lang="en-GB" sz="1000" u="sng" baseline="0" dirty="0">
                          <a:solidFill>
                            <a:schemeClr val="tx1"/>
                          </a:solidFill>
                        </a:rPr>
                        <a:t> deck</a:t>
                      </a:r>
                      <a:r>
                        <a:rPr lang="en-GB" sz="1000" u="sng" dirty="0">
                          <a:solidFill>
                            <a:schemeClr val="tx1"/>
                          </a:solidFill>
                        </a:rPr>
                        <a:t>:</a:t>
                      </a:r>
                    </a:p>
                    <a:p>
                      <a:pPr marL="0" indent="0">
                        <a:buFontTx/>
                        <a:buNone/>
                      </a:pPr>
                      <a:r>
                        <a:rPr lang="en-GB" sz="1000" dirty="0">
                          <a:solidFill>
                            <a:schemeClr val="tx1"/>
                          </a:solidFill>
                        </a:rPr>
                        <a:t>PROBLEM</a:t>
                      </a:r>
                    </a:p>
                    <a:p>
                      <a:pPr marL="0" indent="0">
                        <a:buFontTx/>
                        <a:buNone/>
                      </a:pPr>
                      <a:r>
                        <a:rPr lang="en-GB" sz="1000" dirty="0">
                          <a:solidFill>
                            <a:schemeClr val="tx1"/>
                          </a:solidFill>
                        </a:rPr>
                        <a:t>SOLUTION</a:t>
                      </a:r>
                    </a:p>
                    <a:p>
                      <a:pPr marL="0" indent="0">
                        <a:buFontTx/>
                        <a:buNone/>
                      </a:pPr>
                      <a:r>
                        <a:rPr lang="en-GB" sz="1000" dirty="0">
                          <a:solidFill>
                            <a:schemeClr val="tx1"/>
                          </a:solidFill>
                        </a:rPr>
                        <a:t>MARKET</a:t>
                      </a:r>
                    </a:p>
                    <a:p>
                      <a:pPr marL="0" indent="0">
                        <a:buFontTx/>
                        <a:buNone/>
                      </a:pPr>
                      <a:r>
                        <a:rPr lang="en-GB" sz="1000" dirty="0">
                          <a:solidFill>
                            <a:schemeClr val="tx1"/>
                          </a:solidFill>
                        </a:rPr>
                        <a:t>PRODUCT</a:t>
                      </a:r>
                    </a:p>
                    <a:p>
                      <a:pPr marL="0" indent="0">
                        <a:buFontTx/>
                        <a:buNone/>
                      </a:pPr>
                      <a:r>
                        <a:rPr lang="en-GB" sz="1000" dirty="0">
                          <a:solidFill>
                            <a:schemeClr val="tx1"/>
                          </a:solidFill>
                        </a:rPr>
                        <a:t>COMPETITION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000" dirty="0">
                          <a:solidFill>
                            <a:schemeClr val="tx1"/>
                          </a:solidFill>
                        </a:rPr>
                        <a:t>BUSINESS MD</a:t>
                      </a:r>
                    </a:p>
                    <a:p>
                      <a:pPr>
                        <a:spcAft>
                          <a:spcPts val="0"/>
                        </a:spcAft>
                      </a:pPr>
                      <a:r>
                        <a:rPr lang="en-SG" sz="100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a:t>FINANCIALS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000" dirty="0">
                          <a:solidFill>
                            <a:schemeClr val="tx1"/>
                          </a:solidFill>
                        </a:rPr>
                        <a:t>17. Trademark, copyright, patents</a:t>
                      </a:r>
                    </a:p>
                    <a:p>
                      <a:endParaRPr lang="en-GB" sz="1000" dirty="0">
                        <a:solidFill>
                          <a:schemeClr val="tx1"/>
                        </a:solidFill>
                      </a:endParaRPr>
                    </a:p>
                    <a:p>
                      <a:r>
                        <a:rPr lang="en-GB" sz="1000" dirty="0">
                          <a:solidFill>
                            <a:schemeClr val="tx1"/>
                          </a:solidFill>
                        </a:rPr>
                        <a:t>18. Patent Map</a:t>
                      </a:r>
                    </a:p>
                    <a:p>
                      <a:endParaRPr lang="en-GB" sz="1000" dirty="0">
                        <a:solidFill>
                          <a:schemeClr val="tx1"/>
                        </a:solidFill>
                      </a:endParaRPr>
                    </a:p>
                    <a:p>
                      <a:r>
                        <a:rPr lang="en-GB" sz="1000" dirty="0">
                          <a:solidFill>
                            <a:schemeClr val="tx1"/>
                          </a:solidFill>
                        </a:rPr>
                        <a:t>19. IP Strategy</a:t>
                      </a:r>
                    </a:p>
                    <a:p>
                      <a:endParaRPr lang="en-GB" sz="1000" dirty="0">
                        <a:solidFill>
                          <a:schemeClr val="tx1"/>
                        </a:solidFill>
                      </a:endParaRPr>
                    </a:p>
                    <a:p>
                      <a:r>
                        <a:rPr lang="en-GB" sz="1000" dirty="0">
                          <a:solidFill>
                            <a:schemeClr val="tx1"/>
                          </a:solidFill>
                        </a:rPr>
                        <a:t>20. Growth Strategy – crossing chasm and digital marketing</a:t>
                      </a:r>
                    </a:p>
                    <a:p>
                      <a:endParaRPr lang="en-GB" sz="1000" dirty="0">
                        <a:solidFill>
                          <a:schemeClr val="tx1"/>
                        </a:solidFill>
                      </a:endParaRPr>
                    </a:p>
                    <a:p>
                      <a:endParaRPr lang="en-GB" sz="1000" dirty="0">
                        <a:solidFill>
                          <a:schemeClr val="tx1"/>
                        </a:solidFill>
                      </a:endParaRPr>
                    </a:p>
                    <a:p>
                      <a:endParaRPr lang="en-GB" sz="1000" dirty="0">
                        <a:solidFill>
                          <a:schemeClr val="tx1"/>
                        </a:solidFill>
                      </a:endParaRPr>
                    </a:p>
                    <a:p>
                      <a:endParaRPr lang="en-GB" sz="1000" dirty="0">
                        <a:solidFill>
                          <a:schemeClr val="tx1"/>
                        </a:solidFill>
                      </a:endParaRPr>
                    </a:p>
                    <a:p>
                      <a:endParaRPr lang="en-GB" sz="1000" dirty="0">
                        <a:solidFill>
                          <a:schemeClr val="tx1"/>
                        </a:solidFill>
                      </a:endParaRPr>
                    </a:p>
                    <a:p>
                      <a:endParaRPr lang="en-GB" sz="1000" dirty="0">
                        <a:solidFill>
                          <a:schemeClr val="tx1"/>
                        </a:solidFill>
                      </a:endParaRPr>
                    </a:p>
                    <a:p>
                      <a:endParaRPr lang="en-GB" sz="1000" dirty="0">
                        <a:solidFill>
                          <a:schemeClr val="tx1"/>
                        </a:solidFill>
                      </a:endParaRPr>
                    </a:p>
                    <a:p>
                      <a:endParaRPr lang="en-GB" sz="1000" dirty="0">
                        <a:solidFill>
                          <a:schemeClr val="tx1"/>
                        </a:solidFill>
                      </a:endParaRPr>
                    </a:p>
                    <a:p>
                      <a:endParaRPr lang="en-GB" sz="1000" dirty="0">
                        <a:solidFill>
                          <a:schemeClr val="tx1"/>
                        </a:solidFill>
                      </a:endParaRPr>
                    </a:p>
                    <a:p>
                      <a:endParaRPr lang="en-GB" sz="1000" dirty="0">
                        <a:solidFill>
                          <a:schemeClr val="tx1"/>
                        </a:solidFill>
                      </a:endParaRPr>
                    </a:p>
                    <a:p>
                      <a:pPr marL="0" indent="0">
                        <a:buFont typeface="+mj-lt"/>
                        <a:buNone/>
                      </a:pPr>
                      <a:r>
                        <a:rPr lang="en-GB" sz="1000" u="sng" dirty="0">
                          <a:solidFill>
                            <a:schemeClr val="tx1"/>
                          </a:solidFill>
                        </a:rPr>
                        <a:t>Pitch</a:t>
                      </a:r>
                      <a:r>
                        <a:rPr lang="en-GB" sz="1000" u="sng" baseline="0" dirty="0">
                          <a:solidFill>
                            <a:schemeClr val="tx1"/>
                          </a:solidFill>
                        </a:rPr>
                        <a:t> deck</a:t>
                      </a:r>
                      <a:r>
                        <a:rPr lang="en-GB" sz="1000" u="sng" dirty="0">
                          <a:solidFill>
                            <a:schemeClr val="tx1"/>
                          </a:solidFill>
                        </a:rPr>
                        <a:t>:</a:t>
                      </a:r>
                    </a:p>
                    <a:p>
                      <a:pPr marL="0" indent="0">
                        <a:buFontTx/>
                        <a:buNone/>
                      </a:pPr>
                      <a:r>
                        <a:rPr lang="en-GB" sz="1000" dirty="0">
                          <a:solidFill>
                            <a:schemeClr val="tx1"/>
                          </a:solidFill>
                        </a:rPr>
                        <a:t>PROBLEM</a:t>
                      </a:r>
                    </a:p>
                    <a:p>
                      <a:pPr marL="0" indent="0">
                        <a:buFontTx/>
                        <a:buNone/>
                      </a:pPr>
                      <a:r>
                        <a:rPr lang="en-GB" sz="1000" dirty="0">
                          <a:solidFill>
                            <a:schemeClr val="tx1"/>
                          </a:solidFill>
                        </a:rPr>
                        <a:t>SOLUTION</a:t>
                      </a:r>
                    </a:p>
                    <a:p>
                      <a:pPr marL="0" indent="0">
                        <a:buFontTx/>
                        <a:buNone/>
                      </a:pPr>
                      <a:r>
                        <a:rPr lang="en-GB" sz="1000" dirty="0">
                          <a:solidFill>
                            <a:schemeClr val="tx1"/>
                          </a:solidFill>
                        </a:rPr>
                        <a:t>MARKET</a:t>
                      </a:r>
                    </a:p>
                    <a:p>
                      <a:pPr marL="0" indent="0">
                        <a:buFontTx/>
                        <a:buNone/>
                      </a:pPr>
                      <a:r>
                        <a:rPr lang="en-GB" sz="1000" dirty="0">
                          <a:solidFill>
                            <a:schemeClr val="tx1"/>
                          </a:solidFill>
                        </a:rPr>
                        <a:t>PRODUCT</a:t>
                      </a:r>
                    </a:p>
                    <a:p>
                      <a:pPr marL="0" indent="0">
                        <a:buFontTx/>
                        <a:buNone/>
                      </a:pPr>
                      <a:r>
                        <a:rPr lang="en-GB" sz="1000" dirty="0">
                          <a:solidFill>
                            <a:schemeClr val="tx1"/>
                          </a:solidFill>
                        </a:rPr>
                        <a:t>COMPETITION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000" dirty="0">
                          <a:solidFill>
                            <a:schemeClr val="tx1"/>
                          </a:solidFill>
                        </a:rPr>
                        <a:t>BUSINESS MD</a:t>
                      </a:r>
                    </a:p>
                    <a:p>
                      <a:pPr>
                        <a:spcAft>
                          <a:spcPts val="0"/>
                        </a:spcAft>
                      </a:pPr>
                      <a:r>
                        <a:rPr lang="en-SG" sz="100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a:t>FINANCIALS</a:t>
                      </a:r>
                    </a:p>
                    <a:p>
                      <a:endParaRPr lang="en-GB" sz="1000" dirty="0">
                        <a:solidFill>
                          <a:schemeClr val="tx1"/>
                        </a:solidFill>
                      </a:endParaRPr>
                    </a:p>
                    <a:p>
                      <a:endParaRPr lang="en-GB" sz="10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000" dirty="0"/>
                        <a:t>21. Business Plan</a:t>
                      </a:r>
                    </a:p>
                    <a:p>
                      <a:endParaRPr lang="en-GB" sz="1000" dirty="0"/>
                    </a:p>
                    <a:p>
                      <a:endParaRPr lang="en-GB" sz="1000" dirty="0"/>
                    </a:p>
                    <a:p>
                      <a:endParaRPr lang="en-GB" sz="1000" dirty="0"/>
                    </a:p>
                    <a:p>
                      <a:endParaRPr lang="en-GB" sz="1000" dirty="0"/>
                    </a:p>
                    <a:p>
                      <a:endParaRPr lang="en-GB" sz="1000" dirty="0"/>
                    </a:p>
                    <a:p>
                      <a:endParaRPr lang="en-GB" sz="1000" dirty="0"/>
                    </a:p>
                    <a:p>
                      <a:endParaRPr lang="en-GB" sz="1000" dirty="0"/>
                    </a:p>
                    <a:p>
                      <a:endParaRPr lang="en-GB" sz="1000" dirty="0"/>
                    </a:p>
                    <a:p>
                      <a:endParaRPr lang="en-GB" sz="1000" dirty="0"/>
                    </a:p>
                    <a:p>
                      <a:endParaRPr lang="en-GB" sz="1000" dirty="0"/>
                    </a:p>
                    <a:p>
                      <a:endParaRPr lang="en-GB" sz="1000" dirty="0"/>
                    </a:p>
                    <a:p>
                      <a:endParaRPr lang="en-GB" sz="1000" dirty="0"/>
                    </a:p>
                    <a:p>
                      <a:endParaRPr lang="en-GB" sz="1000" dirty="0"/>
                    </a:p>
                    <a:p>
                      <a:endParaRPr lang="en-GB" sz="1000" dirty="0"/>
                    </a:p>
                    <a:p>
                      <a:endParaRPr lang="en-GB" sz="1000" dirty="0"/>
                    </a:p>
                    <a:p>
                      <a:endParaRPr lang="en-GB" sz="1000" dirty="0"/>
                    </a:p>
                    <a:p>
                      <a:endParaRPr lang="en-GB" sz="1000" dirty="0"/>
                    </a:p>
                    <a:p>
                      <a:endParaRPr lang="en-GB" sz="1000" dirty="0"/>
                    </a:p>
                    <a:p>
                      <a:endParaRPr lang="en-GB" sz="1000" dirty="0"/>
                    </a:p>
                    <a:p>
                      <a:endParaRPr lang="en-GB" sz="1000" dirty="0"/>
                    </a:p>
                    <a:p>
                      <a:endParaRPr lang="en-GB" sz="1000" dirty="0"/>
                    </a:p>
                    <a:p>
                      <a:pPr marL="0" indent="0">
                        <a:buFont typeface="+mj-lt"/>
                        <a:buNone/>
                      </a:pPr>
                      <a:r>
                        <a:rPr lang="en-GB" sz="1000" u="sng" dirty="0">
                          <a:solidFill>
                            <a:schemeClr val="tx1"/>
                          </a:solidFill>
                        </a:rPr>
                        <a:t>Pitch</a:t>
                      </a:r>
                      <a:r>
                        <a:rPr lang="en-GB" sz="1000" u="sng" baseline="0" dirty="0">
                          <a:solidFill>
                            <a:schemeClr val="tx1"/>
                          </a:solidFill>
                        </a:rPr>
                        <a:t> deck</a:t>
                      </a:r>
                      <a:r>
                        <a:rPr lang="en-GB" sz="1000" u="sng" dirty="0">
                          <a:solidFill>
                            <a:schemeClr val="tx1"/>
                          </a:solidFill>
                        </a:rPr>
                        <a:t>:</a:t>
                      </a:r>
                    </a:p>
                    <a:p>
                      <a:pPr marL="0" indent="0">
                        <a:buFontTx/>
                        <a:buNone/>
                      </a:pPr>
                      <a:r>
                        <a:rPr lang="en-GB" sz="1000" dirty="0">
                          <a:solidFill>
                            <a:schemeClr val="tx1"/>
                          </a:solidFill>
                        </a:rPr>
                        <a:t>PROBLEM</a:t>
                      </a:r>
                    </a:p>
                    <a:p>
                      <a:pPr marL="0" indent="0">
                        <a:buFontTx/>
                        <a:buNone/>
                      </a:pPr>
                      <a:r>
                        <a:rPr lang="en-GB" sz="1000" dirty="0">
                          <a:solidFill>
                            <a:schemeClr val="tx1"/>
                          </a:solidFill>
                        </a:rPr>
                        <a:t>SOLUTION</a:t>
                      </a:r>
                    </a:p>
                    <a:p>
                      <a:pPr marL="0" indent="0">
                        <a:buFontTx/>
                        <a:buNone/>
                      </a:pPr>
                      <a:r>
                        <a:rPr lang="en-GB" sz="1000" dirty="0">
                          <a:solidFill>
                            <a:schemeClr val="tx1"/>
                          </a:solidFill>
                        </a:rPr>
                        <a:t>MARKET</a:t>
                      </a:r>
                    </a:p>
                    <a:p>
                      <a:pPr marL="0" indent="0">
                        <a:buFontTx/>
                        <a:buNone/>
                      </a:pPr>
                      <a:r>
                        <a:rPr lang="en-GB" sz="1000" dirty="0">
                          <a:solidFill>
                            <a:schemeClr val="tx1"/>
                          </a:solidFill>
                        </a:rPr>
                        <a:t>PRODUCT</a:t>
                      </a:r>
                    </a:p>
                    <a:p>
                      <a:pPr marL="0" indent="0">
                        <a:buFontTx/>
                        <a:buNone/>
                      </a:pPr>
                      <a:r>
                        <a:rPr lang="en-GB" sz="1000" dirty="0">
                          <a:solidFill>
                            <a:schemeClr val="tx1"/>
                          </a:solidFill>
                        </a:rPr>
                        <a:t>TECH / IP</a:t>
                      </a:r>
                    </a:p>
                    <a:p>
                      <a:pPr marL="0" indent="0">
                        <a:buFontTx/>
                        <a:buNone/>
                      </a:pPr>
                      <a:r>
                        <a:rPr lang="en-GB" sz="1000" dirty="0">
                          <a:solidFill>
                            <a:schemeClr val="tx1"/>
                          </a:solidFill>
                        </a:rPr>
                        <a:t>COMPETITION</a:t>
                      </a:r>
                    </a:p>
                    <a:p>
                      <a:r>
                        <a:rPr lang="en-GB" sz="1000" dirty="0">
                          <a:solidFill>
                            <a:schemeClr val="tx1"/>
                          </a:solidFill>
                        </a:rPr>
                        <a:t>BUSINESS MD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SG" sz="100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a:t>FINANCIALS</a:t>
                      </a:r>
                    </a:p>
                    <a:p>
                      <a:r>
                        <a:rPr lang="en-GB" sz="1000" dirty="0">
                          <a:solidFill>
                            <a:schemeClr val="tx1"/>
                          </a:solidFill>
                        </a:rPr>
                        <a:t>MILESTONES</a:t>
                      </a:r>
                    </a:p>
                    <a:p>
                      <a:r>
                        <a:rPr lang="en-GB" sz="1000" dirty="0">
                          <a:solidFill>
                            <a:schemeClr val="tx1"/>
                          </a:solidFill>
                        </a:rPr>
                        <a:t>TRACTION</a:t>
                      </a:r>
                    </a:p>
                    <a:p>
                      <a:r>
                        <a:rPr lang="en-GB" sz="1000" dirty="0">
                          <a:solidFill>
                            <a:schemeClr val="tx1"/>
                          </a:solidFill>
                        </a:rPr>
                        <a:t>TEAM</a:t>
                      </a:r>
                    </a:p>
                    <a:p>
                      <a:endParaRPr lang="en-GB" sz="1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40164230"/>
                  </a:ext>
                </a:extLst>
              </a:tr>
            </a:tbl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88E24CD6-8F10-A64A-9585-DA2F93A55FE0}"/>
              </a:ext>
            </a:extLst>
          </p:cNvPr>
          <p:cNvSpPr txBox="1"/>
          <p:nvPr/>
        </p:nvSpPr>
        <p:spPr>
          <a:xfrm>
            <a:off x="1781141" y="102159"/>
            <a:ext cx="660200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b="1" u="sng" dirty="0"/>
              <a:t>MAPPING OF GRIP WORKSHOP AND ASSIGNMENTS TO PITCH DECK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967AEF1-F477-6E4E-94C9-7BFAB1E41C9C}"/>
              </a:ext>
            </a:extLst>
          </p:cNvPr>
          <p:cNvSpPr txBox="1"/>
          <p:nvPr/>
        </p:nvSpPr>
        <p:spPr>
          <a:xfrm>
            <a:off x="9749518" y="5899567"/>
            <a:ext cx="2502703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000" b="1" u="sng" dirty="0"/>
              <a:t>Other Requirements:</a:t>
            </a:r>
          </a:p>
          <a:p>
            <a:r>
              <a:rPr lang="en-GB" sz="1000" b="1" dirty="0"/>
              <a:t>Letter of Intent (2)</a:t>
            </a:r>
          </a:p>
          <a:p>
            <a:r>
              <a:rPr lang="en-GB" sz="1000" b="1" dirty="0"/>
              <a:t>Construction of MVP for Demo (6)</a:t>
            </a:r>
          </a:p>
          <a:p>
            <a:r>
              <a:rPr lang="en-GB" sz="1000" b="1" dirty="0"/>
              <a:t>Product Brochure (9)</a:t>
            </a:r>
          </a:p>
          <a:p>
            <a:endParaRPr lang="en-GB" sz="1000" b="1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9C95DE7-7B4A-0745-BA5C-30519435C665}"/>
              </a:ext>
            </a:extLst>
          </p:cNvPr>
          <p:cNvSpPr txBox="1"/>
          <p:nvPr/>
        </p:nvSpPr>
        <p:spPr>
          <a:xfrm>
            <a:off x="377789" y="118456"/>
            <a:ext cx="93166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b="1" dirty="0"/>
              <a:t>GRIP #4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7D03437-B7C2-4041-893E-103FFC49B32D}"/>
              </a:ext>
            </a:extLst>
          </p:cNvPr>
          <p:cNvSpPr txBox="1"/>
          <p:nvPr/>
        </p:nvSpPr>
        <p:spPr>
          <a:xfrm>
            <a:off x="377789" y="6630565"/>
            <a:ext cx="2351926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050" dirty="0"/>
              <a:t>Note: Schedule is subjected to changes.</a:t>
            </a:r>
          </a:p>
        </p:txBody>
      </p:sp>
    </p:spTree>
    <p:extLst>
      <p:ext uri="{BB962C8B-B14F-4D97-AF65-F5344CB8AC3E}">
        <p14:creationId xmlns:p14="http://schemas.microsoft.com/office/powerpoint/2010/main" val="[redacted]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4" name="Table 13">
            <a:extLst>
              <a:ext uri="{FF2B5EF4-FFF2-40B4-BE49-F238E27FC236}">
                <a16:creationId xmlns:a16="http://schemas.microsoft.com/office/drawing/2014/main" id="{3815F5BC-331A-7E4D-AC7A-D3380203E91A}"/>
              </a:ext>
            </a:extLst>
          </p:cNvPr>
          <p:cNvGraphicFramePr>
            <a:graphicFrameLocks noGrp="1"/>
          </p:cNvGraphicFramePr>
          <p:nvPr/>
        </p:nvGraphicFramePr>
        <p:xfrm>
          <a:off x="377789" y="487788"/>
          <a:ext cx="9172613" cy="6583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69986">
                  <a:extLst>
                    <a:ext uri="{9D8B030D-6E8A-4147-A177-3AD203B41FA5}">
                      <a16:colId xmlns:a16="http://schemas.microsoft.com/office/drawing/2014/main" val="[redacted]"/>
                    </a:ext>
                  </a:extLst>
                </a:gridCol>
                <a:gridCol w="904875">
                  <a:extLst>
                    <a:ext uri="{9D8B030D-6E8A-4147-A177-3AD203B41FA5}">
                      <a16:colId xmlns:a16="http://schemas.microsoft.com/office/drawing/2014/main" val="[redacted]"/>
                    </a:ext>
                  </a:extLst>
                </a:gridCol>
                <a:gridCol w="866775">
                  <a:extLst>
                    <a:ext uri="{9D8B030D-6E8A-4147-A177-3AD203B41FA5}">
                      <a16:colId xmlns:a16="http://schemas.microsoft.com/office/drawing/2014/main" val="[redacted]"/>
                    </a:ext>
                  </a:extLst>
                </a:gridCol>
                <a:gridCol w="809625">
                  <a:extLst>
                    <a:ext uri="{9D8B030D-6E8A-4147-A177-3AD203B41FA5}">
                      <a16:colId xmlns:a16="http://schemas.microsoft.com/office/drawing/2014/main" val="870801823"/>
                    </a:ext>
                  </a:extLst>
                </a:gridCol>
                <a:gridCol w="916007">
                  <a:extLst>
                    <a:ext uri="{9D8B030D-6E8A-4147-A177-3AD203B41FA5}">
                      <a16:colId xmlns:a16="http://schemas.microsoft.com/office/drawing/2014/main" val="111161531"/>
                    </a:ext>
                  </a:extLst>
                </a:gridCol>
                <a:gridCol w="794047">
                  <a:extLst>
                    <a:ext uri="{9D8B030D-6E8A-4147-A177-3AD203B41FA5}">
                      <a16:colId xmlns:a16="http://schemas.microsoft.com/office/drawing/2014/main" val="[redacted]"/>
                    </a:ext>
                  </a:extLst>
                </a:gridCol>
                <a:gridCol w="786186">
                  <a:extLst>
                    <a:ext uri="{9D8B030D-6E8A-4147-A177-3AD203B41FA5}">
                      <a16:colId xmlns:a16="http://schemas.microsoft.com/office/drawing/2014/main" val="[redacted]"/>
                    </a:ext>
                  </a:extLst>
                </a:gridCol>
                <a:gridCol w="786187">
                  <a:extLst>
                    <a:ext uri="{9D8B030D-6E8A-4147-A177-3AD203B41FA5}">
                      <a16:colId xmlns:a16="http://schemas.microsoft.com/office/drawing/2014/main" val="1727251557"/>
                    </a:ext>
                  </a:extLst>
                </a:gridCol>
                <a:gridCol w="786187">
                  <a:extLst>
                    <a:ext uri="{9D8B030D-6E8A-4147-A177-3AD203B41FA5}">
                      <a16:colId xmlns:a16="http://schemas.microsoft.com/office/drawing/2014/main" val="[redacted]"/>
                    </a:ext>
                  </a:extLst>
                </a:gridCol>
                <a:gridCol w="855811">
                  <a:extLst>
                    <a:ext uri="{9D8B030D-6E8A-4147-A177-3AD203B41FA5}">
                      <a16:colId xmlns:a16="http://schemas.microsoft.com/office/drawing/2014/main" val="[redacted]"/>
                    </a:ext>
                  </a:extLst>
                </a:gridCol>
                <a:gridCol w="796927">
                  <a:extLst>
                    <a:ext uri="{9D8B030D-6E8A-4147-A177-3AD203B41FA5}">
                      <a16:colId xmlns:a16="http://schemas.microsoft.com/office/drawing/2014/main" val="[redacted]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GB" sz="1000" dirty="0"/>
                        <a:t>Pitching</a:t>
                      </a:r>
                    </a:p>
                    <a:p>
                      <a:r>
                        <a:rPr lang="en-GB" sz="1000" dirty="0"/>
                        <a:t>Workshop</a:t>
                      </a:r>
                    </a:p>
                    <a:p>
                      <a:r>
                        <a:rPr lang="en-GB" sz="1000" dirty="0"/>
                        <a:t>#1</a:t>
                      </a:r>
                    </a:p>
                    <a:p>
                      <a:r>
                        <a:rPr lang="en-GB" sz="1000" dirty="0"/>
                        <a:t>Date: 22 Aug</a:t>
                      </a:r>
                    </a:p>
                  </a:txBody>
                  <a:tcPr>
                    <a:solidFill>
                      <a:schemeClr val="accent5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000" dirty="0"/>
                        <a:t>Consult #7 </a:t>
                      </a:r>
                    </a:p>
                    <a:p>
                      <a:r>
                        <a:rPr lang="en-GB" sz="1000" dirty="0"/>
                        <a:t>Assign. Review </a:t>
                      </a:r>
                    </a:p>
                    <a:p>
                      <a:r>
                        <a:rPr lang="en-GB" sz="1000" dirty="0"/>
                        <a:t>Date: 3 Nov</a:t>
                      </a:r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1000" dirty="0"/>
                        <a:t>Consult #8</a:t>
                      </a:r>
                    </a:p>
                    <a:p>
                      <a:r>
                        <a:rPr lang="en-GB" sz="1000" dirty="0"/>
                        <a:t>Pitching Review </a:t>
                      </a:r>
                    </a:p>
                    <a:p>
                      <a:r>
                        <a:rPr lang="en-GB" sz="1000" dirty="0"/>
                        <a:t>Date: 5,6, 13 Nov</a:t>
                      </a:r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1000" dirty="0"/>
                        <a:t>Pitching</a:t>
                      </a:r>
                    </a:p>
                    <a:p>
                      <a:r>
                        <a:rPr lang="en-GB" sz="1000" dirty="0"/>
                        <a:t>Training #1 &amp; #2</a:t>
                      </a:r>
                    </a:p>
                    <a:p>
                      <a:r>
                        <a:rPr lang="en-GB" sz="1000" dirty="0"/>
                        <a:t>Date: 17, 20 Nov</a:t>
                      </a:r>
                    </a:p>
                    <a:p>
                      <a:endParaRPr lang="en-GB" sz="1000" dirty="0"/>
                    </a:p>
                  </a:txBody>
                  <a:tcPr>
                    <a:solidFill>
                      <a:schemeClr val="accent5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1000" dirty="0"/>
                        <a:t>Pitching</a:t>
                      </a:r>
                    </a:p>
                    <a:p>
                      <a:r>
                        <a:rPr lang="en-GB" sz="1000" dirty="0"/>
                        <a:t>Training </a:t>
                      </a:r>
                    </a:p>
                    <a:p>
                      <a:r>
                        <a:rPr lang="en-GB" sz="1000" dirty="0"/>
                        <a:t>Full dress rehearsal #2</a:t>
                      </a:r>
                    </a:p>
                    <a:p>
                      <a:r>
                        <a:rPr lang="en-GB" sz="1000" dirty="0"/>
                        <a:t>Date: 23, 24 Nov</a:t>
                      </a:r>
                    </a:p>
                    <a:p>
                      <a:endParaRPr lang="en-GB" sz="1000" dirty="0"/>
                    </a:p>
                  </a:txBody>
                  <a:tcPr>
                    <a:solidFill>
                      <a:schemeClr val="accent5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1000" dirty="0"/>
                        <a:t>Pitching</a:t>
                      </a:r>
                    </a:p>
                    <a:p>
                      <a:r>
                        <a:rPr lang="en-GB" sz="1000" dirty="0"/>
                        <a:t>Training</a:t>
                      </a:r>
                    </a:p>
                    <a:p>
                      <a:r>
                        <a:rPr lang="en-GB" sz="1000" dirty="0"/>
                        <a:t>Full dress rehearsal #3 Date: 27 Nov</a:t>
                      </a:r>
                    </a:p>
                  </a:txBody>
                  <a:tcPr>
                    <a:solidFill>
                      <a:schemeClr val="accent5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1000" dirty="0"/>
                        <a:t>Investment Panel</a:t>
                      </a:r>
                    </a:p>
                    <a:p>
                      <a:r>
                        <a:rPr lang="en-GB" sz="1000" dirty="0"/>
                        <a:t>Date 1,4 Dec</a:t>
                      </a:r>
                    </a:p>
                  </a:txBody>
                  <a:tcPr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1000" dirty="0"/>
                        <a:t>Pitching</a:t>
                      </a:r>
                    </a:p>
                    <a:p>
                      <a:r>
                        <a:rPr lang="en-GB" sz="1000" dirty="0"/>
                        <a:t>Training Review for Lift Off Day</a:t>
                      </a:r>
                    </a:p>
                    <a:p>
                      <a:r>
                        <a:rPr lang="en-GB" sz="1000" dirty="0"/>
                        <a:t>Date: 3,7 Dec</a:t>
                      </a:r>
                    </a:p>
                    <a:p>
                      <a:endParaRPr lang="en-GB" sz="1000" dirty="0"/>
                    </a:p>
                  </a:txBody>
                  <a:tcPr>
                    <a:solidFill>
                      <a:schemeClr val="accent5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1000" dirty="0"/>
                        <a:t>Full Dress Rehearsal for Lift Off Day</a:t>
                      </a:r>
                    </a:p>
                    <a:p>
                      <a:r>
                        <a:rPr lang="en-GB" sz="1000" dirty="0"/>
                        <a:t>Date: 8 Dec</a:t>
                      </a:r>
                    </a:p>
                  </a:txBody>
                  <a:tcPr>
                    <a:solidFill>
                      <a:schemeClr val="accent5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1000" dirty="0"/>
                        <a:t>Lift Off Day</a:t>
                      </a:r>
                    </a:p>
                    <a:p>
                      <a:r>
                        <a:rPr lang="en-GB" sz="1000" dirty="0"/>
                        <a:t>Date: 10 Dec</a:t>
                      </a:r>
                    </a:p>
                  </a:txBody>
                  <a:tcPr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1000" dirty="0"/>
                        <a:t>GRIP</a:t>
                      </a:r>
                    </a:p>
                    <a:p>
                      <a:r>
                        <a:rPr lang="en-GB" sz="1000" dirty="0"/>
                        <a:t>Startup</a:t>
                      </a:r>
                    </a:p>
                  </a:txBody>
                  <a:tcPr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[redacted]"/>
                  </a:ext>
                </a:extLst>
              </a:tr>
              <a:tr h="741680">
                <a:tc>
                  <a:txBody>
                    <a:bodyPr/>
                    <a:lstStyle/>
                    <a:p>
                      <a:r>
                        <a:rPr lang="en-GB" sz="1000" dirty="0">
                          <a:solidFill>
                            <a:schemeClr val="tx1"/>
                          </a:solidFill>
                        </a:rPr>
                        <a:t>Deck presentation</a:t>
                      </a:r>
                    </a:p>
                    <a:p>
                      <a:endParaRPr lang="en-GB" sz="1000" dirty="0">
                        <a:solidFill>
                          <a:schemeClr val="tx1"/>
                        </a:solidFill>
                      </a:endParaRPr>
                    </a:p>
                    <a:p>
                      <a:r>
                        <a:rPr lang="en-GB" sz="1000" dirty="0">
                          <a:solidFill>
                            <a:schemeClr val="tx1"/>
                          </a:solidFill>
                        </a:rPr>
                        <a:t>Overall Narrative</a:t>
                      </a:r>
                    </a:p>
                    <a:p>
                      <a:endParaRPr lang="en-GB" sz="1000" dirty="0">
                        <a:solidFill>
                          <a:schemeClr val="tx1"/>
                        </a:solidFill>
                      </a:endParaRPr>
                    </a:p>
                    <a:p>
                      <a:r>
                        <a:rPr lang="en-GB" sz="1000" dirty="0">
                          <a:solidFill>
                            <a:schemeClr val="tx1"/>
                          </a:solidFill>
                        </a:rPr>
                        <a:t>Fundamentals of Good Presentation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>
                        <a:buFont typeface="+mj-lt"/>
                        <a:buNone/>
                      </a:pPr>
                      <a:r>
                        <a:rPr lang="en-GB" sz="1000" dirty="0">
                          <a:solidFill>
                            <a:schemeClr val="tx1"/>
                          </a:solidFill>
                        </a:rPr>
                        <a:t>Review ALL assignments</a:t>
                      </a:r>
                    </a:p>
                    <a:p>
                      <a:pPr marL="0" indent="0">
                        <a:buFont typeface="+mj-lt"/>
                        <a:buNone/>
                      </a:pPr>
                      <a:endParaRPr lang="en-GB" sz="1000" dirty="0">
                        <a:solidFill>
                          <a:schemeClr val="tx1"/>
                        </a:solidFill>
                      </a:endParaRPr>
                    </a:p>
                    <a:p>
                      <a:pPr marL="0" indent="0">
                        <a:buFont typeface="+mj-lt"/>
                        <a:buNone/>
                      </a:pPr>
                      <a:r>
                        <a:rPr lang="en-GB" sz="1000" dirty="0">
                          <a:solidFill>
                            <a:schemeClr val="tx1"/>
                          </a:solidFill>
                        </a:rPr>
                        <a:t>Verify all deliverables</a:t>
                      </a:r>
                    </a:p>
                    <a:p>
                      <a:pPr marL="0" indent="0">
                        <a:buFont typeface="+mj-lt"/>
                        <a:buNone/>
                      </a:pPr>
                      <a:endParaRPr lang="en-GB" sz="1000" dirty="0">
                        <a:solidFill>
                          <a:schemeClr val="tx1"/>
                        </a:solidFill>
                      </a:endParaRPr>
                    </a:p>
                    <a:p>
                      <a:pPr marL="0" indent="0">
                        <a:buFont typeface="+mj-lt"/>
                        <a:buNone/>
                      </a:pPr>
                      <a:r>
                        <a:rPr lang="en-GB" sz="1000" dirty="0">
                          <a:solidFill>
                            <a:schemeClr val="tx1"/>
                          </a:solidFill>
                        </a:rPr>
                        <a:t>Review pitching process and storyboarding</a:t>
                      </a:r>
                    </a:p>
                    <a:p>
                      <a:pPr marL="0" indent="0">
                        <a:buFont typeface="+mj-lt"/>
                        <a:buNone/>
                      </a:pPr>
                      <a:endParaRPr lang="en-GB" sz="1000" dirty="0">
                        <a:solidFill>
                          <a:schemeClr val="tx1"/>
                        </a:solidFill>
                      </a:endParaRPr>
                    </a:p>
                    <a:p>
                      <a:pPr marL="0" indent="0">
                        <a:buFont typeface="+mj-lt"/>
                        <a:buNone/>
                      </a:pPr>
                      <a:endParaRPr lang="en-GB" sz="1000" dirty="0">
                        <a:solidFill>
                          <a:schemeClr val="tx1"/>
                        </a:solidFill>
                      </a:endParaRPr>
                    </a:p>
                    <a:p>
                      <a:endParaRPr lang="en-GB" sz="10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GB" sz="1000" dirty="0">
                          <a:solidFill>
                            <a:schemeClr val="tx1"/>
                          </a:solidFill>
                        </a:rPr>
                        <a:t>Review preliminary pitching deck and gaps</a:t>
                      </a:r>
                    </a:p>
                    <a:p>
                      <a:pPr marL="0" indent="0">
                        <a:buNone/>
                      </a:pPr>
                      <a:endParaRPr lang="en-GB" sz="1000" dirty="0">
                        <a:solidFill>
                          <a:schemeClr val="tx1"/>
                        </a:solidFill>
                      </a:endParaRPr>
                    </a:p>
                    <a:p>
                      <a:pPr marL="0" indent="0">
                        <a:buNone/>
                      </a:pPr>
                      <a:r>
                        <a:rPr lang="en-GB" sz="1000" dirty="0">
                          <a:solidFill>
                            <a:schemeClr val="tx1"/>
                          </a:solidFill>
                        </a:rPr>
                        <a:t>Review all outstanding matters</a:t>
                      </a:r>
                    </a:p>
                    <a:p>
                      <a:pPr marL="0" indent="0">
                        <a:buNone/>
                      </a:pPr>
                      <a:endParaRPr lang="en-GB" sz="1000" dirty="0">
                        <a:solidFill>
                          <a:schemeClr val="tx1"/>
                        </a:solidFill>
                      </a:endParaRPr>
                    </a:p>
                    <a:p>
                      <a:pPr marL="0" indent="0">
                        <a:buNone/>
                      </a:pPr>
                      <a:r>
                        <a:rPr lang="en-GB" sz="1000" dirty="0">
                          <a:solidFill>
                            <a:schemeClr val="tx1"/>
                          </a:solidFill>
                        </a:rPr>
                        <a:t>Full Dress Rehearsal #1</a:t>
                      </a:r>
                    </a:p>
                    <a:p>
                      <a:pPr marL="228600" indent="-228600">
                        <a:buFont typeface="+mj-lt"/>
                        <a:buAutoNum type="arabicPeriod" startAt="4"/>
                      </a:pPr>
                      <a:endParaRPr lang="en-GB" sz="1000" dirty="0">
                        <a:solidFill>
                          <a:schemeClr val="tx1"/>
                        </a:solidFill>
                      </a:endParaRPr>
                    </a:p>
                    <a:p>
                      <a:pPr marL="228600" indent="-228600">
                        <a:buFont typeface="+mj-lt"/>
                        <a:buAutoNum type="arabicPeriod" startAt="4"/>
                      </a:pPr>
                      <a:endParaRPr lang="en-GB" sz="1000" dirty="0">
                        <a:solidFill>
                          <a:schemeClr val="tx1"/>
                        </a:solidFill>
                      </a:endParaRPr>
                    </a:p>
                    <a:p>
                      <a:pPr marL="228600" indent="-228600">
                        <a:buFont typeface="+mj-lt"/>
                        <a:buAutoNum type="arabicPeriod" startAt="4"/>
                      </a:pPr>
                      <a:endParaRPr lang="en-GB" sz="1000" dirty="0">
                        <a:solidFill>
                          <a:schemeClr val="tx1"/>
                        </a:solidFill>
                      </a:endParaRPr>
                    </a:p>
                    <a:p>
                      <a:pPr marL="0" indent="0">
                        <a:buFont typeface="+mj-lt"/>
                        <a:buNone/>
                      </a:pPr>
                      <a:endParaRPr lang="en-GB" sz="10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000" dirty="0">
                          <a:solidFill>
                            <a:schemeClr val="tx1"/>
                          </a:solidFill>
                        </a:rPr>
                        <a:t>Pitching Team training and Practice</a:t>
                      </a:r>
                    </a:p>
                    <a:p>
                      <a:endParaRPr lang="en-GB" sz="1000" dirty="0">
                        <a:solidFill>
                          <a:schemeClr val="tx1"/>
                        </a:solidFill>
                      </a:endParaRPr>
                    </a:p>
                    <a:p>
                      <a:r>
                        <a:rPr lang="en-GB" sz="1000" dirty="0">
                          <a:solidFill>
                            <a:schemeClr val="tx1"/>
                          </a:solidFill>
                        </a:rPr>
                        <a:t>Please see Pitch Training Schedule</a:t>
                      </a:r>
                    </a:p>
                    <a:p>
                      <a:endParaRPr lang="en-GB" sz="1000" dirty="0">
                        <a:solidFill>
                          <a:schemeClr val="tx1"/>
                        </a:solidFill>
                      </a:endParaRPr>
                    </a:p>
                    <a:p>
                      <a:r>
                        <a:rPr lang="en-GB" sz="1000" dirty="0">
                          <a:solidFill>
                            <a:schemeClr val="tx1"/>
                          </a:solidFill>
                        </a:rPr>
                        <a:t>Number of sessions will be dependent on Pitching Team’s assessment</a:t>
                      </a:r>
                    </a:p>
                    <a:p>
                      <a:endParaRPr lang="en-GB" sz="1000" dirty="0">
                        <a:solidFill>
                          <a:schemeClr val="tx1"/>
                        </a:solidFill>
                      </a:endParaRPr>
                    </a:p>
                    <a:p>
                      <a:endParaRPr lang="en-GB" sz="1000" dirty="0">
                        <a:solidFill>
                          <a:schemeClr val="tx1"/>
                        </a:solidFill>
                      </a:endParaRPr>
                    </a:p>
                    <a:p>
                      <a:endParaRPr lang="en-GB" sz="1000" dirty="0">
                        <a:solidFill>
                          <a:schemeClr val="tx1"/>
                        </a:solidFill>
                      </a:endParaRPr>
                    </a:p>
                    <a:p>
                      <a:endParaRPr lang="en-GB" sz="1000" dirty="0">
                        <a:solidFill>
                          <a:schemeClr val="tx1"/>
                        </a:solidFill>
                      </a:endParaRPr>
                    </a:p>
                    <a:p>
                      <a:endParaRPr lang="en-GB" sz="1000" dirty="0">
                        <a:solidFill>
                          <a:schemeClr val="tx1"/>
                        </a:solidFill>
                      </a:endParaRPr>
                    </a:p>
                    <a:p>
                      <a:endParaRPr lang="en-GB" sz="1000" dirty="0">
                        <a:solidFill>
                          <a:schemeClr val="tx1"/>
                        </a:solidFill>
                      </a:endParaRPr>
                    </a:p>
                    <a:p>
                      <a:endParaRPr lang="en-GB" sz="1000" dirty="0">
                        <a:solidFill>
                          <a:schemeClr val="tx1"/>
                        </a:solidFill>
                      </a:endParaRPr>
                    </a:p>
                    <a:p>
                      <a:endParaRPr lang="en-GB" sz="1000" dirty="0">
                        <a:solidFill>
                          <a:schemeClr val="tx1"/>
                        </a:solidFill>
                      </a:endParaRPr>
                    </a:p>
                    <a:p>
                      <a:endParaRPr lang="en-GB" sz="1000" dirty="0">
                        <a:solidFill>
                          <a:schemeClr val="tx1"/>
                        </a:solidFill>
                      </a:endParaRPr>
                    </a:p>
                    <a:p>
                      <a:endParaRPr lang="en-GB" sz="1000" dirty="0">
                        <a:solidFill>
                          <a:schemeClr val="tx1"/>
                        </a:solidFill>
                      </a:endParaRPr>
                    </a:p>
                    <a:p>
                      <a:endParaRPr lang="en-GB" sz="10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000" dirty="0">
                          <a:solidFill>
                            <a:schemeClr val="tx1"/>
                          </a:solidFill>
                        </a:rPr>
                        <a:t>Pitching Team training and Practice</a:t>
                      </a:r>
                    </a:p>
                    <a:p>
                      <a:endParaRPr lang="en-GB" sz="1000" dirty="0">
                        <a:solidFill>
                          <a:schemeClr val="tx1"/>
                        </a:solidFill>
                      </a:endParaRPr>
                    </a:p>
                    <a:p>
                      <a:r>
                        <a:rPr lang="en-GB" sz="1000" dirty="0">
                          <a:solidFill>
                            <a:schemeClr val="tx1"/>
                          </a:solidFill>
                        </a:rPr>
                        <a:t>Please see Pitch Training Schedule</a:t>
                      </a:r>
                    </a:p>
                    <a:p>
                      <a:endParaRPr lang="en-GB" sz="1000" dirty="0">
                        <a:solidFill>
                          <a:schemeClr val="tx1"/>
                        </a:solidFill>
                      </a:endParaRPr>
                    </a:p>
                    <a:p>
                      <a:endParaRPr lang="en-GB" sz="1000" dirty="0">
                        <a:solidFill>
                          <a:schemeClr val="tx1"/>
                        </a:solidFill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000" dirty="0">
                          <a:solidFill>
                            <a:schemeClr val="tx1"/>
                          </a:solidFill>
                        </a:rPr>
                        <a:t>Number of sessions will be dependent on Pitching Team’s assessment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GB" sz="1000" dirty="0">
                        <a:solidFill>
                          <a:schemeClr val="tx1"/>
                        </a:solidFill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000" dirty="0">
                          <a:solidFill>
                            <a:schemeClr val="tx1"/>
                          </a:solidFill>
                        </a:rPr>
                        <a:t>Full Dress Rehearsal #2</a:t>
                      </a:r>
                    </a:p>
                    <a:p>
                      <a:endParaRPr lang="en-GB" sz="10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000" dirty="0">
                          <a:solidFill>
                            <a:schemeClr val="tx1"/>
                          </a:solidFill>
                        </a:rPr>
                        <a:t>Pitching Team training and Practice</a:t>
                      </a:r>
                    </a:p>
                    <a:p>
                      <a:endParaRPr lang="en-GB" sz="1000" dirty="0">
                        <a:solidFill>
                          <a:schemeClr val="tx1"/>
                        </a:solidFill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000" dirty="0">
                          <a:solidFill>
                            <a:schemeClr val="tx1"/>
                          </a:solidFill>
                        </a:rPr>
                        <a:t>Please see Pitch Training Schedule</a:t>
                      </a:r>
                    </a:p>
                    <a:p>
                      <a:endParaRPr lang="en-GB" sz="1000" dirty="0">
                        <a:solidFill>
                          <a:schemeClr val="tx1"/>
                        </a:solidFill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000" dirty="0">
                          <a:solidFill>
                            <a:schemeClr val="tx1"/>
                          </a:solidFill>
                        </a:rPr>
                        <a:t>Number of sessions will be dependent on Pitching Team’s assessment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GB" sz="1000" dirty="0">
                        <a:solidFill>
                          <a:schemeClr val="tx1"/>
                        </a:solidFill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000" dirty="0">
                          <a:solidFill>
                            <a:schemeClr val="tx1"/>
                          </a:solidFill>
                        </a:rPr>
                        <a:t>Full Dress Rehearsal #3</a:t>
                      </a:r>
                    </a:p>
                    <a:p>
                      <a:endParaRPr lang="en-GB" sz="10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000" dirty="0">
                          <a:solidFill>
                            <a:schemeClr val="tx1"/>
                          </a:solidFill>
                        </a:rPr>
                        <a:t>Evaluation by Investment Panel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SG" sz="100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a:t>Open House Pitching Review and Practice</a:t>
                      </a:r>
                    </a:p>
                    <a:p>
                      <a:pPr>
                        <a:spcAft>
                          <a:spcPts val="0"/>
                        </a:spcAft>
                      </a:pPr>
                      <a:endParaRPr lang="en-SG" sz="10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000" dirty="0">
                          <a:solidFill>
                            <a:schemeClr val="tx1"/>
                          </a:solidFill>
                        </a:rPr>
                        <a:t>Please see Pitch Training Schedule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GB" sz="1000" dirty="0">
                        <a:solidFill>
                          <a:schemeClr val="tx1"/>
                        </a:solidFill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000" dirty="0">
                          <a:solidFill>
                            <a:schemeClr val="tx1"/>
                          </a:solidFill>
                        </a:rPr>
                        <a:t>Number of sessions will be dependent on Pitching Team’s assessment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GB" sz="1000" dirty="0">
                        <a:solidFill>
                          <a:schemeClr val="tx1"/>
                        </a:solidFill>
                      </a:endParaRPr>
                    </a:p>
                    <a:p>
                      <a:pPr>
                        <a:spcAft>
                          <a:spcPts val="0"/>
                        </a:spcAft>
                      </a:pPr>
                      <a:endParaRPr lang="en-SG" sz="10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SG" sz="100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a:t>Final Pitching Rehearsal for Lift Off Day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000" dirty="0">
                          <a:solidFill>
                            <a:schemeClr val="tx1"/>
                          </a:solidFill>
                        </a:rPr>
                        <a:t>Open House Pitching and Exhibition</a:t>
                      </a:r>
                    </a:p>
                    <a:p>
                      <a:endParaRPr lang="en-GB" sz="10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000" dirty="0"/>
                        <a:t>GRIP Team begins journey as a deep tech startup</a:t>
                      </a:r>
                    </a:p>
                    <a:p>
                      <a:endParaRPr lang="en-GB" sz="1000" dirty="0"/>
                    </a:p>
                    <a:p>
                      <a:r>
                        <a:rPr lang="en-GB" sz="1000" dirty="0"/>
                        <a:t>Venture Manager and Technology Manager to assist formation of startup</a:t>
                      </a:r>
                    </a:p>
                    <a:p>
                      <a:endParaRPr lang="en-GB" sz="1000" dirty="0"/>
                    </a:p>
                    <a:p>
                      <a:endParaRPr lang="en-GB" sz="1000" dirty="0"/>
                    </a:p>
                    <a:p>
                      <a:endParaRPr lang="en-GB" sz="1000" dirty="0"/>
                    </a:p>
                    <a:p>
                      <a:endParaRPr lang="en-GB" sz="1000" dirty="0"/>
                    </a:p>
                    <a:p>
                      <a:endParaRPr lang="en-GB" sz="1000" dirty="0"/>
                    </a:p>
                    <a:p>
                      <a:endParaRPr lang="en-GB" sz="1000" dirty="0"/>
                    </a:p>
                    <a:p>
                      <a:endParaRPr lang="en-GB" sz="1000" dirty="0"/>
                    </a:p>
                    <a:p>
                      <a:endParaRPr lang="en-GB" sz="1000" dirty="0"/>
                    </a:p>
                    <a:p>
                      <a:endParaRPr lang="en-GB" sz="1000" dirty="0"/>
                    </a:p>
                    <a:p>
                      <a:endParaRPr lang="en-GB" sz="1000" dirty="0"/>
                    </a:p>
                    <a:p>
                      <a:endParaRPr lang="en-GB" sz="1000" dirty="0"/>
                    </a:p>
                    <a:p>
                      <a:endParaRPr lang="en-GB" sz="1000" dirty="0"/>
                    </a:p>
                    <a:p>
                      <a:endParaRPr lang="en-GB" sz="1000" dirty="0"/>
                    </a:p>
                    <a:p>
                      <a:endParaRPr lang="en-GB" sz="1000" dirty="0"/>
                    </a:p>
                    <a:p>
                      <a:endParaRPr lang="en-GB" sz="1000" dirty="0"/>
                    </a:p>
                    <a:p>
                      <a:endParaRPr lang="en-GB" sz="1000" dirty="0"/>
                    </a:p>
                    <a:p>
                      <a:endParaRPr lang="en-GB" sz="1000" dirty="0"/>
                    </a:p>
                    <a:p>
                      <a:endParaRPr lang="en-GB" sz="1000" dirty="0"/>
                    </a:p>
                    <a:p>
                      <a:endParaRPr lang="en-GB" sz="1000" dirty="0"/>
                    </a:p>
                    <a:p>
                      <a:endParaRPr lang="en-GB" sz="1000" dirty="0"/>
                    </a:p>
                    <a:p>
                      <a:endParaRPr lang="en-GB" sz="1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40164230"/>
                  </a:ext>
                </a:extLst>
              </a:tr>
            </a:tbl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88E24CD6-8F10-A64A-9585-DA2F93A55FE0}"/>
              </a:ext>
            </a:extLst>
          </p:cNvPr>
          <p:cNvSpPr txBox="1"/>
          <p:nvPr/>
        </p:nvSpPr>
        <p:spPr>
          <a:xfrm>
            <a:off x="1781141" y="102159"/>
            <a:ext cx="660200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b="1" u="sng" dirty="0"/>
              <a:t>MAPPING OF GRIP WORKSHOP AND ASSIGNMENTS TO PITCH DECK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5366C36-4979-ED4B-916C-4819DFD76680}"/>
              </a:ext>
            </a:extLst>
          </p:cNvPr>
          <p:cNvSpPr/>
          <p:nvPr/>
        </p:nvSpPr>
        <p:spPr>
          <a:xfrm>
            <a:off x="9806117" y="487788"/>
            <a:ext cx="2008094" cy="467820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200" b="1" dirty="0"/>
              <a:t>GRIP Deliverables</a:t>
            </a:r>
          </a:p>
          <a:p>
            <a:endParaRPr lang="en-US" sz="1000" b="1" dirty="0"/>
          </a:p>
          <a:p>
            <a:pPr marL="514350" indent="-514350">
              <a:buFont typeface="+mj-lt"/>
              <a:buAutoNum type="arabicPeriod"/>
            </a:pPr>
            <a:r>
              <a:rPr lang="en-US" sz="1200" dirty="0"/>
              <a:t>Pitching Deck for Investment Panel</a:t>
            </a:r>
            <a:endParaRPr lang="en-SG" sz="1200" dirty="0"/>
          </a:p>
          <a:p>
            <a:pPr marL="514350" indent="-514350">
              <a:buFont typeface="+mj-lt"/>
              <a:buAutoNum type="arabicPeriod"/>
            </a:pPr>
            <a:r>
              <a:rPr lang="en-US" sz="1200" dirty="0"/>
              <a:t>Minimum Viable Product (Working prototype) </a:t>
            </a:r>
            <a:endParaRPr lang="en-SG" sz="1200" dirty="0"/>
          </a:p>
          <a:p>
            <a:pPr marL="514350" indent="-514350">
              <a:buFont typeface="+mj-lt"/>
              <a:buAutoNum type="arabicPeriod"/>
            </a:pPr>
            <a:r>
              <a:rPr lang="en-US" sz="1200" dirty="0"/>
              <a:t>1-min explainer video</a:t>
            </a:r>
            <a:endParaRPr lang="en-SG" sz="1200" dirty="0"/>
          </a:p>
          <a:p>
            <a:pPr marL="514350" indent="-514350">
              <a:buFont typeface="+mj-lt"/>
              <a:buAutoNum type="arabicPeriod"/>
            </a:pPr>
            <a:r>
              <a:rPr lang="en-US" sz="1200" dirty="0"/>
              <a:t>Company Brochure </a:t>
            </a:r>
            <a:endParaRPr lang="en-SG" sz="1200" dirty="0"/>
          </a:p>
          <a:p>
            <a:pPr marL="514350" indent="-514350">
              <a:buFont typeface="+mj-lt"/>
              <a:buAutoNum type="arabicPeriod"/>
            </a:pPr>
            <a:r>
              <a:rPr lang="en-US" sz="1200" dirty="0"/>
              <a:t>Business Plan with 5-year cashflow projections </a:t>
            </a:r>
            <a:endParaRPr lang="en-SG" sz="1200" dirty="0"/>
          </a:p>
          <a:p>
            <a:pPr marL="514350" indent="-514350">
              <a:buFont typeface="+mj-lt"/>
              <a:buAutoNum type="arabicPeriod"/>
            </a:pPr>
            <a:r>
              <a:rPr lang="en-US" sz="1200" dirty="0"/>
              <a:t>Product Specifications Sheet </a:t>
            </a:r>
            <a:endParaRPr lang="en-SG" sz="1200" dirty="0"/>
          </a:p>
          <a:p>
            <a:pPr marL="514350" indent="-514350">
              <a:buFont typeface="+mj-lt"/>
              <a:buAutoNum type="arabicPeriod"/>
            </a:pPr>
            <a:r>
              <a:rPr lang="en-US" sz="1200" dirty="0"/>
              <a:t>At least one letter of Intent from a commercial customer that can provide S$1 mil revenue in a few </a:t>
            </a:r>
            <a:r>
              <a:rPr lang="en-US" sz="1200" dirty="0" err="1"/>
              <a:t>years’’time</a:t>
            </a:r>
            <a:r>
              <a:rPr lang="en-US" sz="1200" dirty="0"/>
              <a:t>. Or collaboration agreement.</a:t>
            </a:r>
            <a:endParaRPr lang="en-SG" sz="1200" dirty="0"/>
          </a:p>
          <a:p>
            <a:pPr marL="514350" indent="-514350">
              <a:buFont typeface="+mj-lt"/>
              <a:buAutoNum type="arabicPeriod"/>
            </a:pPr>
            <a:r>
              <a:rPr lang="en-US" sz="1200" dirty="0"/>
              <a:t>IP (filed under NUS)</a:t>
            </a:r>
            <a:endParaRPr lang="en-SG" sz="120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58DFF48-63E0-8042-AA9C-5613DE0F2451}"/>
              </a:ext>
            </a:extLst>
          </p:cNvPr>
          <p:cNvSpPr txBox="1"/>
          <p:nvPr/>
        </p:nvSpPr>
        <p:spPr>
          <a:xfrm>
            <a:off x="377789" y="118456"/>
            <a:ext cx="93166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b="1" dirty="0"/>
              <a:t>GRIP #4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CD90590-B661-CD46-A284-5C9AD050DF77}"/>
              </a:ext>
            </a:extLst>
          </p:cNvPr>
          <p:cNvSpPr txBox="1"/>
          <p:nvPr/>
        </p:nvSpPr>
        <p:spPr>
          <a:xfrm>
            <a:off x="377789" y="6630565"/>
            <a:ext cx="2351926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050" dirty="0"/>
              <a:t>Note: Schedule is subjected to changes.</a:t>
            </a:r>
          </a:p>
        </p:txBody>
      </p:sp>
    </p:spTree>
    <p:extLst>
      <p:ext uri="{BB962C8B-B14F-4D97-AF65-F5344CB8AC3E}">
        <p14:creationId xmlns:p14="http://schemas.microsoft.com/office/powerpoint/2010/main" val="[redacted]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AD0EF8C6-4F4D-8E4C-8DEE-47321637C002}"/>
              </a:ext>
            </a:extLst>
          </p:cNvPr>
          <p:cNvGraphicFramePr>
            <a:graphicFrameLocks noGrp="1"/>
          </p:cNvGraphicFramePr>
          <p:nvPr/>
        </p:nvGraphicFramePr>
        <p:xfrm>
          <a:off x="471542" y="345141"/>
          <a:ext cx="11248916" cy="6512859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595416">
                  <a:extLst>
                    <a:ext uri="{9D8B030D-6E8A-4147-A177-3AD203B41FA5}">
                      <a16:colId xmlns:a16="http://schemas.microsoft.com/office/drawing/2014/main" val="671747007"/>
                    </a:ext>
                  </a:extLst>
                </a:gridCol>
                <a:gridCol w="2799497">
                  <a:extLst>
                    <a:ext uri="{9D8B030D-6E8A-4147-A177-3AD203B41FA5}">
                      <a16:colId xmlns:a16="http://schemas.microsoft.com/office/drawing/2014/main" val="[redacted]"/>
                    </a:ext>
                  </a:extLst>
                </a:gridCol>
                <a:gridCol w="1804966">
                  <a:extLst>
                    <a:ext uri="{9D8B030D-6E8A-4147-A177-3AD203B41FA5}">
                      <a16:colId xmlns:a16="http://schemas.microsoft.com/office/drawing/2014/main" val="692872519"/>
                    </a:ext>
                  </a:extLst>
                </a:gridCol>
                <a:gridCol w="1434356">
                  <a:extLst>
                    <a:ext uri="{9D8B030D-6E8A-4147-A177-3AD203B41FA5}">
                      <a16:colId xmlns:a16="http://schemas.microsoft.com/office/drawing/2014/main" val="[redacted]"/>
                    </a:ext>
                  </a:extLst>
                </a:gridCol>
                <a:gridCol w="1383394">
                  <a:extLst>
                    <a:ext uri="{9D8B030D-6E8A-4147-A177-3AD203B41FA5}">
                      <a16:colId xmlns:a16="http://schemas.microsoft.com/office/drawing/2014/main" val="[redacted]"/>
                    </a:ext>
                  </a:extLst>
                </a:gridCol>
                <a:gridCol w="3231287">
                  <a:extLst>
                    <a:ext uri="{9D8B030D-6E8A-4147-A177-3AD203B41FA5}">
                      <a16:colId xmlns:a16="http://schemas.microsoft.com/office/drawing/2014/main" val="[redacted]"/>
                    </a:ext>
                  </a:extLst>
                </a:gridCol>
              </a:tblGrid>
              <a:tr h="311926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endParaRPr lang="en-SG" sz="1400" dirty="0">
                        <a:effectLst/>
                      </a:endParaRPr>
                    </a:p>
                  </a:txBody>
                  <a:tcPr marL="38575" marR="38575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SG" sz="1400" dirty="0">
                          <a:effectLst/>
                        </a:rPr>
                        <a:t>Session name</a:t>
                      </a:r>
                      <a:endParaRPr lang="en-SG" sz="1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8575" marR="38575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SG" sz="1400" dirty="0">
                          <a:effectLst/>
                        </a:rPr>
                        <a:t>Date</a:t>
                      </a:r>
                      <a:endParaRPr lang="en-SG" sz="1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8575" marR="38575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SG" sz="1400" dirty="0">
                          <a:effectLst/>
                        </a:rPr>
                        <a:t>Teams</a:t>
                      </a:r>
                      <a:endParaRPr lang="en-SG" sz="1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8575" marR="38575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SG" sz="1400" dirty="0">
                          <a:effectLst/>
                        </a:rPr>
                        <a:t>Owner</a:t>
                      </a:r>
                      <a:endParaRPr lang="en-SG" sz="1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8575" marR="38575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SG" sz="1400" dirty="0">
                          <a:effectLst/>
                        </a:rPr>
                        <a:t>Other attendees/ Remarks</a:t>
                      </a:r>
                      <a:endParaRPr lang="en-SG" sz="1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8575" marR="38575" marT="0" marB="0"/>
                </a:tc>
                <a:extLst>
                  <a:ext uri="{0D108BD9-81ED-4DB2-BD59-A6C34878D82A}">
                    <a16:rowId xmlns:a16="http://schemas.microsoft.com/office/drawing/2014/main" val="[redacted]"/>
                  </a:ext>
                </a:extLst>
              </a:tr>
              <a:tr h="302710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endParaRPr lang="en-SG" sz="12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8575" marR="38575" marT="0" marB="0">
                    <a:solidFill>
                      <a:schemeClr val="accent5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SG" sz="1200" dirty="0">
                          <a:effectLst/>
                        </a:rPr>
                        <a:t>Workshop 1 (deck presentation)</a:t>
                      </a:r>
                      <a:endParaRPr lang="en-SG" sz="12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8575" marR="38575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SG" sz="1200" dirty="0">
                          <a:effectLst/>
                        </a:rPr>
                        <a:t>Sat, 22 Aug</a:t>
                      </a:r>
                      <a:endParaRPr lang="en-SG" sz="12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8575" marR="38575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SG" sz="1200" dirty="0">
                          <a:effectLst/>
                        </a:rPr>
                        <a:t>All</a:t>
                      </a:r>
                      <a:endParaRPr lang="en-SG" sz="12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8575" marR="38575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SG" sz="1200" dirty="0">
                          <a:effectLst/>
                        </a:rPr>
                        <a:t>TT</a:t>
                      </a:r>
                      <a:endParaRPr lang="en-SG" sz="12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8575" marR="38575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SG" sz="1200" dirty="0">
                          <a:effectLst/>
                        </a:rPr>
                        <a:t>PTF,</a:t>
                      </a:r>
                      <a:r>
                        <a:rPr lang="en-SG" sz="1200" baseline="0" dirty="0">
                          <a:effectLst/>
                        </a:rPr>
                        <a:t> </a:t>
                      </a:r>
                      <a:r>
                        <a:rPr lang="en-SG" sz="1200" dirty="0">
                          <a:effectLst/>
                        </a:rPr>
                        <a:t>All Teams, VM, TM, CC, Program team</a:t>
                      </a:r>
                      <a:endParaRPr lang="en-SG" sz="12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8575" marR="38575" marT="0" marB="0"/>
                </a:tc>
                <a:extLst>
                  <a:ext uri="{0D108BD9-81ED-4DB2-BD59-A6C34878D82A}">
                    <a16:rowId xmlns:a16="http://schemas.microsoft.com/office/drawing/2014/main" val="[redacted]"/>
                  </a:ext>
                </a:extLst>
              </a:tr>
              <a:tr h="302710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endParaRPr lang="en-SG" sz="12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8575" marR="38575" marT="0" marB="0"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SG" sz="1200" dirty="0">
                          <a:effectLst/>
                        </a:rPr>
                        <a:t>Consultation #7 (review pitching process </a:t>
                      </a:r>
                      <a:r>
                        <a:rPr lang="en-SG" sz="12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and story boarding)</a:t>
                      </a:r>
                    </a:p>
                  </a:txBody>
                  <a:tcPr marL="38575" marR="38575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SG" sz="1200" dirty="0">
                          <a:effectLst/>
                        </a:rPr>
                        <a:t>Tue, 3 Nov </a:t>
                      </a:r>
                      <a:endParaRPr lang="en-SG" sz="12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8575" marR="38575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SG" sz="1200" dirty="0">
                          <a:effectLst/>
                        </a:rPr>
                        <a:t>All</a:t>
                      </a:r>
                      <a:endParaRPr lang="en-SG" sz="12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8575" marR="38575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SG" sz="1200" dirty="0">
                          <a:effectLst/>
                        </a:rPr>
                        <a:t>TT</a:t>
                      </a:r>
                      <a:endParaRPr lang="en-SG" sz="12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8575" marR="38575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SG" sz="1200" dirty="0">
                          <a:effectLst/>
                          <a:latin typeface="+mn-lt"/>
                          <a:ea typeface="+mn-ea"/>
                          <a:cs typeface="+mn-cs"/>
                        </a:rPr>
                        <a:t>VM,</a:t>
                      </a:r>
                      <a:r>
                        <a:rPr lang="en-SG" sz="1200" baseline="0" dirty="0">
                          <a:effectLst/>
                          <a:latin typeface="+mn-lt"/>
                          <a:ea typeface="+mn-ea"/>
                          <a:cs typeface="+mn-cs"/>
                        </a:rPr>
                        <a:t> CC &amp; PTF</a:t>
                      </a:r>
                      <a:endParaRPr lang="en-SG" sz="12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8575" marR="38575" marT="0" marB="0"/>
                </a:tc>
                <a:extLst>
                  <a:ext uri="{0D108BD9-81ED-4DB2-BD59-A6C34878D82A}">
                    <a16:rowId xmlns:a16="http://schemas.microsoft.com/office/drawing/2014/main" val="706007669"/>
                  </a:ext>
                </a:extLst>
              </a:tr>
              <a:tr h="403613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endParaRPr lang="en-SG" sz="12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8575" marR="38575" marT="0" marB="0"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SG" sz="1200" dirty="0">
                          <a:effectLst/>
                        </a:rPr>
                        <a:t>Consultation #8,</a:t>
                      </a:r>
                      <a:r>
                        <a:rPr lang="en-SG" sz="1200" baseline="0" dirty="0">
                          <a:effectLst/>
                        </a:rPr>
                        <a:t> </a:t>
                      </a:r>
                      <a:r>
                        <a:rPr lang="en-SG" sz="1200" dirty="0">
                          <a:effectLst/>
                        </a:rPr>
                        <a:t>Pitch review</a:t>
                      </a:r>
                      <a:r>
                        <a:rPr lang="en-SG" sz="1200" baseline="0" dirty="0">
                          <a:effectLst/>
                        </a:rPr>
                        <a:t> 1/3</a:t>
                      </a:r>
                      <a:endParaRPr lang="en-SG" sz="1200" dirty="0">
                        <a:effectLst/>
                      </a:endParaRPr>
                    </a:p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SG" sz="1200" dirty="0">
                          <a:effectLst/>
                        </a:rPr>
                        <a:t>Full Dress Rehearsal #1 </a:t>
                      </a:r>
                    </a:p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SG" sz="1200" dirty="0">
                          <a:effectLst/>
                        </a:rPr>
                        <a:t>(storyboarding and gaps)</a:t>
                      </a:r>
                    </a:p>
                  </a:txBody>
                  <a:tcPr marL="38575" marR="38575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SG" sz="1200" dirty="0">
                          <a:solidFill>
                            <a:schemeClr val="tx1"/>
                          </a:solidFill>
                          <a:effectLst/>
                        </a:rPr>
                        <a:t>Thu, 5 Nov </a:t>
                      </a:r>
                      <a:endParaRPr lang="en-SG" sz="12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8575" marR="38575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SG" sz="1200" dirty="0">
                          <a:effectLst/>
                          <a:latin typeface="+mn-lt"/>
                          <a:ea typeface="+mn-ea"/>
                          <a:cs typeface="+mn-cs"/>
                        </a:rPr>
                        <a:t>1/3</a:t>
                      </a:r>
                      <a:r>
                        <a:rPr lang="en-SG" sz="1200" baseline="0" dirty="0">
                          <a:effectLst/>
                          <a:latin typeface="+mn-lt"/>
                          <a:ea typeface="+mn-ea"/>
                          <a:cs typeface="+mn-cs"/>
                        </a:rPr>
                        <a:t> teams</a:t>
                      </a:r>
                      <a:endParaRPr lang="en-SG" sz="12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8575" marR="38575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SG" sz="1200" dirty="0">
                          <a:effectLst/>
                        </a:rPr>
                        <a:t>TT</a:t>
                      </a:r>
                      <a:endParaRPr lang="en-SG" sz="12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8575" marR="38575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SG" sz="1200" dirty="0">
                          <a:effectLst/>
                        </a:rPr>
                        <a:t>PTF,</a:t>
                      </a:r>
                      <a:r>
                        <a:rPr lang="en-SG" sz="1200" baseline="0" dirty="0">
                          <a:effectLst/>
                        </a:rPr>
                        <a:t> </a:t>
                      </a:r>
                      <a:r>
                        <a:rPr lang="en-SG" sz="1200" dirty="0">
                          <a:effectLst/>
                        </a:rPr>
                        <a:t>VM, CC. </a:t>
                      </a:r>
                    </a:p>
                  </a:txBody>
                  <a:tcPr marL="38575" marR="38575" marT="0" marB="0"/>
                </a:tc>
                <a:extLst>
                  <a:ext uri="{0D108BD9-81ED-4DB2-BD59-A6C34878D82A}">
                    <a16:rowId xmlns:a16="http://schemas.microsoft.com/office/drawing/2014/main" val="[redacted]"/>
                  </a:ext>
                </a:extLst>
              </a:tr>
              <a:tr h="302710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endParaRPr lang="en-SG" sz="12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8575" marR="38575" marT="0" marB="0"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SG" sz="1200" dirty="0">
                          <a:effectLst/>
                        </a:rPr>
                        <a:t>Consultation #8, Pitch review</a:t>
                      </a:r>
                      <a:r>
                        <a:rPr lang="en-SG" sz="1200" baseline="0" dirty="0">
                          <a:effectLst/>
                        </a:rPr>
                        <a:t> 2/3  </a:t>
                      </a:r>
                      <a:r>
                        <a:rPr lang="en-SG" sz="1200" dirty="0">
                          <a:effectLst/>
                        </a:rPr>
                        <a:t> </a:t>
                      </a:r>
                    </a:p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SG" sz="1200" dirty="0">
                          <a:effectLst/>
                        </a:rPr>
                        <a:t>Full Dress Rehearsal #1</a:t>
                      </a:r>
                    </a:p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SG" sz="1200" dirty="0">
                          <a:effectLst/>
                        </a:rPr>
                        <a:t>(storyboarding and gaps)</a:t>
                      </a:r>
                    </a:p>
                  </a:txBody>
                  <a:tcPr marL="38575" marR="38575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SG" sz="1200" dirty="0">
                          <a:solidFill>
                            <a:schemeClr val="tx1"/>
                          </a:solidFill>
                          <a:effectLst/>
                        </a:rPr>
                        <a:t>Fri, 6 Nov </a:t>
                      </a:r>
                      <a:endParaRPr lang="en-SG" sz="12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8575" marR="38575" marT="0" marB="0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SG" sz="1200" dirty="0">
                          <a:effectLst/>
                          <a:latin typeface="+mn-lt"/>
                          <a:ea typeface="+mn-ea"/>
                          <a:cs typeface="+mn-cs"/>
                        </a:rPr>
                        <a:t>1/3</a:t>
                      </a:r>
                      <a:r>
                        <a:rPr lang="en-SG" sz="1200" baseline="0" dirty="0">
                          <a:effectLst/>
                          <a:latin typeface="+mn-lt"/>
                          <a:ea typeface="+mn-ea"/>
                          <a:cs typeface="+mn-cs"/>
                        </a:rPr>
                        <a:t> teams</a:t>
                      </a:r>
                      <a:endParaRPr lang="en-SG" sz="12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endParaRPr lang="en-SG" sz="12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8575" marR="38575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SG" sz="1200" dirty="0">
                          <a:effectLst/>
                        </a:rPr>
                        <a:t>TT</a:t>
                      </a:r>
                      <a:endParaRPr lang="en-SG" sz="12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8575" marR="38575" marT="0" marB="0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SG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PTF, VM, CC. </a:t>
                      </a:r>
                    </a:p>
                  </a:txBody>
                  <a:tcPr marL="38575" marR="38575" marT="0" marB="0"/>
                </a:tc>
                <a:extLst>
                  <a:ext uri="{0D108BD9-81ED-4DB2-BD59-A6C34878D82A}">
                    <a16:rowId xmlns:a16="http://schemas.microsoft.com/office/drawing/2014/main" val="79625552"/>
                  </a:ext>
                </a:extLst>
              </a:tr>
              <a:tr h="107154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endParaRPr lang="en-SG" sz="12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8575" marR="38575" marT="0" marB="0"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SG" sz="1200" dirty="0">
                          <a:effectLst/>
                        </a:rPr>
                        <a:t>Consultation #8, Pitch review</a:t>
                      </a:r>
                      <a:r>
                        <a:rPr lang="en-SG" sz="1200" baseline="0" dirty="0">
                          <a:effectLst/>
                        </a:rPr>
                        <a:t> 3/3</a:t>
                      </a:r>
                    </a:p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SG" sz="1200" baseline="0" dirty="0">
                          <a:effectLst/>
                        </a:rPr>
                        <a:t>Full Dress Rehearsal #1 </a:t>
                      </a:r>
                      <a:r>
                        <a:rPr lang="en-SG" sz="1200" dirty="0">
                          <a:effectLst/>
                        </a:rPr>
                        <a:t> </a:t>
                      </a:r>
                    </a:p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SG" sz="1200" dirty="0">
                          <a:effectLst/>
                        </a:rPr>
                        <a:t>(storyboarding and gaps)</a:t>
                      </a:r>
                    </a:p>
                  </a:txBody>
                  <a:tcPr marL="38575" marR="38575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Fri,</a:t>
                      </a:r>
                      <a:r>
                        <a:rPr lang="en-US" sz="1200" baseline="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 13 Nov</a:t>
                      </a:r>
                      <a:endParaRPr lang="en-SG" sz="12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8575" marR="38575" marT="0" marB="0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SG" sz="1200" dirty="0">
                          <a:effectLst/>
                          <a:latin typeface="+mn-lt"/>
                          <a:ea typeface="+mn-ea"/>
                          <a:cs typeface="+mn-cs"/>
                        </a:rPr>
                        <a:t>1/3</a:t>
                      </a:r>
                      <a:r>
                        <a:rPr lang="en-SG" sz="1200" baseline="0" dirty="0">
                          <a:effectLst/>
                          <a:latin typeface="+mn-lt"/>
                          <a:ea typeface="+mn-ea"/>
                          <a:cs typeface="+mn-cs"/>
                        </a:rPr>
                        <a:t> teams</a:t>
                      </a:r>
                      <a:endParaRPr lang="en-SG" sz="12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endParaRPr lang="en-SG" sz="12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8575" marR="38575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SG" sz="1200" dirty="0">
                          <a:effectLst/>
                        </a:rPr>
                        <a:t>TT</a:t>
                      </a:r>
                      <a:endParaRPr lang="en-SG" sz="12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8575" marR="38575" marT="0" marB="0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SG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PTF, VM, CC. </a:t>
                      </a:r>
                    </a:p>
                  </a:txBody>
                  <a:tcPr marL="38575" marR="38575" marT="0" marB="0"/>
                </a:tc>
                <a:extLst>
                  <a:ext uri="{0D108BD9-81ED-4DB2-BD59-A6C34878D82A}">
                    <a16:rowId xmlns:a16="http://schemas.microsoft.com/office/drawing/2014/main" val="688727930"/>
                  </a:ext>
                </a:extLst>
              </a:tr>
              <a:tr h="107154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endParaRPr lang="en-SG" sz="12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8575" marR="38575" marT="0" marB="0">
                    <a:solidFill>
                      <a:schemeClr val="accent5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SG" sz="1200" dirty="0">
                          <a:effectLst/>
                        </a:rPr>
                        <a:t>Pitch training #1</a:t>
                      </a:r>
                      <a:endParaRPr lang="en-SG" sz="12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8575" marR="38575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SG" sz="1200" dirty="0">
                          <a:effectLst/>
                        </a:rPr>
                        <a:t>Tue, 17 Nov </a:t>
                      </a:r>
                      <a:endParaRPr lang="en-SG" sz="12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8575" marR="38575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SG" sz="1200" dirty="0">
                          <a:effectLst/>
                        </a:rPr>
                        <a:t>All</a:t>
                      </a:r>
                      <a:endParaRPr lang="en-SG" sz="12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8575" marR="38575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SG" sz="1200" dirty="0">
                          <a:effectLst/>
                        </a:rPr>
                        <a:t>PTF</a:t>
                      </a:r>
                      <a:endParaRPr lang="en-SG" sz="12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8575" marR="38575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SG" sz="1200" dirty="0">
                          <a:effectLst/>
                        </a:rPr>
                        <a:t>VM, CC</a:t>
                      </a:r>
                      <a:endParaRPr lang="en-SG" sz="12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8575" marR="38575" marT="0" marB="0"/>
                </a:tc>
                <a:extLst>
                  <a:ext uri="{0D108BD9-81ED-4DB2-BD59-A6C34878D82A}">
                    <a16:rowId xmlns:a16="http://schemas.microsoft.com/office/drawing/2014/main" val="[redacted]"/>
                  </a:ext>
                </a:extLst>
              </a:tr>
              <a:tr h="107154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endParaRPr lang="en-SG" sz="12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8575" marR="38575" marT="0" marB="0">
                    <a:solidFill>
                      <a:schemeClr val="accent5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SG" sz="1200" dirty="0">
                          <a:effectLst/>
                        </a:rPr>
                        <a:t>Pitch training #2</a:t>
                      </a:r>
                      <a:endParaRPr lang="en-SG" sz="12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8575" marR="38575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SG" sz="1200" dirty="0">
                          <a:effectLst/>
                        </a:rPr>
                        <a:t>Fri, 20 Nov </a:t>
                      </a:r>
                      <a:endParaRPr lang="en-SG" sz="12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8575" marR="38575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SG" sz="1200" dirty="0">
                          <a:effectLst/>
                        </a:rPr>
                        <a:t>All</a:t>
                      </a:r>
                      <a:endParaRPr lang="en-SG" sz="12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8575" marR="38575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SG" sz="1200" dirty="0">
                          <a:effectLst/>
                        </a:rPr>
                        <a:t>PTF</a:t>
                      </a:r>
                      <a:endParaRPr lang="en-SG" sz="12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8575" marR="38575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SG" sz="1200" dirty="0">
                          <a:effectLst/>
                        </a:rPr>
                        <a:t>VM,</a:t>
                      </a:r>
                      <a:r>
                        <a:rPr lang="en-SG" sz="1200" baseline="0" dirty="0">
                          <a:effectLst/>
                        </a:rPr>
                        <a:t> CC</a:t>
                      </a:r>
                      <a:endParaRPr lang="en-SG" sz="12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8575" marR="38575" marT="0" marB="0"/>
                </a:tc>
                <a:extLst>
                  <a:ext uri="{0D108BD9-81ED-4DB2-BD59-A6C34878D82A}">
                    <a16:rowId xmlns:a16="http://schemas.microsoft.com/office/drawing/2014/main" val="23173487"/>
                  </a:ext>
                </a:extLst>
              </a:tr>
              <a:tr h="355508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endParaRPr lang="en-SG" sz="12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8575" marR="38575" marT="0" marB="0">
                    <a:solidFill>
                      <a:schemeClr val="accent5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SG" sz="1200" dirty="0">
                          <a:effectLst/>
                        </a:rPr>
                        <a:t>Full Dress Rehearsal #2</a:t>
                      </a:r>
                    </a:p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SG" sz="1200" dirty="0">
                          <a:effectLst/>
                        </a:rPr>
                        <a:t>(final changes/readiness for Inv. Panel)</a:t>
                      </a:r>
                      <a:endParaRPr lang="en-SG" sz="12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8575" marR="38575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SG" sz="1200" dirty="0">
                          <a:effectLst/>
                        </a:rPr>
                        <a:t>Mon, 23 Nov </a:t>
                      </a:r>
                      <a:endParaRPr lang="en-SG" sz="12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8575" marR="38575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2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G</a:t>
                      </a:r>
                      <a:r>
                        <a:rPr lang="en-SG" sz="12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roup 1</a:t>
                      </a:r>
                    </a:p>
                  </a:txBody>
                  <a:tcPr marL="38575" marR="38575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SG" sz="1200" dirty="0">
                          <a:effectLst/>
                        </a:rPr>
                        <a:t>TT</a:t>
                      </a:r>
                      <a:endParaRPr lang="en-SG" sz="12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8575" marR="38575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SG" sz="1200" dirty="0">
                          <a:effectLst/>
                        </a:rPr>
                        <a:t>PTF,</a:t>
                      </a:r>
                      <a:r>
                        <a:rPr lang="en-SG" sz="1200" baseline="0" dirty="0">
                          <a:effectLst/>
                        </a:rPr>
                        <a:t> </a:t>
                      </a:r>
                      <a:r>
                        <a:rPr lang="en-SG" sz="1200" dirty="0">
                          <a:effectLst/>
                        </a:rPr>
                        <a:t>VM, TM,</a:t>
                      </a:r>
                      <a:r>
                        <a:rPr lang="en-SG" sz="1200" baseline="0" dirty="0">
                          <a:effectLst/>
                        </a:rPr>
                        <a:t> </a:t>
                      </a:r>
                      <a:r>
                        <a:rPr lang="en-SG" sz="1200" dirty="0">
                          <a:effectLst/>
                        </a:rPr>
                        <a:t>CC, Program Team</a:t>
                      </a:r>
                      <a:endParaRPr lang="en-SG" sz="12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8575" marR="38575" marT="0" marB="0"/>
                </a:tc>
                <a:extLst>
                  <a:ext uri="{0D108BD9-81ED-4DB2-BD59-A6C34878D82A}">
                    <a16:rowId xmlns:a16="http://schemas.microsoft.com/office/drawing/2014/main" val="[redacted]"/>
                  </a:ext>
                </a:extLst>
              </a:tr>
              <a:tr h="355508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endParaRPr lang="en-SG" sz="12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8575" marR="38575" marT="0" marB="0">
                    <a:solidFill>
                      <a:schemeClr val="accent5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SG" sz="1200" dirty="0">
                          <a:effectLst/>
                        </a:rPr>
                        <a:t>Full Dress Rehearsal #2</a:t>
                      </a:r>
                    </a:p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SG" sz="1200" dirty="0">
                          <a:effectLst/>
                        </a:rPr>
                        <a:t>(final changes/readiness for Inv. Panel)</a:t>
                      </a:r>
                      <a:endParaRPr lang="en-SG" sz="12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8575" marR="38575" marT="0" marB="0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SG" sz="1200" dirty="0">
                          <a:effectLst/>
                        </a:rPr>
                        <a:t>Tue, 24 Nov </a:t>
                      </a:r>
                      <a:endParaRPr lang="en-SG" sz="12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endParaRPr lang="en-SG" sz="12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8575" marR="38575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2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G</a:t>
                      </a:r>
                      <a:r>
                        <a:rPr lang="en-SG" sz="12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roup 2</a:t>
                      </a:r>
                    </a:p>
                  </a:txBody>
                  <a:tcPr marL="38575" marR="38575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SG" sz="1200" dirty="0">
                          <a:effectLst/>
                        </a:rPr>
                        <a:t>TT</a:t>
                      </a:r>
                      <a:endParaRPr lang="en-SG" sz="12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8575" marR="38575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SG" sz="1200" dirty="0">
                          <a:effectLst/>
                        </a:rPr>
                        <a:t>PTF,</a:t>
                      </a:r>
                      <a:r>
                        <a:rPr lang="en-SG" sz="1200" baseline="0" dirty="0">
                          <a:effectLst/>
                        </a:rPr>
                        <a:t> </a:t>
                      </a:r>
                      <a:r>
                        <a:rPr lang="en-SG" sz="1200" dirty="0">
                          <a:effectLst/>
                        </a:rPr>
                        <a:t>VM, TM,</a:t>
                      </a:r>
                      <a:r>
                        <a:rPr lang="en-SG" sz="1200" baseline="0" dirty="0">
                          <a:effectLst/>
                        </a:rPr>
                        <a:t> </a:t>
                      </a:r>
                      <a:r>
                        <a:rPr lang="en-SG" sz="1200" dirty="0">
                          <a:effectLst/>
                        </a:rPr>
                        <a:t>CC, Program Team</a:t>
                      </a:r>
                      <a:endParaRPr lang="en-SG" sz="12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8575" marR="38575" marT="0" marB="0"/>
                </a:tc>
                <a:extLst>
                  <a:ext uri="{0D108BD9-81ED-4DB2-BD59-A6C34878D82A}">
                    <a16:rowId xmlns:a16="http://schemas.microsoft.com/office/drawing/2014/main" val="[redacted]"/>
                  </a:ext>
                </a:extLst>
              </a:tr>
              <a:tr h="302710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endParaRPr lang="en-SG" sz="12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8575" marR="38575" marT="0" marB="0">
                    <a:solidFill>
                      <a:schemeClr val="accent5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SG" sz="1200" dirty="0">
                          <a:effectLst/>
                        </a:rPr>
                        <a:t>Full Dress Rehearsal</a:t>
                      </a:r>
                      <a:r>
                        <a:rPr lang="en-SG" sz="1200" baseline="0" dirty="0">
                          <a:effectLst/>
                        </a:rPr>
                        <a:t> #3</a:t>
                      </a:r>
                      <a:endParaRPr lang="en-SG" sz="12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8575" marR="38575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SG" sz="1200" dirty="0">
                          <a:effectLst/>
                        </a:rPr>
                        <a:t>Fri, 27 Nov </a:t>
                      </a:r>
                    </a:p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2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(submit FINAL PPT by 6pm)</a:t>
                      </a:r>
                      <a:endParaRPr lang="en-SG" sz="12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8575" marR="38575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SG" sz="1200" dirty="0">
                          <a:effectLst/>
                        </a:rPr>
                        <a:t>All </a:t>
                      </a:r>
                      <a:r>
                        <a:rPr lang="en-SG" sz="1200" dirty="0">
                          <a:solidFill>
                            <a:schemeClr val="tx1"/>
                          </a:solidFill>
                          <a:effectLst/>
                        </a:rPr>
                        <a:t>(optional)</a:t>
                      </a:r>
                      <a:endParaRPr lang="en-SG" sz="12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8575" marR="38575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SG" sz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CC</a:t>
                      </a:r>
                      <a:r>
                        <a:rPr lang="en-SG" sz="1200" baseline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&amp; VM</a:t>
                      </a:r>
                      <a:endParaRPr lang="en-SG" sz="12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8575" marR="38575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SG" sz="1200" dirty="0">
                          <a:solidFill>
                            <a:schemeClr val="tx1"/>
                          </a:solidFill>
                          <a:effectLst/>
                        </a:rPr>
                        <a:t>PTF</a:t>
                      </a:r>
                      <a:endParaRPr lang="en-SG" sz="12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8575" marR="38575" marT="0" marB="0"/>
                </a:tc>
                <a:extLst>
                  <a:ext uri="{0D108BD9-81ED-4DB2-BD59-A6C34878D82A}">
                    <a16:rowId xmlns:a16="http://schemas.microsoft.com/office/drawing/2014/main" val="[redacted]"/>
                  </a:ext>
                </a:extLst>
              </a:tr>
              <a:tr h="201806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endParaRPr lang="en-SG" sz="1200" b="0" dirty="0">
                        <a:solidFill>
                          <a:srgbClr val="FF0000"/>
                        </a:solidFill>
                        <a:effectLst/>
                        <a:latin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8575" marR="38575" marT="0" marB="0"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SG" sz="1200" b="1" dirty="0">
                          <a:solidFill>
                            <a:schemeClr val="tx1"/>
                          </a:solidFill>
                          <a:effectLst/>
                        </a:rPr>
                        <a:t>Investment Panel 1</a:t>
                      </a:r>
                    </a:p>
                  </a:txBody>
                  <a:tcPr marL="38575" marR="38575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SG" sz="1200" dirty="0">
                          <a:effectLst/>
                        </a:rPr>
                        <a:t>Tue, 1 Dec </a:t>
                      </a:r>
                      <a:endParaRPr lang="en-SG" sz="12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8575" marR="38575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2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G</a:t>
                      </a:r>
                      <a:r>
                        <a:rPr lang="en-SG" sz="12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roup 1</a:t>
                      </a:r>
                    </a:p>
                  </a:txBody>
                  <a:tcPr marL="38575" marR="38575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SG" sz="1200" dirty="0">
                          <a:effectLst/>
                        </a:rPr>
                        <a:t>Team </a:t>
                      </a:r>
                      <a:endParaRPr lang="en-SG" sz="12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8575" marR="38575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SG" sz="1200" dirty="0">
                          <a:effectLst/>
                        </a:rPr>
                        <a:t>VM, TM, CC,</a:t>
                      </a:r>
                      <a:r>
                        <a:rPr lang="en-SG" sz="1200" baseline="0" dirty="0">
                          <a:effectLst/>
                        </a:rPr>
                        <a:t> </a:t>
                      </a:r>
                      <a:r>
                        <a:rPr lang="en-SG" sz="1200" dirty="0">
                          <a:effectLst/>
                        </a:rPr>
                        <a:t>TT, Program Team</a:t>
                      </a:r>
                    </a:p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endParaRPr lang="en-SG" sz="12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8575" marR="38575" marT="0" marB="0"/>
                </a:tc>
                <a:extLst>
                  <a:ext uri="{0D108BD9-81ED-4DB2-BD59-A6C34878D82A}">
                    <a16:rowId xmlns:a16="http://schemas.microsoft.com/office/drawing/2014/main" val="[redacted]"/>
                  </a:ext>
                </a:extLst>
              </a:tr>
              <a:tr h="403613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endParaRPr lang="en-SG" sz="12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8575" marR="38575" marT="0" marB="0">
                    <a:solidFill>
                      <a:schemeClr val="accent5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SG" sz="1200" dirty="0">
                          <a:effectLst/>
                        </a:rPr>
                        <a:t>Pitch review Lift off day 1/2 for Group 1 (story update and time reduction)</a:t>
                      </a:r>
                      <a:endParaRPr lang="en-SG" sz="12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8575" marR="38575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SG" sz="1200" dirty="0">
                          <a:effectLst/>
                        </a:rPr>
                        <a:t>Thu, 3 Dec </a:t>
                      </a:r>
                      <a:endParaRPr lang="en-SG" sz="12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8575" marR="38575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2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G</a:t>
                      </a:r>
                      <a:r>
                        <a:rPr lang="en-SG" sz="12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roup 1</a:t>
                      </a:r>
                    </a:p>
                  </a:txBody>
                  <a:tcPr marL="38575" marR="38575" marT="0" marB="0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SG" sz="1200" dirty="0">
                          <a:effectLst/>
                          <a:latin typeface="+mn-lt"/>
                          <a:ea typeface="+mn-ea"/>
                          <a:cs typeface="+mn-cs"/>
                        </a:rPr>
                        <a:t>PTF</a:t>
                      </a:r>
                      <a:endParaRPr lang="en-SG" sz="12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endParaRPr lang="en-SG" sz="12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8575" marR="38575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SG" sz="1200" dirty="0">
                          <a:effectLst/>
                        </a:rPr>
                        <a:t>PTF,</a:t>
                      </a:r>
                      <a:r>
                        <a:rPr lang="en-SG" sz="1200" baseline="0" dirty="0">
                          <a:effectLst/>
                        </a:rPr>
                        <a:t> </a:t>
                      </a:r>
                      <a:r>
                        <a:rPr lang="en-SG" sz="1200" dirty="0">
                          <a:effectLst/>
                        </a:rPr>
                        <a:t>VM, TM,</a:t>
                      </a:r>
                      <a:r>
                        <a:rPr lang="en-SG" sz="1200" baseline="0" dirty="0">
                          <a:effectLst/>
                        </a:rPr>
                        <a:t> </a:t>
                      </a:r>
                      <a:r>
                        <a:rPr lang="en-SG" sz="1200" dirty="0">
                          <a:effectLst/>
                        </a:rPr>
                        <a:t>CC</a:t>
                      </a:r>
                      <a:endParaRPr lang="en-SG" sz="12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8575" marR="38575" marT="0" marB="0"/>
                </a:tc>
                <a:extLst>
                  <a:ext uri="{0D108BD9-81ED-4DB2-BD59-A6C34878D82A}">
                    <a16:rowId xmlns:a16="http://schemas.microsoft.com/office/drawing/2014/main" val="1818535466"/>
                  </a:ext>
                </a:extLst>
              </a:tr>
              <a:tr h="201806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endParaRPr lang="en-SG" sz="1200" dirty="0">
                        <a:effectLst/>
                        <a:latin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8575" marR="38575" marT="0" marB="0"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SG" sz="1200" b="1" dirty="0">
                          <a:solidFill>
                            <a:schemeClr val="tx1"/>
                          </a:solidFill>
                          <a:effectLst/>
                        </a:rPr>
                        <a:t>Investment Panel 2</a:t>
                      </a:r>
                    </a:p>
                  </a:txBody>
                  <a:tcPr marL="38575" marR="38575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SG" sz="1200" dirty="0">
                          <a:effectLst/>
                        </a:rPr>
                        <a:t>Fri, 4 Dec </a:t>
                      </a:r>
                      <a:endParaRPr lang="en-SG" sz="12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8575" marR="38575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2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G</a:t>
                      </a:r>
                      <a:r>
                        <a:rPr lang="en-SG" sz="12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roup 2</a:t>
                      </a:r>
                    </a:p>
                  </a:txBody>
                  <a:tcPr marL="38575" marR="38575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SG" sz="1200" dirty="0">
                          <a:effectLst/>
                        </a:rPr>
                        <a:t>Team</a:t>
                      </a:r>
                      <a:endParaRPr lang="en-SG" sz="12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8575" marR="38575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SG" sz="1200" dirty="0">
                          <a:effectLst/>
                        </a:rPr>
                        <a:t>VM, CC,</a:t>
                      </a:r>
                      <a:r>
                        <a:rPr lang="en-SG" sz="1200" baseline="0" dirty="0">
                          <a:effectLst/>
                        </a:rPr>
                        <a:t> </a:t>
                      </a:r>
                      <a:r>
                        <a:rPr lang="en-SG" sz="1200" dirty="0">
                          <a:effectLst/>
                        </a:rPr>
                        <a:t>TT, Prog Team</a:t>
                      </a:r>
                    </a:p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endParaRPr lang="en-SG" sz="12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8575" marR="38575" marT="0" marB="0"/>
                </a:tc>
                <a:extLst>
                  <a:ext uri="{0D108BD9-81ED-4DB2-BD59-A6C34878D82A}">
                    <a16:rowId xmlns:a16="http://schemas.microsoft.com/office/drawing/2014/main" val="[redacted]"/>
                  </a:ext>
                </a:extLst>
              </a:tr>
              <a:tr h="403613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endParaRPr lang="en-SG" sz="12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8575" marR="38575" marT="0" marB="0">
                    <a:solidFill>
                      <a:schemeClr val="accent5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SG" sz="1200" dirty="0">
                          <a:effectLst/>
                        </a:rPr>
                        <a:t>Pitch review Lift off day 2/2 for Group 2 (storyboarding and gaps)</a:t>
                      </a:r>
                      <a:endParaRPr lang="en-SG" sz="12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8575" marR="38575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SG" sz="1200" dirty="0">
                          <a:effectLst/>
                        </a:rPr>
                        <a:t>Mon, 7 Dec </a:t>
                      </a:r>
                      <a:endParaRPr lang="en-SG" sz="12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8575" marR="38575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2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G</a:t>
                      </a:r>
                      <a:r>
                        <a:rPr lang="en-SG" sz="12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roup 2</a:t>
                      </a:r>
                    </a:p>
                  </a:txBody>
                  <a:tcPr marL="38575" marR="38575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SG" sz="1200" dirty="0">
                          <a:effectLst/>
                          <a:latin typeface="+mn-lt"/>
                          <a:ea typeface="+mn-ea"/>
                          <a:cs typeface="+mn-cs"/>
                        </a:rPr>
                        <a:t>PTF</a:t>
                      </a:r>
                      <a:endParaRPr lang="en-SG" sz="12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8575" marR="38575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SG" sz="1200" dirty="0">
                          <a:effectLst/>
                        </a:rPr>
                        <a:t>PTF,</a:t>
                      </a:r>
                      <a:r>
                        <a:rPr lang="en-SG" sz="1200" baseline="0" dirty="0">
                          <a:effectLst/>
                        </a:rPr>
                        <a:t> </a:t>
                      </a:r>
                      <a:r>
                        <a:rPr lang="en-SG" sz="1200" dirty="0">
                          <a:effectLst/>
                        </a:rPr>
                        <a:t>VM, CC</a:t>
                      </a:r>
                      <a:endParaRPr lang="en-SG" sz="12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8575" marR="38575" marT="0" marB="0"/>
                </a:tc>
                <a:extLst>
                  <a:ext uri="{0D108BD9-81ED-4DB2-BD59-A6C34878D82A}">
                    <a16:rowId xmlns:a16="http://schemas.microsoft.com/office/drawing/2014/main" val="359333979"/>
                  </a:ext>
                </a:extLst>
              </a:tr>
              <a:tr h="302710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endParaRPr lang="en-SG" sz="12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8575" marR="38575" marT="0" marB="0">
                    <a:solidFill>
                      <a:schemeClr val="accent5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SG" sz="1200" dirty="0">
                          <a:effectLst/>
                        </a:rPr>
                        <a:t>Full Dress Rehearsal for Lift Off Day</a:t>
                      </a:r>
                      <a:endParaRPr lang="en-SG" sz="12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8575" marR="38575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SG" sz="1200" dirty="0">
                          <a:effectLst/>
                        </a:rPr>
                        <a:t>Tue, 8 Dec </a:t>
                      </a:r>
                      <a:endParaRPr lang="en-SG" sz="12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8575" marR="38575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SG" sz="1200" dirty="0">
                          <a:effectLst/>
                        </a:rPr>
                        <a:t>All</a:t>
                      </a:r>
                      <a:endParaRPr lang="en-SG" sz="12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8575" marR="38575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SG" sz="1200" dirty="0">
                          <a:effectLst/>
                        </a:rPr>
                        <a:t>TT</a:t>
                      </a:r>
                      <a:endParaRPr lang="en-SG" sz="12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8575" marR="38575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SG" sz="1200" dirty="0">
                          <a:effectLst/>
                        </a:rPr>
                        <a:t>PTF, VM, TM,</a:t>
                      </a:r>
                      <a:r>
                        <a:rPr lang="en-SG" sz="1200" baseline="0" dirty="0">
                          <a:effectLst/>
                        </a:rPr>
                        <a:t> </a:t>
                      </a:r>
                      <a:r>
                        <a:rPr lang="en-SG" sz="1200" dirty="0">
                          <a:effectLst/>
                        </a:rPr>
                        <a:t>CC</a:t>
                      </a:r>
                      <a:endParaRPr lang="en-SG" sz="12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8575" marR="38575" marT="0" marB="0"/>
                </a:tc>
                <a:extLst>
                  <a:ext uri="{0D108BD9-81ED-4DB2-BD59-A6C34878D82A}">
                    <a16:rowId xmlns:a16="http://schemas.microsoft.com/office/drawing/2014/main" val="[redacted]"/>
                  </a:ext>
                </a:extLst>
              </a:tr>
              <a:tr h="302710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endParaRPr lang="en-SG" sz="1200" dirty="0">
                        <a:effectLst/>
                        <a:latin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8575" marR="38575" marT="0" marB="0"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SG" sz="1200" b="1" dirty="0">
                          <a:solidFill>
                            <a:schemeClr val="tx1"/>
                          </a:solidFill>
                          <a:effectLst/>
                        </a:rPr>
                        <a:t>Lift Off Day</a:t>
                      </a:r>
                      <a:endParaRPr lang="en-SG" sz="1200" b="1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8575" marR="38575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SG" sz="1200" dirty="0">
                          <a:effectLst/>
                        </a:rPr>
                        <a:t>Thu, 10 Dec </a:t>
                      </a:r>
                      <a:endParaRPr lang="en-SG" sz="12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8575" marR="38575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SG" sz="1200" dirty="0">
                          <a:effectLst/>
                        </a:rPr>
                        <a:t>All</a:t>
                      </a:r>
                      <a:endParaRPr lang="en-SG" sz="12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8575" marR="38575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SG" sz="1200" dirty="0">
                          <a:effectLst/>
                        </a:rPr>
                        <a:t>Teams</a:t>
                      </a:r>
                      <a:endParaRPr lang="en-SG" sz="12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8575" marR="38575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SG" sz="1200" dirty="0">
                          <a:effectLst/>
                        </a:rPr>
                        <a:t>Externals </a:t>
                      </a:r>
                    </a:p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SG" sz="1200" dirty="0">
                          <a:effectLst/>
                        </a:rPr>
                        <a:t>All Teams, VM, TM, CC, Prog team, PTF</a:t>
                      </a:r>
                      <a:endParaRPr lang="en-SG" sz="12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8575" marR="38575" marT="0" marB="0"/>
                </a:tc>
                <a:extLst>
                  <a:ext uri="{0D108BD9-81ED-4DB2-BD59-A6C34878D82A}">
                    <a16:rowId xmlns:a16="http://schemas.microsoft.com/office/drawing/2014/main" val="422401389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37121102-BDB8-3E4E-83AD-B6C46AD7E5B6}"/>
              </a:ext>
            </a:extLst>
          </p:cNvPr>
          <p:cNvSpPr txBox="1"/>
          <p:nvPr/>
        </p:nvSpPr>
        <p:spPr>
          <a:xfrm>
            <a:off x="471542" y="54651"/>
            <a:ext cx="848309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600" b="1" dirty="0"/>
              <a:t>GRIP #4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5BAABA7-4863-8940-BD09-E4813C6D0667}"/>
              </a:ext>
            </a:extLst>
          </p:cNvPr>
          <p:cNvSpPr txBox="1"/>
          <p:nvPr/>
        </p:nvSpPr>
        <p:spPr>
          <a:xfrm>
            <a:off x="1319851" y="6587"/>
            <a:ext cx="283475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600" b="1" u="sng" dirty="0"/>
              <a:t>PITCHING TRAINING SCHEDULE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BC4595E-EDF3-6149-8039-B02B0B38D7C9}"/>
              </a:ext>
            </a:extLst>
          </p:cNvPr>
          <p:cNvSpPr txBox="1"/>
          <p:nvPr/>
        </p:nvSpPr>
        <p:spPr>
          <a:xfrm>
            <a:off x="9959466" y="-24191"/>
            <a:ext cx="223253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By Pitching Task Force</a:t>
            </a:r>
          </a:p>
        </p:txBody>
      </p:sp>
    </p:spTree>
    <p:extLst>
      <p:ext uri="{BB962C8B-B14F-4D97-AF65-F5344CB8AC3E}">
        <p14:creationId xmlns:p14="http://schemas.microsoft.com/office/powerpoint/2010/main" val="[redacted]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24</TotalTime>
  <Words>1355</Words>
  <Application>Microsoft Macintosh PowerPoint</Application>
  <PresentationFormat>Widescreen</PresentationFormat>
  <Paragraphs>455</Paragraphs>
  <Slides>3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8" baseType="lpstr">
      <vt:lpstr>Arial</vt:lpstr>
      <vt:lpstr>Calibri</vt:lpstr>
      <vt:lpstr>Calibri Light</vt:lpstr>
      <vt:lpstr>Times New Roman</vt:lpstr>
      <vt:lpstr>Office Theme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ns0:coreProperties xmlns:ns0="http://schemas.openxmlformats.org/package/2006/metadata/core-properties" xmlns:ns1="http://purl.org/dc/terms/" xmlns:xsi="http://www.w3.org/2001/XMLSchema-instance">
  <ns0:revision>2</ns0:revision>
  <ns1:created xsi:type="dcterms:W3CDTF">2020-08-22T10:24:55Z</ns1:created>
  <ns1:modified xsi:type="dcterms:W3CDTF">2020-10-20T13:50:20Z</ns1:modified>
</ns0:coreProperties>
</file>