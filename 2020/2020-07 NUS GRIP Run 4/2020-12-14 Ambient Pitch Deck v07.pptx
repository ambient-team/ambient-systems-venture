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redacted]" r:id="rId1"/>
  </p:sldMasterIdLst>
  <p:notesMasterIdLst>
    <p:notesMasterId r:id="rId16"/>
  </p:notesMasterIdLst>
  <p:handoutMasterIdLst>
    <p:handoutMasterId r:id="rId17"/>
  </p:handoutMasterIdLst>
  <p:sldIdLst>
    <p:sldId id="256" r:id="rId2"/>
    <p:sldId id="257" r:id="rId3"/>
    <p:sldId id="316" r:id="rId4"/>
    <p:sldId id="351" r:id="rId5"/>
    <p:sldId id="315" r:id="rId6"/>
    <p:sldId id="354" r:id="rId7"/>
    <p:sldId id="301" r:id="rId8"/>
    <p:sldId id="302" r:id="rId9"/>
    <p:sldId id="286" r:id="rId10"/>
    <p:sldId id="346" r:id="rId11"/>
    <p:sldId id="355" r:id="rId12"/>
    <p:sldId id="304" r:id="rId13"/>
    <p:sldId id="260" r:id="rId14"/>
    <p:sldId id="339" r:id="rId15"/>
  </p:sldIdLst>
  <p:sldSz cx="12192000" cy="6858000"/>
  <p:notesSz cx="6858000" cy="9144000"/>
  <p:defaultTextStyle>
    <a:defPPr>
      <a:defRPr lang="ar-L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2F2F2"/>
    <a:srgbClr val="000000"/>
    <a:srgbClr val="374F62"/>
    <a:srgbClr val="0312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5FA8FE-439D-124D-B85C-422D7D70930C}" v="1" dt="2020-12-14T03:10:15.4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55" autoAdjust="0"/>
    <p:restoredTop sz="72003"/>
  </p:normalViewPr>
  <p:slideViewPr>
    <p:cSldViewPr snapToGrid="0">
      <p:cViewPr varScale="1">
        <p:scale>
          <a:sx n="77" d="100"/>
          <a:sy n="77" d="100"/>
        </p:scale>
        <p:origin x="2128" y="184"/>
      </p:cViewPr>
      <p:guideLst/>
    </p:cSldViewPr>
  </p:slideViewPr>
  <p:notesTextViewPr>
    <p:cViewPr>
      <p:scale>
        <a:sx n="3" d="2"/>
        <a:sy n="3" d="2"/>
      </p:scale>
      <p:origin x="0" y="0"/>
    </p:cViewPr>
  </p:notesTextViewPr>
  <p:sorterViewPr>
    <p:cViewPr>
      <p:scale>
        <a:sx n="100" d="100"/>
        <a:sy n="100" d="100"/>
      </p:scale>
      <p:origin x="0" y="-10435"/>
    </p:cViewPr>
  </p:sorterViewPr>
  <p:notesViewPr>
    <p:cSldViewPr snapToGrid="0">
      <p:cViewPr varScale="1">
        <p:scale>
          <a:sx n="71" d="100"/>
          <a:sy n="71" d="100"/>
        </p:scale>
        <p:origin x="3592"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oleObject" Target="file:////Users/ivan/Downloads/2020-09%20BoM,%20Expenses,%20Pricing,%20and%20Financial%20Projections(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1"/>
        <c:ser>
          <c:idx val="0"/>
          <c:order val="0"/>
          <c:tx>
            <c:strRef>
              <c:f>'4A. Financial Projections (Base'!$B$29</c:f>
              <c:strCache>
                <c:ptCount val="1"/>
                <c:pt idx="0">
                  <c:v>Revenue</c:v>
                </c:pt>
              </c:strCache>
            </c:strRef>
          </c:tx>
          <c:spPr>
            <a:solidFill>
              <a:schemeClr val="accent1">
                <a:alpha val="30000"/>
              </a:schemeClr>
            </a:solidFill>
            <a:ln w="19050" cmpd="sng">
              <a:solidFill>
                <a:srgbClr val="4285F4"/>
              </a:solidFill>
            </a:ln>
          </c:spPr>
          <c:cat>
            <c:strRef>
              <c:f>'4A. Financial Projections (Base'!$C$9:$G$9</c:f>
              <c:strCache>
                <c:ptCount val="5"/>
                <c:pt idx="0">
                  <c:v>Year 1</c:v>
                </c:pt>
                <c:pt idx="1">
                  <c:v>Year 2</c:v>
                </c:pt>
                <c:pt idx="2">
                  <c:v>Year 3</c:v>
                </c:pt>
                <c:pt idx="3">
                  <c:v>Year 4</c:v>
                </c:pt>
                <c:pt idx="4">
                  <c:v>Year 5</c:v>
                </c:pt>
              </c:strCache>
            </c:strRef>
          </c:cat>
          <c:val>
            <c:numRef>
              <c:f>'4A. Financial Projections (Base'!$C$29:$G$29</c:f>
              <c:numCache>
                <c:formatCode>[$$]#,##0.00</c:formatCode>
                <c:ptCount val="5"/>
                <c:pt idx="0">
                  <c:v>0.5</c:v>
                </c:pt>
                <c:pt idx="1">
                  <c:v>1</c:v>
                </c:pt>
                <c:pt idx="2">
                  <c:v>3</c:v>
                </c:pt>
                <c:pt idx="3">
                  <c:v>6</c:v>
                </c:pt>
                <c:pt idx="4">
                  <c:v>12</c:v>
                </c:pt>
              </c:numCache>
            </c:numRef>
          </c:val>
          <c:extLst>
            <c:ext xmlns:c16="http://schemas.microsoft.com/office/drawing/2014/chart" uri="{C3380CC4-5D6E-409C-BE32-E72D297353CC}">
              <c16:uniqueId val="{00000000-CB4F-8B42-BCF9-2D91662BFB81}"/>
            </c:ext>
          </c:extLst>
        </c:ser>
        <c:ser>
          <c:idx val="1"/>
          <c:order val="1"/>
          <c:tx>
            <c:strRef>
              <c:f>'4A. Financial Projections (Base'!$B$32</c:f>
              <c:strCache>
                <c:ptCount val="1"/>
                <c:pt idx="0">
                  <c:v>Gross Profit</c:v>
                </c:pt>
              </c:strCache>
            </c:strRef>
          </c:tx>
          <c:spPr>
            <a:solidFill>
              <a:schemeClr val="accent2">
                <a:alpha val="30000"/>
              </a:schemeClr>
            </a:solidFill>
            <a:ln w="19050" cmpd="sng">
              <a:solidFill>
                <a:srgbClr val="EA4335"/>
              </a:solidFill>
            </a:ln>
          </c:spPr>
          <c:cat>
            <c:strRef>
              <c:f>'4A. Financial Projections (Base'!$C$9:$G$9</c:f>
              <c:strCache>
                <c:ptCount val="5"/>
                <c:pt idx="0">
                  <c:v>Year 1</c:v>
                </c:pt>
                <c:pt idx="1">
                  <c:v>Year 2</c:v>
                </c:pt>
                <c:pt idx="2">
                  <c:v>Year 3</c:v>
                </c:pt>
                <c:pt idx="3">
                  <c:v>Year 4</c:v>
                </c:pt>
                <c:pt idx="4">
                  <c:v>Year 5</c:v>
                </c:pt>
              </c:strCache>
            </c:strRef>
          </c:cat>
          <c:val>
            <c:numRef>
              <c:f>'4A. Financial Projections (Base'!$C$32:$G$32</c:f>
              <c:numCache>
                <c:formatCode>[$$]#,##0.00</c:formatCode>
                <c:ptCount val="5"/>
                <c:pt idx="0">
                  <c:v>0.4</c:v>
                </c:pt>
                <c:pt idx="1">
                  <c:v>0.8</c:v>
                </c:pt>
                <c:pt idx="2">
                  <c:v>2.4</c:v>
                </c:pt>
                <c:pt idx="3">
                  <c:v>4.8</c:v>
                </c:pt>
                <c:pt idx="4">
                  <c:v>9.6</c:v>
                </c:pt>
              </c:numCache>
            </c:numRef>
          </c:val>
          <c:extLst>
            <c:ext xmlns:c16="http://schemas.microsoft.com/office/drawing/2014/chart" uri="{C3380CC4-5D6E-409C-BE32-E72D297353CC}">
              <c16:uniqueId val="{00000001-CB4F-8B42-BCF9-2D91662BFB81}"/>
            </c:ext>
          </c:extLst>
        </c:ser>
        <c:ser>
          <c:idx val="2"/>
          <c:order val="2"/>
          <c:tx>
            <c:strRef>
              <c:f>'4A. Financial Projections (Base'!$B$37</c:f>
              <c:strCache>
                <c:ptCount val="1"/>
                <c:pt idx="0">
                  <c:v>Cumulative Net Cash Flow</c:v>
                </c:pt>
              </c:strCache>
            </c:strRef>
          </c:tx>
          <c:spPr>
            <a:solidFill>
              <a:srgbClr val="6AA84F">
                <a:alpha val="30000"/>
              </a:srgbClr>
            </a:solidFill>
            <a:ln w="19050" cmpd="sng">
              <a:solidFill>
                <a:srgbClr val="6AA84F"/>
              </a:solidFill>
            </a:ln>
          </c:spPr>
          <c:cat>
            <c:strRef>
              <c:f>'4A. Financial Projections (Base'!$C$9:$G$9</c:f>
              <c:strCache>
                <c:ptCount val="5"/>
                <c:pt idx="0">
                  <c:v>Year 1</c:v>
                </c:pt>
                <c:pt idx="1">
                  <c:v>Year 2</c:v>
                </c:pt>
                <c:pt idx="2">
                  <c:v>Year 3</c:v>
                </c:pt>
                <c:pt idx="3">
                  <c:v>Year 4</c:v>
                </c:pt>
                <c:pt idx="4">
                  <c:v>Year 5</c:v>
                </c:pt>
              </c:strCache>
            </c:strRef>
          </c:cat>
          <c:val>
            <c:numRef>
              <c:f>'4A. Financial Projections (Base'!$C$37:$G$37</c:f>
              <c:numCache>
                <c:formatCode>[$$]#,##0.00</c:formatCode>
                <c:ptCount val="5"/>
                <c:pt idx="0">
                  <c:v>-0.25</c:v>
                </c:pt>
                <c:pt idx="1">
                  <c:v>-0.25</c:v>
                </c:pt>
                <c:pt idx="2">
                  <c:v>1.25</c:v>
                </c:pt>
                <c:pt idx="3">
                  <c:v>5.05</c:v>
                </c:pt>
                <c:pt idx="4">
                  <c:v>13.149999999999999</c:v>
                </c:pt>
              </c:numCache>
            </c:numRef>
          </c:val>
          <c:extLst>
            <c:ext xmlns:c16="http://schemas.microsoft.com/office/drawing/2014/chart" uri="{C3380CC4-5D6E-409C-BE32-E72D297353CC}">
              <c16:uniqueId val="{00000002-CB4F-8B42-BCF9-2D91662BFB81}"/>
            </c:ext>
          </c:extLst>
        </c:ser>
        <c:dLbls>
          <c:showLegendKey val="0"/>
          <c:showVal val="0"/>
          <c:showCatName val="0"/>
          <c:showSerName val="0"/>
          <c:showPercent val="0"/>
          <c:showBubbleSize val="0"/>
        </c:dLbls>
        <c:axId val="1913028890"/>
        <c:axId val="81397368"/>
      </c:areaChart>
      <c:catAx>
        <c:axId val="1913028890"/>
        <c:scaling>
          <c:orientation val="minMax"/>
        </c:scaling>
        <c:delete val="0"/>
        <c:axPos val="b"/>
        <c:title>
          <c:tx>
            <c:rich>
              <a:bodyPr/>
              <a:lstStyle/>
              <a:p>
                <a:pPr>
                  <a:defRPr/>
                </a:pPr>
                <a:endParaRPr lang="en-CA"/>
              </a:p>
            </c:rich>
          </c:tx>
          <c:overlay val="0"/>
        </c:title>
        <c:numFmt formatCode="General" sourceLinked="1"/>
        <c:majorTickMark val="none"/>
        <c:minorTickMark val="none"/>
        <c:tickLblPos val="nextTo"/>
        <c:crossAx val="81397368"/>
        <c:crosses val="autoZero"/>
        <c:auto val="1"/>
        <c:lblAlgn val="ctr"/>
        <c:lblOffset val="100"/>
        <c:noMultiLvlLbl val="1"/>
      </c:catAx>
      <c:valAx>
        <c:axId val="81397368"/>
        <c:scaling>
          <c:orientation val="minMax"/>
        </c:scaling>
        <c:delete val="0"/>
        <c:axPos val="l"/>
        <c:majorGridlines>
          <c:spPr>
            <a:ln>
              <a:solidFill>
                <a:srgbClr val="B7B7B7"/>
              </a:solidFill>
            </a:ln>
          </c:spPr>
        </c:majorGridlines>
        <c:minorGridlines>
          <c:spPr>
            <a:ln>
              <a:solidFill>
                <a:srgbClr val="CCCCCC">
                  <a:alpha val="0"/>
                </a:srgbClr>
              </a:solidFill>
            </a:ln>
          </c:spPr>
        </c:minorGridlines>
        <c:title>
          <c:tx>
            <c:rich>
              <a:bodyPr/>
              <a:lstStyle/>
              <a:p>
                <a:pPr>
                  <a:defRPr/>
                </a:pPr>
                <a:endParaRPr lang="en-CA"/>
              </a:p>
            </c:rich>
          </c:tx>
          <c:overlay val="0"/>
        </c:title>
        <c:numFmt formatCode="[$$-380A]\ #,##0" sourceLinked="0"/>
        <c:majorTickMark val="none"/>
        <c:minorTickMark val="none"/>
        <c:tickLblPos val="nextTo"/>
        <c:spPr>
          <a:ln/>
        </c:spPr>
        <c:crossAx val="1913028890"/>
        <c:crosses val="autoZero"/>
        <c:crossBetween val="midCat"/>
      </c:valAx>
    </c:plotArea>
    <c:legend>
      <c:legendPos val="r"/>
      <c:overlay val="0"/>
    </c:legend>
    <c:plotVisOnly val="1"/>
    <c:dispBlanksAs val="zero"/>
    <c:showDLblsOverMax val="1"/>
  </c:chart>
  <c:txPr>
    <a:bodyPr/>
    <a:lstStyle/>
    <a:p>
      <a:pPr>
        <a:defRPr sz="1600">
          <a:solidFill>
            <a:schemeClr val="bg1"/>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1DE2F5-EF6D-CF44-838E-0382429904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F98BD78-F6B4-1C4C-AAED-AD34C5F0A9E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561EF4-4A4D-8F41-AF1E-1283D4E85A54}" type="datetimeFigureOut">
              <a:rPr lang="en-US" smtClean="0"/>
              <a:t>12/14/20</a:t>
            </a:fld>
            <a:endParaRPr lang="en-US"/>
          </a:p>
        </p:txBody>
      </p:sp>
      <p:sp>
        <p:nvSpPr>
          <p:cNvPr id="4" name="Footer Placeholder 3">
            <a:extLst>
              <a:ext uri="{FF2B5EF4-FFF2-40B4-BE49-F238E27FC236}">
                <a16:creationId xmlns:a16="http://schemas.microsoft.com/office/drawing/2014/main" id="{BA6AFDFD-60B2-2543-A713-C54029414B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7BD8B62-6143-CE41-82FE-4F99E68794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4BACE9-0E6B-6345-894C-C0F23B72EA18}" type="slidenum">
              <a:rPr lang="en-US" smtClean="0"/>
              <a:t>‹#›</a:t>
            </a:fld>
            <a:endParaRPr lang="en-US"/>
          </a:p>
        </p:txBody>
      </p:sp>
    </p:spTree>
    <p:extLst>
      <p:ext uri="{BB962C8B-B14F-4D97-AF65-F5344CB8AC3E}">
        <p14:creationId xmlns:p14="http://schemas.microsoft.com/office/powerpoint/2010/main" val="[redacted]"/>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L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59049653-3E1F-4EE1-B1F7-25A06F5BDB22}" type="datetimeFigureOut">
              <a:rPr lang="ar-LY" smtClean="0"/>
              <a:t>29‏/4‏/1442</a:t>
            </a:fld>
            <a:endParaRPr lang="ar-L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L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L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L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C906DC70-5E63-44E8-9C18-D79E67272429}" type="slidenum">
              <a:rPr lang="ar-LY" smtClean="0"/>
              <a:t>‹#›</a:t>
            </a:fld>
            <a:endParaRPr lang="ar-LY"/>
          </a:p>
        </p:txBody>
      </p:sp>
    </p:spTree>
    <p:extLst>
      <p:ext uri="{BB962C8B-B14F-4D97-AF65-F5344CB8AC3E}">
        <p14:creationId xmlns:p14="http://schemas.microsoft.com/office/powerpoint/2010/main" val="836499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06DC70-5E63-44E8-9C18-D79E67272429}" type="slidenum">
              <a:rPr lang="ar-LY" smtClean="0"/>
              <a:t>0</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The challenge we are looking into affects us all.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Modern buildings face many challenges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They protect us from the environment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But, at the same time they are being pushed to the limit by these 5 trends</a:t>
            </a:r>
          </a:p>
        </p:txBody>
      </p:sp>
      <p:sp>
        <p:nvSpPr>
          <p:cNvPr id="4" name="Slide Number Placeholder 3"/>
          <p:cNvSpPr>
            <a:spLocks noGrp="1"/>
          </p:cNvSpPr>
          <p:nvPr>
            <p:ph type="sldNum" sz="quarter" idx="5"/>
          </p:nvPr>
        </p:nvSpPr>
        <p:spPr/>
        <p:txBody>
          <a:bodyPr/>
          <a:lstStyle/>
          <a:p>
            <a:fld id="{C906DC70-5E63-44E8-9C18-D79E67272429}" type="slidenum">
              <a:rPr lang="ar-LY" smtClean="0"/>
              <a:t>1</a:t>
            </a:fld>
            <a:endParaRPr lang="ar-LY"/>
          </a:p>
        </p:txBody>
      </p:sp>
    </p:spTree>
    <p:extLst>
      <p:ext uri="{BB962C8B-B14F-4D97-AF65-F5344CB8AC3E}">
        <p14:creationId xmlns:p14="http://schemas.microsoft.com/office/powerpoint/2010/main" val="39354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9e84ca64ae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9e84ca64ae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More specifically, buildings used for indoor farming present a big opportunity because the industry is growing and the current solutions are inadequate</a:t>
            </a:r>
          </a:p>
          <a:p>
            <a:pPr marL="171450" lvl="0" indent="-171450" algn="l" rtl="0">
              <a:spcBef>
                <a:spcPts val="0"/>
              </a:spcBef>
              <a:spcAft>
                <a:spcPts val="0"/>
              </a:spcAft>
              <a:buFont typeface="Arial" panose="020B0604020202020204" pitchFamily="34" charset="0"/>
              <a:buChar char="•"/>
            </a:pPr>
            <a:r>
              <a:rPr lang="en-CA" sz="1200" b="0" i="0" kern="1200" dirty="0">
                <a:solidFill>
                  <a:schemeClr val="tx1"/>
                </a:solidFill>
                <a:effectLst/>
                <a:latin typeface="+mn-lt"/>
                <a:ea typeface="+mn-ea"/>
                <a:cs typeface="+mn-cs"/>
              </a:rPr>
              <a:t>Here are some details about the market potential</a:t>
            </a:r>
          </a:p>
          <a:p>
            <a:pPr marL="171450" lvl="0" indent="-171450" algn="l" rtl="0">
              <a:spcBef>
                <a:spcPts val="0"/>
              </a:spcBef>
              <a:spcAft>
                <a:spcPts val="0"/>
              </a:spcAft>
              <a:buFont typeface="Arial" panose="020B0604020202020204" pitchFamily="34" charset="0"/>
              <a:buChar char="•"/>
            </a:pPr>
            <a:endParaRPr lang="en-CA"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886596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Exploring the specific challenges of managing indoor farms, our customer faces many inter-linked and complex challenges: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chemeClr val="bg1"/>
                </a:solidFill>
              </a:rPr>
              <a:t>Operational data from the farmer is not taken into consideration when optimizing the indoor environment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Data is usually stored on-site with no or minimal visibility by the farm operator</a:t>
            </a:r>
            <a:endParaRPr lang="en-US" sz="1200" dirty="0">
              <a:solidFill>
                <a:schemeClr val="bg1"/>
              </a:solidFill>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Current solutions operate on pre-determined schedules for several months at a time, which is not sensitive enough for crop growth</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The operator must manually combine readings from various farm sensors before being able to determine optimal environmental conditions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After the data is analyzed, the farm operator needs to determine how to program the existing air conditioning and mechanical ventilation (ACMV) equipment to achieve the optimal targets.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CA" sz="1200" kern="1200" dirty="0">
                <a:solidFill>
                  <a:schemeClr val="tx1"/>
                </a:solidFill>
                <a:effectLst/>
                <a:latin typeface="+mn-lt"/>
                <a:ea typeface="+mn-ea"/>
                <a:cs typeface="+mn-cs"/>
              </a:rPr>
              <a:t>This last step is often a complex process done by professional engineers since it requires considering multiple and sometimes competing priorities, such as balancing temperature, humidity, and ventilation requirements, along with building standards and guidelines, especially if the facility is used not only for farming activities.</a:t>
            </a:r>
            <a:endParaRPr lang="en-CA" sz="1200" dirty="0"/>
          </a:p>
        </p:txBody>
      </p:sp>
      <p:sp>
        <p:nvSpPr>
          <p:cNvPr id="4" name="Slide Number Placeholder 3"/>
          <p:cNvSpPr>
            <a:spLocks noGrp="1"/>
          </p:cNvSpPr>
          <p:nvPr>
            <p:ph type="sldNum" sz="quarter" idx="5"/>
          </p:nvPr>
        </p:nvSpPr>
        <p:spPr/>
        <p:txBody>
          <a:bodyPr/>
          <a:lstStyle/>
          <a:p>
            <a:fld id="{C906DC70-5E63-44E8-9C18-D79E67272429}" type="slidenum">
              <a:rPr lang="ar-LY" smtClean="0"/>
              <a:t>3</a:t>
            </a:fld>
            <a:endParaRPr lang="ar-LY"/>
          </a:p>
        </p:txBody>
      </p:sp>
    </p:spTree>
    <p:extLst>
      <p:ext uri="{BB962C8B-B14F-4D97-AF65-F5344CB8AC3E}">
        <p14:creationId xmlns:p14="http://schemas.microsoft.com/office/powerpoint/2010/main" val="1905305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r>
              <a:rPr lang="en-CA" dirty="0"/>
              <a:t>We propose the comprehensive Ambient Platform that is a connected, centralized, and automated way to manage buildings used for indoor farming.</a:t>
            </a:r>
            <a:endParaRPr lang="ar-LY" dirty="0"/>
          </a:p>
        </p:txBody>
      </p:sp>
      <p:sp>
        <p:nvSpPr>
          <p:cNvPr id="4" name="Slide Number Placeholder 3"/>
          <p:cNvSpPr>
            <a:spLocks noGrp="1"/>
          </p:cNvSpPr>
          <p:nvPr>
            <p:ph type="sldNum" sz="quarter" idx="5"/>
          </p:nvPr>
        </p:nvSpPr>
        <p:spPr/>
        <p:txBody>
          <a:bodyPr/>
          <a:lstStyle/>
          <a:p>
            <a:fld id="{11288290-3635-45F6-992E-4CD6FB6A46D7}" type="slidenum">
              <a:rPr lang="ar-LY" smtClean="0"/>
              <a:t>4</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developed a diverse IP portfolio for our solution.</a:t>
            </a:r>
          </a:p>
          <a:p>
            <a:r>
              <a:rPr lang="en-US" dirty="0"/>
              <a:t>Core pillar is the patent which consists of the method for automated climate management for indoor farming facilities</a:t>
            </a:r>
          </a:p>
          <a:p>
            <a:r>
              <a:rPr lang="en-US" dirty="0"/>
              <a:t>The automation engine is implemented through the copyrighted database design and algorithms</a:t>
            </a:r>
          </a:p>
          <a:p>
            <a:r>
              <a:rPr lang="en-US" dirty="0"/>
              <a:t>Finally, we have collected real-world operational data on how to create an optimal indoor environment, giving us an edge in the market</a:t>
            </a:r>
          </a:p>
        </p:txBody>
      </p:sp>
      <p:sp>
        <p:nvSpPr>
          <p:cNvPr id="4" name="Slide Number Placeholder 3"/>
          <p:cNvSpPr>
            <a:spLocks noGrp="1"/>
          </p:cNvSpPr>
          <p:nvPr>
            <p:ph type="sldNum" sz="quarter" idx="5"/>
          </p:nvPr>
        </p:nvSpPr>
        <p:spPr/>
        <p:txBody>
          <a:bodyPr/>
          <a:lstStyle/>
          <a:p>
            <a:fld id="{C906DC70-5E63-44E8-9C18-D79E67272429}" type="slidenum">
              <a:rPr lang="ar-LY" smtClean="0"/>
              <a:t>5</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a step back to look at high-level market, we note that Ambient is not competing directly with a particular company or product.</a:t>
            </a:r>
          </a:p>
          <a:p>
            <a:br>
              <a:rPr lang="en-US" dirty="0"/>
            </a:br>
            <a:r>
              <a:rPr lang="en-US" dirty="0"/>
              <a:t>Instead, Ambient is positioned at the intersection of multiple segments in order to provide a tailored solution for the indoor farming beachhead market.</a:t>
            </a:r>
          </a:p>
        </p:txBody>
      </p:sp>
      <p:sp>
        <p:nvSpPr>
          <p:cNvPr id="4" name="Slide Number Placeholder 3"/>
          <p:cNvSpPr>
            <a:spLocks noGrp="1"/>
          </p:cNvSpPr>
          <p:nvPr>
            <p:ph type="sldNum" sz="quarter" idx="5"/>
          </p:nvPr>
        </p:nvSpPr>
        <p:spPr/>
        <p:txBody>
          <a:bodyPr/>
          <a:lstStyle/>
          <a:p>
            <a:fld id="{C906DC70-5E63-44E8-9C18-D79E67272429}" type="slidenum">
              <a:rPr lang="ar-LY" smtClean="0"/>
              <a:t>6</a:t>
            </a:fld>
            <a:endParaRPr lang="ar-LY"/>
          </a:p>
        </p:txBody>
      </p:sp>
    </p:spTree>
    <p:extLst>
      <p:ext uri="{BB962C8B-B14F-4D97-AF65-F5344CB8AC3E}">
        <p14:creationId xmlns:p14="http://schemas.microsoft.com/office/powerpoint/2010/main" val="497925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We picked the top player in three of the segments listed before to highlight advantages of the Ambient solution.</a:t>
            </a:r>
          </a:p>
          <a:p>
            <a:r>
              <a:rPr lang="en-US" dirty="0"/>
              <a:t>What makes most different is how we combine these components together to create an optimal indoor environment.</a:t>
            </a:r>
          </a:p>
          <a:p>
            <a:r>
              <a:rPr lang="en-US" dirty="0"/>
              <a:t>This is the key differentiator of our technology.</a:t>
            </a:r>
          </a:p>
        </p:txBody>
      </p:sp>
      <p:sp>
        <p:nvSpPr>
          <p:cNvPr id="4" name="Slide Number Placeholder 3"/>
          <p:cNvSpPr>
            <a:spLocks noGrp="1"/>
          </p:cNvSpPr>
          <p:nvPr>
            <p:ph type="sldNum" sz="quarter" idx="5"/>
          </p:nvPr>
        </p:nvSpPr>
        <p:spPr/>
        <p:txBody>
          <a:bodyPr/>
          <a:lstStyle/>
          <a:p>
            <a:fld id="{C906DC70-5E63-44E8-9C18-D79E67272429}" type="slidenum">
              <a:rPr lang="ar-LY" smtClean="0"/>
              <a:t>7</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a4ed5fc9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a4ed5fc9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CA" dirty="0"/>
              <a:t>In addition to the technology, Ambient has a competitive advantage based on our innovative business model.</a:t>
            </a:r>
          </a:p>
          <a:p>
            <a:pPr marL="0" lvl="0" indent="0" algn="l" rtl="0">
              <a:spcBef>
                <a:spcPts val="0"/>
              </a:spcBef>
              <a:spcAft>
                <a:spcPts val="0"/>
              </a:spcAft>
              <a:buClr>
                <a:schemeClr val="dk1"/>
              </a:buClr>
              <a:buSzPts val="1100"/>
              <a:buFont typeface="Arial"/>
              <a:buNone/>
            </a:pPr>
            <a:endParaRPr lang="en-CA" dirty="0"/>
          </a:p>
          <a:p>
            <a:pPr marL="0" lvl="0" indent="0" algn="l" rtl="0">
              <a:spcBef>
                <a:spcPts val="0"/>
              </a:spcBef>
              <a:spcAft>
                <a:spcPts val="0"/>
              </a:spcAft>
              <a:buClr>
                <a:schemeClr val="dk1"/>
              </a:buClr>
              <a:buSzPts val="1100"/>
              <a:buFont typeface="Arial"/>
              <a:buNone/>
            </a:pPr>
            <a:r>
              <a:rPr lang="en-CA" dirty="0"/>
              <a:t>We are splitting revenue into two streams:</a:t>
            </a:r>
          </a:p>
          <a:p>
            <a:pPr marL="0" lvl="0" indent="0" algn="l" rtl="0">
              <a:spcBef>
                <a:spcPts val="0"/>
              </a:spcBef>
              <a:spcAft>
                <a:spcPts val="0"/>
              </a:spcAft>
              <a:buClr>
                <a:schemeClr val="dk1"/>
              </a:buClr>
              <a:buSzPts val="1100"/>
              <a:buFont typeface="Arial"/>
              <a:buNone/>
            </a:pPr>
            <a:r>
              <a:rPr lang="en-CA" dirty="0"/>
              <a:t>1. CAPEX: covered by the customer</a:t>
            </a:r>
          </a:p>
          <a:p>
            <a:pPr marL="0" lvl="0" indent="0" algn="l" rtl="0">
              <a:spcBef>
                <a:spcPts val="0"/>
              </a:spcBef>
              <a:spcAft>
                <a:spcPts val="0"/>
              </a:spcAft>
              <a:buClr>
                <a:schemeClr val="dk1"/>
              </a:buClr>
              <a:buSzPts val="1100"/>
              <a:buFont typeface="Arial"/>
              <a:buNone/>
            </a:pPr>
            <a:r>
              <a:rPr lang="en-CA" dirty="0"/>
              <a:t>2. OPEX: shared based on additional value generated</a:t>
            </a:r>
            <a:endParaRPr dirty="0"/>
          </a:p>
        </p:txBody>
      </p:sp>
    </p:spTree>
    <p:extLst>
      <p:ext uri="{BB962C8B-B14F-4D97-AF65-F5344CB8AC3E}">
        <p14:creationId xmlns:p14="http://schemas.microsoft.com/office/powerpoint/2010/main" val="1254964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something that has received interest in the market</a:t>
            </a:r>
          </a:p>
          <a:p>
            <a:endParaRPr lang="en-US" dirty="0"/>
          </a:p>
          <a:p>
            <a:r>
              <a:rPr lang="en-US" dirty="0"/>
              <a:t>We have also identified the opportunity for something similar in other building segments.</a:t>
            </a:r>
          </a:p>
          <a:p>
            <a:endParaRPr lang="en-US" dirty="0"/>
          </a:p>
          <a:p>
            <a:r>
              <a:rPr lang="en-US" dirty="0"/>
              <a:t>We have spoken with one of the largest hospital facility managers in SEA and they have indicated there is a similar gap for this kind of solution</a:t>
            </a:r>
          </a:p>
        </p:txBody>
      </p:sp>
      <p:sp>
        <p:nvSpPr>
          <p:cNvPr id="4" name="Slide Number Placeholder 3"/>
          <p:cNvSpPr>
            <a:spLocks noGrp="1"/>
          </p:cNvSpPr>
          <p:nvPr>
            <p:ph type="sldNum" sz="quarter" idx="5"/>
          </p:nvPr>
        </p:nvSpPr>
        <p:spPr/>
        <p:txBody>
          <a:bodyPr/>
          <a:lstStyle/>
          <a:p>
            <a:fld id="{C906DC70-5E63-44E8-9C18-D79E67272429}" type="slidenum">
              <a:rPr lang="ar-LY" smtClean="0"/>
              <a:t>9</a:t>
            </a:fld>
            <a:endParaRPr lang="ar-LY"/>
          </a:p>
        </p:txBody>
      </p:sp>
    </p:spTree>
    <p:extLst>
      <p:ext uri="{BB962C8B-B14F-4D97-AF65-F5344CB8AC3E}">
        <p14:creationId xmlns:p14="http://schemas.microsoft.com/office/powerpoint/2010/main" val="773092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terms of the financials, we are projected to break even shortly after two years.</a:t>
            </a:r>
          </a:p>
          <a:p>
            <a:endParaRPr lang="en-US" dirty="0"/>
          </a:p>
          <a:p>
            <a:r>
              <a:rPr lang="en-US" dirty="0"/>
              <a:t>Currently raising $650k</a:t>
            </a:r>
          </a:p>
          <a:p>
            <a:r>
              <a:rPr lang="en-US" dirty="0"/>
              <a:t>At an estimated 5-year valuation of $8.5M</a:t>
            </a:r>
          </a:p>
          <a:p>
            <a:r>
              <a:rPr lang="en-US" dirty="0"/>
              <a:t>Based on a 10% discount rate</a:t>
            </a:r>
          </a:p>
          <a:p>
            <a:endParaRPr lang="en-US" dirty="0"/>
          </a:p>
          <a:p>
            <a:r>
              <a:rPr lang="en-US" dirty="0"/>
              <a:t>I can share more details on the financials afterwards.</a:t>
            </a:r>
          </a:p>
        </p:txBody>
      </p:sp>
      <p:sp>
        <p:nvSpPr>
          <p:cNvPr id="4" name="Slide Number Placeholder 3"/>
          <p:cNvSpPr>
            <a:spLocks noGrp="1"/>
          </p:cNvSpPr>
          <p:nvPr>
            <p:ph type="sldNum" sz="quarter" idx="5"/>
          </p:nvPr>
        </p:nvSpPr>
        <p:spPr/>
        <p:txBody>
          <a:bodyPr/>
          <a:lstStyle/>
          <a:p>
            <a:fld id="{C906DC70-5E63-44E8-9C18-D79E67272429}" type="slidenum">
              <a:rPr lang="ar-LY" smtClean="0"/>
              <a:t>10</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a4ed5fc97f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In terms of the key milestones, we are focusing on increasing the number of customers by ramping up technology development.</a:t>
            </a:r>
          </a:p>
          <a:p>
            <a:pPr marL="0" lvl="0" indent="0" algn="l" rtl="0">
              <a:spcBef>
                <a:spcPts val="0"/>
              </a:spcBef>
              <a:spcAft>
                <a:spcPts val="0"/>
              </a:spcAft>
              <a:buNone/>
            </a:pPr>
            <a:r>
              <a:rPr lang="en-CA" dirty="0"/>
              <a:t>We have three streams of technology development, consisting of software, hardware, and machine learning. Our co-design process of these components makes Ambient's solution unique.</a:t>
            </a:r>
            <a:endParaRPr dirty="0"/>
          </a:p>
        </p:txBody>
      </p:sp>
      <p:sp>
        <p:nvSpPr>
          <p:cNvPr id="255" name="Google Shape;255;ga4ed5fc97f_0_41:notes"/>
          <p:cNvSpPr>
            <a:spLocks noGrp="1" noRot="1" noChangeAspect="1"/>
          </p:cNvSpPr>
          <p:nvPr>
            <p:ph type="sldImg" idx="2"/>
          </p:nvPr>
        </p:nvSpPr>
        <p:spPr>
          <a:xfrm>
            <a:off x="381000" y="685800"/>
            <a:ext cx="6094413"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0831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90c5025bc6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CA" dirty="0"/>
              <a:t>Our team is uniquely positioned to solve this challenge.</a:t>
            </a:r>
          </a:p>
          <a:p>
            <a:pPr marL="0" lvl="0" indent="0" algn="l" rtl="0">
              <a:lnSpc>
                <a:spcPct val="100000"/>
              </a:lnSpc>
              <a:spcBef>
                <a:spcPts val="0"/>
              </a:spcBef>
              <a:spcAft>
                <a:spcPts val="0"/>
              </a:spcAft>
              <a:buNone/>
            </a:pPr>
            <a:r>
              <a:rPr lang="en-CA" dirty="0"/>
              <a:t>We have engineering backgrounds and experience in leading organizations backed by notable investors such as Y Combinator, [Team member], and Audi.</a:t>
            </a:r>
          </a:p>
          <a:p>
            <a:pPr marL="0" lvl="0" indent="0" algn="l" rtl="0">
              <a:lnSpc>
                <a:spcPct val="100000"/>
              </a:lnSpc>
              <a:spcBef>
                <a:spcPts val="0"/>
              </a:spcBef>
              <a:spcAft>
                <a:spcPts val="0"/>
              </a:spcAft>
              <a:buNone/>
            </a:pPr>
            <a:r>
              <a:rPr lang="en-CA" dirty="0"/>
              <a:t>We are also negotiating with additional team members to bring in AI and market development expertise to help us reach our market more quickly.</a:t>
            </a:r>
          </a:p>
        </p:txBody>
      </p:sp>
      <p:sp>
        <p:nvSpPr>
          <p:cNvPr id="995" name="Google Shape;995;g90c5025bc6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6764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06DC70-5E63-44E8-9C18-D79E67272429}" type="slidenum">
              <a:rPr lang="ar-LY" smtClean="0"/>
              <a:t>13</a:t>
            </a:fld>
            <a:endParaRPr lang="ar-LY"/>
          </a:p>
        </p:txBody>
      </p:sp>
    </p:spTree>
    <p:extLst>
      <p:ext uri="{BB962C8B-B14F-4D97-AF65-F5344CB8AC3E}">
        <p14:creationId xmlns:p14="http://schemas.microsoft.com/office/powerpoint/2010/main" val="1831559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F96B3-84B4-4B2C-83AE-DE[redacted]}"/>
              </a:ext>
            </a:extLst>
          </p:cNvPr>
          <p:cNvSpPr>
            <a:spLocks noGrp="1"/>
          </p:cNvSpPr>
          <p:nvPr>
            <p:ph type="title"/>
          </p:nvPr>
        </p:nvSpPr>
        <p:spPr/>
        <p:txBody>
          <a:bodyPr/>
          <a:lstStyle>
            <a:lvl1pPr>
              <a:defRPr>
                <a:solidFill>
                  <a:schemeClr val="bg1"/>
                </a:solidFill>
              </a:defRPr>
            </a:lvl1pPr>
          </a:lstStyle>
          <a:p>
            <a:r>
              <a:rPr lang="en-US" dirty="0"/>
              <a:t>Click to edit Master title style</a:t>
            </a:r>
            <a:endParaRPr lang="ar-LY" dirty="0"/>
          </a:p>
        </p:txBody>
      </p:sp>
      <p:sp>
        <p:nvSpPr>
          <p:cNvPr id="3" name="Date Placeholder 2">
            <a:extLst>
              <a:ext uri="{FF2B5EF4-FFF2-40B4-BE49-F238E27FC236}">
                <a16:creationId xmlns:a16="http://schemas.microsoft.com/office/drawing/2014/main" id="{0E8ADB45-04E0-46B0-A8FF-9887850F5232}"/>
              </a:ext>
            </a:extLst>
          </p:cNvPr>
          <p:cNvSpPr>
            <a:spLocks noGrp="1"/>
          </p:cNvSpPr>
          <p:nvPr>
            <p:ph type="dt" sz="half" idx="10"/>
          </p:nvPr>
        </p:nvSpPr>
        <p:spPr/>
        <p:txBody>
          <a:bodyPr/>
          <a:lstStyle>
            <a:lvl1pPr>
              <a:defRPr sz="1600"/>
            </a:lvl1pPr>
          </a:lstStyle>
          <a:p>
            <a:fld id="{A131A5CF-817D-314C-B15B-6D5F0E6CAFE4}" type="datetime1">
              <a:rPr lang="en-CA" smtClean="0"/>
              <a:t>2020-12-14</a:t>
            </a:fld>
            <a:endParaRPr lang="ar-LY"/>
          </a:p>
        </p:txBody>
      </p:sp>
      <p:sp>
        <p:nvSpPr>
          <p:cNvPr id="4" name="Footer Placeholder 3">
            <a:extLst>
              <a:ext uri="{FF2B5EF4-FFF2-40B4-BE49-F238E27FC236}">
                <a16:creationId xmlns:a16="http://schemas.microsoft.com/office/drawing/2014/main" id="{119B9A27-5DA5-4BB0-A567-275F82A0F989}"/>
              </a:ext>
            </a:extLst>
          </p:cNvPr>
          <p:cNvSpPr>
            <a:spLocks noGrp="1"/>
          </p:cNvSpPr>
          <p:nvPr>
            <p:ph type="ftr" sz="quarter" idx="11"/>
          </p:nvPr>
        </p:nvSpPr>
        <p:spPr/>
        <p:txBody>
          <a:bodyPr/>
          <a:lstStyle>
            <a:lvl1pPr>
              <a:defRPr sz="1600"/>
            </a:lvl1pPr>
          </a:lstStyle>
          <a:p>
            <a:endParaRPr lang="ar-LY" sz="1600"/>
          </a:p>
        </p:txBody>
      </p:sp>
      <p:sp>
        <p:nvSpPr>
          <p:cNvPr id="6" name="Slide Number Placeholder 5">
            <a:extLst>
              <a:ext uri="{FF2B5EF4-FFF2-40B4-BE49-F238E27FC236}">
                <a16:creationId xmlns:a16="http://schemas.microsoft.com/office/drawing/2014/main" id="{DF9F2702-A686-3444-A7C2-C7424DD4DA7E}"/>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F4CEF7-7F83-4E12-A932-FC45DBA5622B}"/>
              </a:ext>
            </a:extLst>
          </p:cNvPr>
          <p:cNvSpPr>
            <a:spLocks noGrp="1"/>
          </p:cNvSpPr>
          <p:nvPr>
            <p:ph type="dt" sz="half" idx="10"/>
          </p:nvPr>
        </p:nvSpPr>
        <p:spPr/>
        <p:txBody>
          <a:bodyPr/>
          <a:lstStyle/>
          <a:p>
            <a:fld id="{319FD17B-18D6-8447-B9D8-B57D07AD6FD7}" type="datetime1">
              <a:rPr lang="en-CA" smtClean="0"/>
              <a:t>2020-12-14</a:t>
            </a:fld>
            <a:endParaRPr lang="ar-LY"/>
          </a:p>
        </p:txBody>
      </p:sp>
      <p:sp>
        <p:nvSpPr>
          <p:cNvPr id="3" name="Footer Placeholder 2">
            <a:extLst>
              <a:ext uri="{FF2B5EF4-FFF2-40B4-BE49-F238E27FC236}">
                <a16:creationId xmlns:a16="http://schemas.microsoft.com/office/drawing/2014/main" id="{3519D36F-29DE-4CFE-8462-7F7720A72D9D}"/>
              </a:ext>
            </a:extLst>
          </p:cNvPr>
          <p:cNvSpPr>
            <a:spLocks noGrp="1"/>
          </p:cNvSpPr>
          <p:nvPr>
            <p:ph type="ftr" sz="quarter" idx="11"/>
          </p:nvPr>
        </p:nvSpPr>
        <p:spPr/>
        <p:txBody>
          <a:bodyPr/>
          <a:lstStyle/>
          <a:p>
            <a:endParaRPr lang="ar-LY"/>
          </a:p>
        </p:txBody>
      </p:sp>
      <p:sp>
        <p:nvSpPr>
          <p:cNvPr id="5" name="Slide Number Placeholder 5">
            <a:extLst>
              <a:ext uri="{FF2B5EF4-FFF2-40B4-BE49-F238E27FC236}">
                <a16:creationId xmlns:a16="http://schemas.microsoft.com/office/drawing/2014/main" id="{E0AC5333-3DD9-5E48-837C-3569DC2D1DA3}"/>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9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D2A266A-5972-4C18-901A-C1D0B8EC99A5}"/>
              </a:ext>
            </a:extLst>
          </p:cNvPr>
          <p:cNvSpPr>
            <a:spLocks noGrp="1"/>
          </p:cNvSpPr>
          <p:nvPr>
            <p:ph type="pic" sz="quarter" idx="13"/>
          </p:nvPr>
        </p:nvSpPr>
        <p:spPr>
          <a:xfrm>
            <a:off x="230982" y="225266"/>
            <a:ext cx="11730039" cy="4457700"/>
          </a:xfrm>
          <a:custGeom>
            <a:avLst/>
            <a:gdLst>
              <a:gd name="connsiteX0" fmla="*/ 168590 w 11730038"/>
              <a:gd name="connsiteY0" fmla="*/ 0 h 4457700"/>
              <a:gd name="connsiteX1" fmla="*/ 11561448 w 11730038"/>
              <a:gd name="connsiteY1" fmla="*/ 0 h 4457700"/>
              <a:gd name="connsiteX2" fmla="*/ 11730038 w 11730038"/>
              <a:gd name="connsiteY2" fmla="*/ 168590 h 4457700"/>
              <a:gd name="connsiteX3" fmla="*/ 11730038 w 11730038"/>
              <a:gd name="connsiteY3" fmla="*/ 4289110 h 4457700"/>
              <a:gd name="connsiteX4" fmla="*/ 11561448 w 11730038"/>
              <a:gd name="connsiteY4" fmla="*/ 4457700 h 4457700"/>
              <a:gd name="connsiteX5" fmla="*/ 168590 w 11730038"/>
              <a:gd name="connsiteY5" fmla="*/ 4457700 h 4457700"/>
              <a:gd name="connsiteX6" fmla="*/ 0 w 11730038"/>
              <a:gd name="connsiteY6" fmla="*/ 4289110 h 4457700"/>
              <a:gd name="connsiteX7" fmla="*/ 0 w 11730038"/>
              <a:gd name="connsiteY7" fmla="*/ 168590 h 4457700"/>
              <a:gd name="connsiteX8" fmla="*/ 168590 w 11730038"/>
              <a:gd name="connsiteY8" fmla="*/ 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30038" h="4457700">
                <a:moveTo>
                  <a:pt x="168590" y="0"/>
                </a:moveTo>
                <a:lnTo>
                  <a:pt x="11561448" y="0"/>
                </a:lnTo>
                <a:cubicBezTo>
                  <a:pt x="11654558" y="0"/>
                  <a:pt x="11730038" y="75480"/>
                  <a:pt x="11730038" y="168590"/>
                </a:cubicBezTo>
                <a:lnTo>
                  <a:pt x="11730038" y="4289110"/>
                </a:lnTo>
                <a:cubicBezTo>
                  <a:pt x="11730038" y="4382220"/>
                  <a:pt x="11654558" y="4457700"/>
                  <a:pt x="11561448" y="4457700"/>
                </a:cubicBezTo>
                <a:lnTo>
                  <a:pt x="168590" y="4457700"/>
                </a:lnTo>
                <a:cubicBezTo>
                  <a:pt x="75480" y="4457700"/>
                  <a:pt x="0" y="4382220"/>
                  <a:pt x="0" y="4289110"/>
                </a:cubicBezTo>
                <a:lnTo>
                  <a:pt x="0" y="168590"/>
                </a:lnTo>
                <a:cubicBezTo>
                  <a:pt x="0" y="75480"/>
                  <a:pt x="75480" y="0"/>
                  <a:pt x="168590" y="0"/>
                </a:cubicBezTo>
                <a:close/>
              </a:path>
            </a:pathLst>
          </a:custGeom>
        </p:spPr>
        <p:txBody>
          <a:bodyPr wrap="square">
            <a:noAutofit/>
          </a:bodyPr>
          <a:lstStyle/>
          <a:p>
            <a:endParaRPr lang="ar-LY"/>
          </a:p>
        </p:txBody>
      </p:sp>
      <p:sp>
        <p:nvSpPr>
          <p:cNvPr id="3" name="Date Placeholder 2">
            <a:extLst>
              <a:ext uri="{FF2B5EF4-FFF2-40B4-BE49-F238E27FC236}">
                <a16:creationId xmlns:a16="http://schemas.microsoft.com/office/drawing/2014/main" id="{7A3B84D1-C2D4-4004-8EAD-3970484C33FF}"/>
              </a:ext>
            </a:extLst>
          </p:cNvPr>
          <p:cNvSpPr>
            <a:spLocks noGrp="1"/>
          </p:cNvSpPr>
          <p:nvPr>
            <p:ph type="dt" sz="half" idx="10"/>
          </p:nvPr>
        </p:nvSpPr>
        <p:spPr/>
        <p:txBody>
          <a:bodyPr/>
          <a:lstStyle/>
          <a:p>
            <a:fld id="{581680C4-E63E-6140-B717-F96AB8E06DDD}" type="datetime1">
              <a:rPr lang="en-CA" smtClean="0"/>
              <a:t>2020-12-14</a:t>
            </a:fld>
            <a:endParaRPr lang="ar-LY"/>
          </a:p>
        </p:txBody>
      </p:sp>
      <p:sp>
        <p:nvSpPr>
          <p:cNvPr id="4" name="Footer Placeholder 3">
            <a:extLst>
              <a:ext uri="{FF2B5EF4-FFF2-40B4-BE49-F238E27FC236}">
                <a16:creationId xmlns:a16="http://schemas.microsoft.com/office/drawing/2014/main" id="{1B6E5858-4362-4FAD-AA92-04CB0F3E1DCA}"/>
              </a:ext>
            </a:extLst>
          </p:cNvPr>
          <p:cNvSpPr>
            <a:spLocks noGrp="1"/>
          </p:cNvSpPr>
          <p:nvPr>
            <p:ph type="ftr" sz="quarter" idx="11"/>
          </p:nvPr>
        </p:nvSpPr>
        <p:spPr/>
        <p:txBody>
          <a:bodyPr/>
          <a:lstStyle/>
          <a:p>
            <a:endParaRPr lang="ar-LY"/>
          </a:p>
        </p:txBody>
      </p:sp>
      <p:sp>
        <p:nvSpPr>
          <p:cNvPr id="17" name="Picture Placeholder 16">
            <a:extLst>
              <a:ext uri="{FF2B5EF4-FFF2-40B4-BE49-F238E27FC236}">
                <a16:creationId xmlns:a16="http://schemas.microsoft.com/office/drawing/2014/main" id="{1B70762B-372E-42AB-8316-6708DF8F05BB}"/>
              </a:ext>
            </a:extLst>
          </p:cNvPr>
          <p:cNvSpPr>
            <a:spLocks noGrp="1"/>
          </p:cNvSpPr>
          <p:nvPr>
            <p:ph type="pic" sz="quarter" idx="14"/>
          </p:nvPr>
        </p:nvSpPr>
        <p:spPr>
          <a:xfrm>
            <a:off x="1455421" y="1046528"/>
            <a:ext cx="5605435" cy="3550110"/>
          </a:xfrm>
          <a:custGeom>
            <a:avLst/>
            <a:gdLst>
              <a:gd name="connsiteX0" fmla="*/ 109549 w 6305551"/>
              <a:gd name="connsiteY0" fmla="*/ 0 h 3829050"/>
              <a:gd name="connsiteX1" fmla="*/ 6196002 w 6305551"/>
              <a:gd name="connsiteY1" fmla="*/ 0 h 3829050"/>
              <a:gd name="connsiteX2" fmla="*/ 6305551 w 6305551"/>
              <a:gd name="connsiteY2" fmla="*/ 109549 h 3829050"/>
              <a:gd name="connsiteX3" fmla="*/ 6305551 w 6305551"/>
              <a:gd name="connsiteY3" fmla="*/ 3719501 h 3829050"/>
              <a:gd name="connsiteX4" fmla="*/ 6196002 w 6305551"/>
              <a:gd name="connsiteY4" fmla="*/ 3829050 h 3829050"/>
              <a:gd name="connsiteX5" fmla="*/ 109549 w 6305551"/>
              <a:gd name="connsiteY5" fmla="*/ 3829050 h 3829050"/>
              <a:gd name="connsiteX6" fmla="*/ 0 w 6305551"/>
              <a:gd name="connsiteY6" fmla="*/ 3719501 h 3829050"/>
              <a:gd name="connsiteX7" fmla="*/ 0 w 6305551"/>
              <a:gd name="connsiteY7" fmla="*/ 109549 h 3829050"/>
              <a:gd name="connsiteX8" fmla="*/ 109549 w 6305551"/>
              <a:gd name="connsiteY8" fmla="*/ 0 h 382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5551" h="3829050">
                <a:moveTo>
                  <a:pt x="109549" y="0"/>
                </a:moveTo>
                <a:lnTo>
                  <a:pt x="6196002" y="0"/>
                </a:lnTo>
                <a:cubicBezTo>
                  <a:pt x="6256504" y="0"/>
                  <a:pt x="6305551" y="49047"/>
                  <a:pt x="6305551" y="109549"/>
                </a:cubicBezTo>
                <a:lnTo>
                  <a:pt x="6305551" y="3719501"/>
                </a:lnTo>
                <a:cubicBezTo>
                  <a:pt x="6305551" y="3780003"/>
                  <a:pt x="6256504" y="3829050"/>
                  <a:pt x="6196002" y="3829050"/>
                </a:cubicBezTo>
                <a:lnTo>
                  <a:pt x="109549" y="3829050"/>
                </a:lnTo>
                <a:cubicBezTo>
                  <a:pt x="49047" y="3829050"/>
                  <a:pt x="0" y="3780003"/>
                  <a:pt x="0" y="3719501"/>
                </a:cubicBezTo>
                <a:lnTo>
                  <a:pt x="0" y="109549"/>
                </a:lnTo>
                <a:cubicBezTo>
                  <a:pt x="0" y="49047"/>
                  <a:pt x="49047" y="0"/>
                  <a:pt x="109549" y="0"/>
                </a:cubicBezTo>
                <a:close/>
              </a:path>
            </a:pathLst>
          </a:custGeom>
        </p:spPr>
        <p:txBody>
          <a:bodyPr wrap="square">
            <a:noAutofit/>
          </a:bodyPr>
          <a:lstStyle/>
          <a:p>
            <a:endParaRPr lang="ar-LY" dirty="0"/>
          </a:p>
        </p:txBody>
      </p:sp>
      <p:sp>
        <p:nvSpPr>
          <p:cNvPr id="7" name="Slide Number Placeholder 5">
            <a:extLst>
              <a:ext uri="{FF2B5EF4-FFF2-40B4-BE49-F238E27FC236}">
                <a16:creationId xmlns:a16="http://schemas.microsoft.com/office/drawing/2014/main" id="{DFDF05FE-1110-1C4B-B0E8-46C695766FA5}"/>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785029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Slide">
  <p:cSld name="Default Slide">
    <p:spTree>
      <p:nvGrpSpPr>
        <p:cNvPr id="1" name="Shape 34"/>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690A9F1-7A61-F449-8DDD-D046EF699062}"/>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831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dirty="0"/>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70" lvl="0" indent="-457178">
              <a:spcBef>
                <a:spcPts val="0"/>
              </a:spcBef>
              <a:spcAft>
                <a:spcPts val="0"/>
              </a:spcAft>
              <a:buSzPts val="1800"/>
              <a:buChar char="●"/>
              <a:defRPr/>
            </a:lvl1pPr>
            <a:lvl2pPr marL="1219140" lvl="1" indent="-423312">
              <a:spcBef>
                <a:spcPts val="2133"/>
              </a:spcBef>
              <a:spcAft>
                <a:spcPts val="0"/>
              </a:spcAft>
              <a:buSzPts val="1400"/>
              <a:buChar char="○"/>
              <a:defRPr/>
            </a:lvl2pPr>
            <a:lvl3pPr marL="1828709" lvl="2" indent="-423312">
              <a:spcBef>
                <a:spcPts val="2133"/>
              </a:spcBef>
              <a:spcAft>
                <a:spcPts val="0"/>
              </a:spcAft>
              <a:buSzPts val="1400"/>
              <a:buChar char="■"/>
              <a:defRPr/>
            </a:lvl3pPr>
            <a:lvl4pPr marL="2438278" lvl="3" indent="-423312">
              <a:spcBef>
                <a:spcPts val="2133"/>
              </a:spcBef>
              <a:spcAft>
                <a:spcPts val="0"/>
              </a:spcAft>
              <a:buSzPts val="1400"/>
              <a:buChar char="●"/>
              <a:defRPr/>
            </a:lvl4pPr>
            <a:lvl5pPr marL="3047848" lvl="4" indent="-423312">
              <a:spcBef>
                <a:spcPts val="2133"/>
              </a:spcBef>
              <a:spcAft>
                <a:spcPts val="0"/>
              </a:spcAft>
              <a:buSzPts val="1400"/>
              <a:buChar char="○"/>
              <a:defRPr/>
            </a:lvl5pPr>
            <a:lvl6pPr marL="3657418" lvl="5" indent="-423312">
              <a:spcBef>
                <a:spcPts val="2133"/>
              </a:spcBef>
              <a:spcAft>
                <a:spcPts val="0"/>
              </a:spcAft>
              <a:buSzPts val="1400"/>
              <a:buChar char="■"/>
              <a:defRPr/>
            </a:lvl6pPr>
            <a:lvl7pPr marL="4266987" lvl="6" indent="-423312">
              <a:spcBef>
                <a:spcPts val="2133"/>
              </a:spcBef>
              <a:spcAft>
                <a:spcPts val="0"/>
              </a:spcAft>
              <a:buSzPts val="1400"/>
              <a:buChar char="●"/>
              <a:defRPr/>
            </a:lvl7pPr>
            <a:lvl8pPr marL="4876557" lvl="7" indent="-423312">
              <a:spcBef>
                <a:spcPts val="2133"/>
              </a:spcBef>
              <a:spcAft>
                <a:spcPts val="0"/>
              </a:spcAft>
              <a:buSzPts val="1400"/>
              <a:buChar char="○"/>
              <a:defRPr/>
            </a:lvl8pPr>
            <a:lvl9pPr marL="5486126" lvl="8" indent="-423312">
              <a:spcBef>
                <a:spcPts val="2133"/>
              </a:spcBef>
              <a:spcAft>
                <a:spcPts val="2133"/>
              </a:spcAft>
              <a:buSzPts val="1400"/>
              <a:buChar char="■"/>
              <a:defRPr/>
            </a:lvl9pPr>
          </a:lstStyle>
          <a:p>
            <a:endParaRPr/>
          </a:p>
        </p:txBody>
      </p:sp>
      <p:sp>
        <p:nvSpPr>
          <p:cNvPr id="5" name="Slide Number Placeholder 5">
            <a:extLst>
              <a:ext uri="{FF2B5EF4-FFF2-40B4-BE49-F238E27FC236}">
                <a16:creationId xmlns:a16="http://schemas.microsoft.com/office/drawing/2014/main" id="{C7824AAF-AC5A-004C-8E5A-5878A332C45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1658584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5_Custom Layout">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4611AC0-3CA0-014A-AA0C-39BC4AE9816A}"/>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8_Custom Layout">
    <p:spTree>
      <p:nvGrpSpPr>
        <p:cNvPr id="1" name=""/>
        <p:cNvGrpSpPr/>
        <p:nvPr/>
      </p:nvGrpSpPr>
      <p:grpSpPr>
        <a:xfrm>
          <a:off x="0" y="0"/>
          <a:ext cx="0" cy="0"/>
          <a:chOff x="0" y="0"/>
          <a:chExt cx="0" cy="0"/>
        </a:xfrm>
      </p:grpSpPr>
      <p:sp>
        <p:nvSpPr>
          <p:cNvPr id="2" name="Rectangle 1"/>
          <p:cNvSpPr/>
          <p:nvPr userDrawn="1"/>
        </p:nvSpPr>
        <p:spPr>
          <a:xfrm flipH="1">
            <a:off x="6045200" y="0"/>
            <a:ext cx="61468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3" name="Picture Placeholder 8"/>
          <p:cNvSpPr>
            <a:spLocks noGrp="1"/>
          </p:cNvSpPr>
          <p:nvPr>
            <p:ph type="pic" sz="quarter" idx="10"/>
          </p:nvPr>
        </p:nvSpPr>
        <p:spPr>
          <a:xfrm>
            <a:off x="965200" y="835025"/>
            <a:ext cx="4495800" cy="518795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noFill/>
        </p:spPr>
        <p:txBody>
          <a:bodyPr wrap="square">
            <a:noAutofit/>
          </a:bodyPr>
          <a:lstStyle/>
          <a:p>
            <a:endParaRPr lang="id-ID"/>
          </a:p>
        </p:txBody>
      </p:sp>
    </p:spTree>
    <p:extLst>
      <p:ext uri="{BB962C8B-B14F-4D97-AF65-F5344CB8AC3E}">
        <p14:creationId xmlns:p14="http://schemas.microsoft.com/office/powerpoint/2010/main" val="[redacted]"/>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yout-8">
  <p:cSld name="Layout-8">
    <p:spTree>
      <p:nvGrpSpPr>
        <p:cNvPr id="1" name="Shape 52"/>
        <p:cNvGrpSpPr/>
        <p:nvPr/>
      </p:nvGrpSpPr>
      <p:grpSpPr>
        <a:xfrm>
          <a:off x="0" y="0"/>
          <a:ext cx="0" cy="0"/>
          <a:chOff x="0" y="0"/>
          <a:chExt cx="0" cy="0"/>
        </a:xfrm>
      </p:grpSpPr>
    </p:spTree>
    <p:extLst>
      <p:ext uri="{BB962C8B-B14F-4D97-AF65-F5344CB8AC3E}">
        <p14:creationId xmlns:p14="http://schemas.microsoft.com/office/powerpoint/2010/main" val="218052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99DB1C-FC23-413E-8743-D7E0ABA35573}"/>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ar-LY"/>
          </a:p>
        </p:txBody>
      </p:sp>
      <p:sp>
        <p:nvSpPr>
          <p:cNvPr id="3" name="Text Placeholder 2">
            <a:extLst>
              <a:ext uri="{FF2B5EF4-FFF2-40B4-BE49-F238E27FC236}">
                <a16:creationId xmlns:a16="http://schemas.microsoft.com/office/drawing/2014/main" id="{703C863E-4EF3-4C2B-8FAC-E4E70EDCD8F3}"/>
              </a:ext>
            </a:extLst>
          </p:cNvPr>
          <p:cNvSpPr>
            <a:spLocks noGrp="1"/>
          </p:cNvSpPr>
          <p:nvPr>
            <p:ph type="body" idx="1"/>
          </p:nvPr>
        </p:nvSpPr>
        <p:spPr>
          <a:xfrm>
            <a:off x="838200" y="1825625"/>
            <a:ext cx="10515600" cy="42847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LY"/>
          </a:p>
        </p:txBody>
      </p:sp>
      <p:sp>
        <p:nvSpPr>
          <p:cNvPr id="4" name="Date Placeholder 3">
            <a:extLst>
              <a:ext uri="{FF2B5EF4-FFF2-40B4-BE49-F238E27FC236}">
                <a16:creationId xmlns:a16="http://schemas.microsoft.com/office/drawing/2014/main" id="{C0ACA65B-2F43-46D1-8D43-850C8F62D8B8}"/>
              </a:ext>
            </a:extLst>
          </p:cNvPr>
          <p:cNvSpPr>
            <a:spLocks noGrp="1"/>
          </p:cNvSpPr>
          <p:nvPr>
            <p:ph type="dt" sz="half" idx="2"/>
          </p:nvPr>
        </p:nvSpPr>
        <p:spPr>
          <a:xfrm>
            <a:off x="838200" y="6316011"/>
            <a:ext cx="2743200" cy="365125"/>
          </a:xfrm>
          <a:prstGeom prst="rect">
            <a:avLst/>
          </a:prstGeom>
        </p:spPr>
        <p:txBody>
          <a:bodyPr vert="horz" lIns="91440" tIns="45720" rIns="91440" bIns="45720" rtlCol="0" anchor="ctr"/>
          <a:lstStyle>
            <a:lvl1pPr algn="r">
              <a:defRPr sz="1600" b="1">
                <a:solidFill>
                  <a:schemeClr val="bg1"/>
                </a:solidFill>
              </a:defRPr>
            </a:lvl1pPr>
          </a:lstStyle>
          <a:p>
            <a:fld id="{52781E9E-6EA8-9D49-B2D6-93F46CAA3402}" type="datetime1">
              <a:rPr lang="en-CA" smtClean="0"/>
              <a:pPr/>
              <a:t>2020-12-14</a:t>
            </a:fld>
            <a:endParaRPr lang="ar-LY" b="1"/>
          </a:p>
        </p:txBody>
      </p:sp>
      <p:sp>
        <p:nvSpPr>
          <p:cNvPr id="5" name="Footer Placeholder 4">
            <a:extLst>
              <a:ext uri="{FF2B5EF4-FFF2-40B4-BE49-F238E27FC236}">
                <a16:creationId xmlns:a16="http://schemas.microsoft.com/office/drawing/2014/main" id="{0E07D30D-B5B1-40D4-A056-30060BBBB7C5}"/>
              </a:ext>
            </a:extLst>
          </p:cNvPr>
          <p:cNvSpPr>
            <a:spLocks noGrp="1"/>
          </p:cNvSpPr>
          <p:nvPr>
            <p:ph type="ftr" sz="quarter" idx="3"/>
          </p:nvPr>
        </p:nvSpPr>
        <p:spPr>
          <a:xfrm>
            <a:off x="4038600" y="6316011"/>
            <a:ext cx="4114800" cy="365125"/>
          </a:xfrm>
          <a:prstGeom prst="rect">
            <a:avLst/>
          </a:prstGeom>
        </p:spPr>
        <p:txBody>
          <a:bodyPr vert="horz" lIns="91440" tIns="45720" rIns="91440" bIns="45720" rtlCol="0" anchor="ctr"/>
          <a:lstStyle>
            <a:lvl1pPr algn="ctr">
              <a:defRPr sz="1600" b="1">
                <a:solidFill>
                  <a:schemeClr val="bg1"/>
                </a:solidFill>
              </a:defRPr>
            </a:lvl1pPr>
          </a:lstStyle>
          <a:p>
            <a:endParaRPr lang="ar-LY" b="1"/>
          </a:p>
        </p:txBody>
      </p:sp>
      <p:sp>
        <p:nvSpPr>
          <p:cNvPr id="6" name="Slide Number Placeholder 5">
            <a:extLst>
              <a:ext uri="{FF2B5EF4-FFF2-40B4-BE49-F238E27FC236}">
                <a16:creationId xmlns:a16="http://schemas.microsoft.com/office/drawing/2014/main" id="{17E3D8C2-4B34-4DC5-94B5-E417F9F44833}"/>
              </a:ext>
            </a:extLst>
          </p:cNvPr>
          <p:cNvSpPr>
            <a:spLocks noGrp="1"/>
          </p:cNvSpPr>
          <p:nvPr>
            <p:ph type="sldNum" sz="quarter" idx="4"/>
          </p:nvPr>
        </p:nvSpPr>
        <p:spPr>
          <a:xfrm>
            <a:off x="8610600" y="6316011"/>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grpSp>
        <p:nvGrpSpPr>
          <p:cNvPr id="111" name="Group 110">
            <a:extLst>
              <a:ext uri="{FF2B5EF4-FFF2-40B4-BE49-F238E27FC236}">
                <a16:creationId xmlns:a16="http://schemas.microsoft.com/office/drawing/2014/main" id="{3D559FAB-F08D-4645-AD80-445EC39893FF}"/>
              </a:ext>
            </a:extLst>
          </p:cNvPr>
          <p:cNvGrpSpPr/>
          <p:nvPr userDrawn="1"/>
        </p:nvGrpSpPr>
        <p:grpSpPr>
          <a:xfrm>
            <a:off x="123923" y="-84241"/>
            <a:ext cx="11131011" cy="6805716"/>
            <a:chOff x="123922" y="-84241"/>
            <a:chExt cx="11131011" cy="6805716"/>
          </a:xfrm>
          <a:solidFill>
            <a:schemeClr val="accent1">
              <a:alpha val="2000"/>
            </a:schemeClr>
          </a:solidFill>
        </p:grpSpPr>
        <p:grpSp>
          <p:nvGrpSpPr>
            <p:cNvPr id="7" name="Group 6">
              <a:extLst>
                <a:ext uri="{FF2B5EF4-FFF2-40B4-BE49-F238E27FC236}">
                  <a16:creationId xmlns:a16="http://schemas.microsoft.com/office/drawing/2014/main" id="{9086A151-A16D-40BF-8F51-27F385B69089}"/>
                </a:ext>
              </a:extLst>
            </p:cNvPr>
            <p:cNvGrpSpPr/>
            <p:nvPr userDrawn="1"/>
          </p:nvGrpSpPr>
          <p:grpSpPr>
            <a:xfrm>
              <a:off x="123922" y="-84241"/>
              <a:ext cx="9414316" cy="6805716"/>
              <a:chOff x="1328207" y="548798"/>
              <a:chExt cx="8085901" cy="5845390"/>
            </a:xfrm>
            <a:grpFill/>
          </p:grpSpPr>
          <p:grpSp>
            <p:nvGrpSpPr>
              <p:cNvPr id="8" name="Group 7">
                <a:extLst>
                  <a:ext uri="{FF2B5EF4-FFF2-40B4-BE49-F238E27FC236}">
                    <a16:creationId xmlns:a16="http://schemas.microsoft.com/office/drawing/2014/main" id="{C3BD2EC3-05A6-48B8-A683-[redacted]B9}"/>
                  </a:ext>
                </a:extLst>
              </p:cNvPr>
              <p:cNvGrpSpPr/>
              <p:nvPr/>
            </p:nvGrpSpPr>
            <p:grpSpPr>
              <a:xfrm>
                <a:off x="7784513" y="1615870"/>
                <a:ext cx="411196" cy="411196"/>
                <a:chOff x="6059156" y="973740"/>
                <a:chExt cx="411196" cy="411196"/>
              </a:xfrm>
              <a:grpFill/>
            </p:grpSpPr>
            <p:sp>
              <p:nvSpPr>
                <p:cNvPr id="54" name="Oval 53">
                  <a:extLst>
                    <a:ext uri="{FF2B5EF4-FFF2-40B4-BE49-F238E27FC236}">
                      <a16:creationId xmlns:a16="http://schemas.microsoft.com/office/drawing/2014/main" id="{F3A0A2CC-86F6-4F44-942E-3F7EA0FDBF49}"/>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55" name="Oval 54">
                  <a:extLst>
                    <a:ext uri="{FF2B5EF4-FFF2-40B4-BE49-F238E27FC236}">
                      <a16:creationId xmlns:a16="http://schemas.microsoft.com/office/drawing/2014/main" id="{87F31D15-1E68-4632-ADDF-FCD73B8AC947}"/>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6" name="Oval 55">
                  <a:extLst>
                    <a:ext uri="{FF2B5EF4-FFF2-40B4-BE49-F238E27FC236}">
                      <a16:creationId xmlns:a16="http://schemas.microsoft.com/office/drawing/2014/main" id="{986E7C42-DB94-4098-AFEC-32B00B8D1C30}"/>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7" name="Oval 56">
                  <a:extLst>
                    <a:ext uri="{FF2B5EF4-FFF2-40B4-BE49-F238E27FC236}">
                      <a16:creationId xmlns:a16="http://schemas.microsoft.com/office/drawing/2014/main" id="{99670FBB-C88E-4922-AD97-9D0D6604181C}"/>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9" name="Group 8">
                <a:extLst>
                  <a:ext uri="{FF2B5EF4-FFF2-40B4-BE49-F238E27FC236}">
                    <a16:creationId xmlns:a16="http://schemas.microsoft.com/office/drawing/2014/main" id="{AA679880-7B05-4D9D-B3C1-A87F8BDD5EBF}"/>
                  </a:ext>
                </a:extLst>
              </p:cNvPr>
              <p:cNvGrpSpPr/>
              <p:nvPr/>
            </p:nvGrpSpPr>
            <p:grpSpPr>
              <a:xfrm>
                <a:off x="5625005" y="1223965"/>
                <a:ext cx="411196" cy="411196"/>
                <a:chOff x="6059156" y="973740"/>
                <a:chExt cx="411196" cy="411196"/>
              </a:xfrm>
              <a:grpFill/>
            </p:grpSpPr>
            <p:sp>
              <p:nvSpPr>
                <p:cNvPr id="50" name="Oval 49">
                  <a:extLst>
                    <a:ext uri="{FF2B5EF4-FFF2-40B4-BE49-F238E27FC236}">
                      <a16:creationId xmlns:a16="http://schemas.microsoft.com/office/drawing/2014/main" id="{B8528931-C518-4C0D-B987-928057FD0B22}"/>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51" name="Oval 50">
                  <a:extLst>
                    <a:ext uri="{FF2B5EF4-FFF2-40B4-BE49-F238E27FC236}">
                      <a16:creationId xmlns:a16="http://schemas.microsoft.com/office/drawing/2014/main" id="{F0739537-1EAF-46E1-9111-5BAA5513704B}"/>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2" name="Oval 51">
                  <a:extLst>
                    <a:ext uri="{FF2B5EF4-FFF2-40B4-BE49-F238E27FC236}">
                      <a16:creationId xmlns:a16="http://schemas.microsoft.com/office/drawing/2014/main" id="{ED69CFAF-7806-42CF-95B7-5400E171C122}"/>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3" name="Oval 52">
                  <a:extLst>
                    <a:ext uri="{FF2B5EF4-FFF2-40B4-BE49-F238E27FC236}">
                      <a16:creationId xmlns:a16="http://schemas.microsoft.com/office/drawing/2014/main" id="{97CB6B00-3AFE-4CD1-B5EA-517A5BF6287F}"/>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0" name="Group 9">
                <a:extLst>
                  <a:ext uri="{FF2B5EF4-FFF2-40B4-BE49-F238E27FC236}">
                    <a16:creationId xmlns:a16="http://schemas.microsoft.com/office/drawing/2014/main" id="{3932C612-DA17-4609-81EE-E646A7BC0B80}"/>
                  </a:ext>
                </a:extLst>
              </p:cNvPr>
              <p:cNvGrpSpPr/>
              <p:nvPr/>
            </p:nvGrpSpPr>
            <p:grpSpPr>
              <a:xfrm>
                <a:off x="3361463" y="4666790"/>
                <a:ext cx="411196" cy="411196"/>
                <a:chOff x="6059156" y="973740"/>
                <a:chExt cx="411196" cy="411196"/>
              </a:xfrm>
              <a:grpFill/>
            </p:grpSpPr>
            <p:sp>
              <p:nvSpPr>
                <p:cNvPr id="46" name="Oval 45">
                  <a:extLst>
                    <a:ext uri="{FF2B5EF4-FFF2-40B4-BE49-F238E27FC236}">
                      <a16:creationId xmlns:a16="http://schemas.microsoft.com/office/drawing/2014/main" id="{EE2C54BB-991C-4918-8728-CADCF728218A}"/>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47" name="Oval 46">
                  <a:extLst>
                    <a:ext uri="{FF2B5EF4-FFF2-40B4-BE49-F238E27FC236}">
                      <a16:creationId xmlns:a16="http://schemas.microsoft.com/office/drawing/2014/main" id="{C275593E-7B55-4AA5-ACBB-95EA9E407B7C}"/>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8" name="Oval 47">
                  <a:extLst>
                    <a:ext uri="{FF2B5EF4-FFF2-40B4-BE49-F238E27FC236}">
                      <a16:creationId xmlns:a16="http://schemas.microsoft.com/office/drawing/2014/main" id="{52E0A10E-2F6F-4AB5-9FCE-FBE966F394CF}"/>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9" name="Oval 48">
                  <a:extLst>
                    <a:ext uri="{FF2B5EF4-FFF2-40B4-BE49-F238E27FC236}">
                      <a16:creationId xmlns:a16="http://schemas.microsoft.com/office/drawing/2014/main" id="{45957082-9F8F-4C32-BBF1-1FF6083EEF9B}"/>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1" name="Group 10">
                <a:extLst>
                  <a:ext uri="{FF2B5EF4-FFF2-40B4-BE49-F238E27FC236}">
                    <a16:creationId xmlns:a16="http://schemas.microsoft.com/office/drawing/2014/main" id="{9A185AE8-C17D-47B5-99F6-A7147DBA682A}"/>
                  </a:ext>
                </a:extLst>
              </p:cNvPr>
              <p:cNvGrpSpPr/>
              <p:nvPr/>
            </p:nvGrpSpPr>
            <p:grpSpPr>
              <a:xfrm>
                <a:off x="6792914" y="5804395"/>
                <a:ext cx="411196" cy="411196"/>
                <a:chOff x="6059156" y="973740"/>
                <a:chExt cx="411196" cy="411196"/>
              </a:xfrm>
              <a:grpFill/>
            </p:grpSpPr>
            <p:sp>
              <p:nvSpPr>
                <p:cNvPr id="42" name="Oval 41">
                  <a:extLst>
                    <a:ext uri="{FF2B5EF4-FFF2-40B4-BE49-F238E27FC236}">
                      <a16:creationId xmlns:a16="http://schemas.microsoft.com/office/drawing/2014/main" id="{5D7A1280-DD8B-402D-ACC2-B6D872867EC3}"/>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43" name="Oval 42">
                  <a:extLst>
                    <a:ext uri="{FF2B5EF4-FFF2-40B4-BE49-F238E27FC236}">
                      <a16:creationId xmlns:a16="http://schemas.microsoft.com/office/drawing/2014/main" id="{E3DC474A-9A49-47C6-B7C7-7C57469FDF14}"/>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4" name="Oval 43">
                  <a:extLst>
                    <a:ext uri="{FF2B5EF4-FFF2-40B4-BE49-F238E27FC236}">
                      <a16:creationId xmlns:a16="http://schemas.microsoft.com/office/drawing/2014/main" id="{136460F8-2821-469A-BFE7-B6192CCC3799}"/>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5" name="Oval 44">
                  <a:extLst>
                    <a:ext uri="{FF2B5EF4-FFF2-40B4-BE49-F238E27FC236}">
                      <a16:creationId xmlns:a16="http://schemas.microsoft.com/office/drawing/2014/main" id="{E04491EA-7DDD-4A57-AFEC-29EF162D1087}"/>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2" name="Group 11">
                <a:extLst>
                  <a:ext uri="{FF2B5EF4-FFF2-40B4-BE49-F238E27FC236}">
                    <a16:creationId xmlns:a16="http://schemas.microsoft.com/office/drawing/2014/main" id="{2E96863E-32C1-4C71-9590-83D6DD867D9F}"/>
                  </a:ext>
                </a:extLst>
              </p:cNvPr>
              <p:cNvGrpSpPr/>
              <p:nvPr/>
            </p:nvGrpSpPr>
            <p:grpSpPr>
              <a:xfrm>
                <a:off x="9097945" y="5239979"/>
                <a:ext cx="252166" cy="252166"/>
                <a:chOff x="6059156" y="973740"/>
                <a:chExt cx="411196" cy="411196"/>
              </a:xfrm>
              <a:grpFill/>
            </p:grpSpPr>
            <p:sp>
              <p:nvSpPr>
                <p:cNvPr id="38" name="Oval 37">
                  <a:extLst>
                    <a:ext uri="{FF2B5EF4-FFF2-40B4-BE49-F238E27FC236}">
                      <a16:creationId xmlns:a16="http://schemas.microsoft.com/office/drawing/2014/main" id="{2CDEC96C-9A7C-4EEE-AC6D-AAC3F7A323D1}"/>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39" name="Oval 38">
                  <a:extLst>
                    <a:ext uri="{FF2B5EF4-FFF2-40B4-BE49-F238E27FC236}">
                      <a16:creationId xmlns:a16="http://schemas.microsoft.com/office/drawing/2014/main" id="{EE0CC441-3F71-4C1C-B9A2-FDB787351E2D}"/>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0" name="Oval 39">
                  <a:extLst>
                    <a:ext uri="{FF2B5EF4-FFF2-40B4-BE49-F238E27FC236}">
                      <a16:creationId xmlns:a16="http://schemas.microsoft.com/office/drawing/2014/main" id="{D803FBCB-2791-4362-91D6-B2B2DDB6CEF1}"/>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1" name="Oval 40">
                  <a:extLst>
                    <a:ext uri="{FF2B5EF4-FFF2-40B4-BE49-F238E27FC236}">
                      <a16:creationId xmlns:a16="http://schemas.microsoft.com/office/drawing/2014/main" id="{E65B033E-A002-4124-BF85-AB34D4327ED8}"/>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3" name="Group 12">
                <a:extLst>
                  <a:ext uri="{FF2B5EF4-FFF2-40B4-BE49-F238E27FC236}">
                    <a16:creationId xmlns:a16="http://schemas.microsoft.com/office/drawing/2014/main" id="{19473EEF-1425-43AA-B5A9-DDF2AFA38B1E}"/>
                  </a:ext>
                </a:extLst>
              </p:cNvPr>
              <p:cNvGrpSpPr/>
              <p:nvPr/>
            </p:nvGrpSpPr>
            <p:grpSpPr>
              <a:xfrm>
                <a:off x="5563787" y="4619479"/>
                <a:ext cx="252166" cy="252166"/>
                <a:chOff x="6059156" y="973740"/>
                <a:chExt cx="411196" cy="411196"/>
              </a:xfrm>
              <a:grpFill/>
            </p:grpSpPr>
            <p:sp>
              <p:nvSpPr>
                <p:cNvPr id="34" name="Oval 33">
                  <a:extLst>
                    <a:ext uri="{FF2B5EF4-FFF2-40B4-BE49-F238E27FC236}">
                      <a16:creationId xmlns:a16="http://schemas.microsoft.com/office/drawing/2014/main" id="{C1DC9492-BA14-44F2-B21E-154AF54A3013}"/>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35" name="Oval 34">
                  <a:extLst>
                    <a:ext uri="{FF2B5EF4-FFF2-40B4-BE49-F238E27FC236}">
                      <a16:creationId xmlns:a16="http://schemas.microsoft.com/office/drawing/2014/main" id="{38211917-F988-4176-AD43-C9CE80F88BC7}"/>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6" name="Oval 35">
                  <a:extLst>
                    <a:ext uri="{FF2B5EF4-FFF2-40B4-BE49-F238E27FC236}">
                      <a16:creationId xmlns:a16="http://schemas.microsoft.com/office/drawing/2014/main" id="{1849CB2C-AF33-4F6C-B068-E0C8AB92FBBB}"/>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7" name="Oval 36">
                  <a:extLst>
                    <a:ext uri="{FF2B5EF4-FFF2-40B4-BE49-F238E27FC236}">
                      <a16:creationId xmlns:a16="http://schemas.microsoft.com/office/drawing/2014/main" id="{465CA28A-6176-4862-8532-D10B4A42D081}"/>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4" name="Group 13">
                <a:extLst>
                  <a:ext uri="{FF2B5EF4-FFF2-40B4-BE49-F238E27FC236}">
                    <a16:creationId xmlns:a16="http://schemas.microsoft.com/office/drawing/2014/main" id="{C3E2A638-8567-4E61-A9C2-853B33768EA3}"/>
                  </a:ext>
                </a:extLst>
              </p:cNvPr>
              <p:cNvGrpSpPr/>
              <p:nvPr/>
            </p:nvGrpSpPr>
            <p:grpSpPr>
              <a:xfrm>
                <a:off x="9161942" y="548798"/>
                <a:ext cx="252166" cy="252166"/>
                <a:chOff x="6059156" y="973740"/>
                <a:chExt cx="411196" cy="411196"/>
              </a:xfrm>
              <a:grpFill/>
            </p:grpSpPr>
            <p:sp>
              <p:nvSpPr>
                <p:cNvPr id="30" name="Oval 29">
                  <a:extLst>
                    <a:ext uri="{FF2B5EF4-FFF2-40B4-BE49-F238E27FC236}">
                      <a16:creationId xmlns:a16="http://schemas.microsoft.com/office/drawing/2014/main" id="{226DA764-8F56-4E87-88DC-4EE41028741A}"/>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31" name="Oval 30">
                  <a:extLst>
                    <a:ext uri="{FF2B5EF4-FFF2-40B4-BE49-F238E27FC236}">
                      <a16:creationId xmlns:a16="http://schemas.microsoft.com/office/drawing/2014/main" id="{5362BA3D-7754-42BB-8E1A-E220DC52B643}"/>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2" name="Oval 31">
                  <a:extLst>
                    <a:ext uri="{FF2B5EF4-FFF2-40B4-BE49-F238E27FC236}">
                      <a16:creationId xmlns:a16="http://schemas.microsoft.com/office/drawing/2014/main" id="{3BBC99C0-51CB-4929-8668-87F4541426A5}"/>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3" name="Oval 32">
                  <a:extLst>
                    <a:ext uri="{FF2B5EF4-FFF2-40B4-BE49-F238E27FC236}">
                      <a16:creationId xmlns:a16="http://schemas.microsoft.com/office/drawing/2014/main" id="{C487F56A-E67F-4A83-A7B7-B85F8ED0881E}"/>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5" name="Group 14">
                <a:extLst>
                  <a:ext uri="{FF2B5EF4-FFF2-40B4-BE49-F238E27FC236}">
                    <a16:creationId xmlns:a16="http://schemas.microsoft.com/office/drawing/2014/main" id="{3F95006D-E0F4-42B3-8471-808A7759AECB}"/>
                  </a:ext>
                </a:extLst>
              </p:cNvPr>
              <p:cNvGrpSpPr/>
              <p:nvPr/>
            </p:nvGrpSpPr>
            <p:grpSpPr>
              <a:xfrm>
                <a:off x="4532064" y="2042773"/>
                <a:ext cx="252166" cy="252166"/>
                <a:chOff x="6059156" y="973740"/>
                <a:chExt cx="411196" cy="411196"/>
              </a:xfrm>
              <a:grpFill/>
            </p:grpSpPr>
            <p:sp>
              <p:nvSpPr>
                <p:cNvPr id="26" name="Oval 25">
                  <a:extLst>
                    <a:ext uri="{FF2B5EF4-FFF2-40B4-BE49-F238E27FC236}">
                      <a16:creationId xmlns:a16="http://schemas.microsoft.com/office/drawing/2014/main" id="{03B1344B-E671-45B0-AE22-BC4FFBF3DF5B}"/>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27" name="Oval 26">
                  <a:extLst>
                    <a:ext uri="{FF2B5EF4-FFF2-40B4-BE49-F238E27FC236}">
                      <a16:creationId xmlns:a16="http://schemas.microsoft.com/office/drawing/2014/main" id="{A1EC59C0-EDA2-4C3F-A2A0-922328356DC5}"/>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8" name="Oval 27">
                  <a:extLst>
                    <a:ext uri="{FF2B5EF4-FFF2-40B4-BE49-F238E27FC236}">
                      <a16:creationId xmlns:a16="http://schemas.microsoft.com/office/drawing/2014/main" id="{41BF7E37-4FBB-4C9F-9FAE-26062C9813C4}"/>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9" name="Oval 28">
                  <a:extLst>
                    <a:ext uri="{FF2B5EF4-FFF2-40B4-BE49-F238E27FC236}">
                      <a16:creationId xmlns:a16="http://schemas.microsoft.com/office/drawing/2014/main" id="{3B3EF867-2744-40F4-A620-DFC8ADE42523}"/>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6" name="Group 15">
                <a:extLst>
                  <a:ext uri="{FF2B5EF4-FFF2-40B4-BE49-F238E27FC236}">
                    <a16:creationId xmlns:a16="http://schemas.microsoft.com/office/drawing/2014/main" id="{CEC0BDC8-2BFA-434C-A611-75D0341F94E9}"/>
                  </a:ext>
                </a:extLst>
              </p:cNvPr>
              <p:cNvGrpSpPr/>
              <p:nvPr/>
            </p:nvGrpSpPr>
            <p:grpSpPr>
              <a:xfrm>
                <a:off x="1328207" y="2484239"/>
                <a:ext cx="252166" cy="252166"/>
                <a:chOff x="6059156" y="973740"/>
                <a:chExt cx="411196" cy="411196"/>
              </a:xfrm>
              <a:grpFill/>
            </p:grpSpPr>
            <p:sp>
              <p:nvSpPr>
                <p:cNvPr id="22" name="Oval 21">
                  <a:extLst>
                    <a:ext uri="{FF2B5EF4-FFF2-40B4-BE49-F238E27FC236}">
                      <a16:creationId xmlns:a16="http://schemas.microsoft.com/office/drawing/2014/main" id="{4D5B4FE1-E832-44F0-B422-BA8A7FDDCC84}"/>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23" name="Oval 22">
                  <a:extLst>
                    <a:ext uri="{FF2B5EF4-FFF2-40B4-BE49-F238E27FC236}">
                      <a16:creationId xmlns:a16="http://schemas.microsoft.com/office/drawing/2014/main" id="{8EAC12B8-A98E-4599-9861-569B4CBB6478}"/>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4" name="Oval 23">
                  <a:extLst>
                    <a:ext uri="{FF2B5EF4-FFF2-40B4-BE49-F238E27FC236}">
                      <a16:creationId xmlns:a16="http://schemas.microsoft.com/office/drawing/2014/main" id="{E36E53A4-747F-4BF3-9E0B-AC4C82B5ADC2}"/>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5" name="Oval 24">
                  <a:extLst>
                    <a:ext uri="{FF2B5EF4-FFF2-40B4-BE49-F238E27FC236}">
                      <a16:creationId xmlns:a16="http://schemas.microsoft.com/office/drawing/2014/main" id="{AC9FF9C6-A3B2-45BE-B080-F011C39428B1}"/>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7" name="Group 16">
                <a:extLst>
                  <a:ext uri="{FF2B5EF4-FFF2-40B4-BE49-F238E27FC236}">
                    <a16:creationId xmlns:a16="http://schemas.microsoft.com/office/drawing/2014/main" id="{0BFB0F11-9E50-4F44-A5CC-B67FBC900CCD}"/>
                  </a:ext>
                </a:extLst>
              </p:cNvPr>
              <p:cNvGrpSpPr/>
              <p:nvPr/>
            </p:nvGrpSpPr>
            <p:grpSpPr>
              <a:xfrm>
                <a:off x="2898356" y="6142022"/>
                <a:ext cx="252166" cy="252166"/>
                <a:chOff x="6059156" y="973740"/>
                <a:chExt cx="411196" cy="411196"/>
              </a:xfrm>
              <a:grpFill/>
            </p:grpSpPr>
            <p:sp>
              <p:nvSpPr>
                <p:cNvPr id="18" name="Oval 17">
                  <a:extLst>
                    <a:ext uri="{FF2B5EF4-FFF2-40B4-BE49-F238E27FC236}">
                      <a16:creationId xmlns:a16="http://schemas.microsoft.com/office/drawing/2014/main" id="{8433B32D-D073-4329-8F3E-569DA09C1396}"/>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19" name="Oval 18">
                  <a:extLst>
                    <a:ext uri="{FF2B5EF4-FFF2-40B4-BE49-F238E27FC236}">
                      <a16:creationId xmlns:a16="http://schemas.microsoft.com/office/drawing/2014/main" id="{00D9B052-7DB6-4B15-B6FF-545F135B32E8}"/>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0" name="Oval 19">
                  <a:extLst>
                    <a:ext uri="{FF2B5EF4-FFF2-40B4-BE49-F238E27FC236}">
                      <a16:creationId xmlns:a16="http://schemas.microsoft.com/office/drawing/2014/main" id="{12F7481D-3D5E-4C9C-B4E6-089A4B3CD0FE}"/>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1" name="Oval 20">
                  <a:extLst>
                    <a:ext uri="{FF2B5EF4-FFF2-40B4-BE49-F238E27FC236}">
                      <a16:creationId xmlns:a16="http://schemas.microsoft.com/office/drawing/2014/main" id="{4C74C814-2B5F-41D1-81D6-2EE12046CE89}"/>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grpSp>
          <p:nvGrpSpPr>
            <p:cNvPr id="110" name="Group 109">
              <a:extLst>
                <a:ext uri="{FF2B5EF4-FFF2-40B4-BE49-F238E27FC236}">
                  <a16:creationId xmlns:a16="http://schemas.microsoft.com/office/drawing/2014/main" id="{92704286-E96E-4FDD-ADBF-C9520D237664}"/>
                </a:ext>
              </a:extLst>
            </p:cNvPr>
            <p:cNvGrpSpPr/>
            <p:nvPr userDrawn="1"/>
          </p:nvGrpSpPr>
          <p:grpSpPr>
            <a:xfrm>
              <a:off x="9188661" y="820564"/>
              <a:ext cx="2066272" cy="5013137"/>
              <a:chOff x="9188661" y="820564"/>
              <a:chExt cx="2066272" cy="5013137"/>
            </a:xfrm>
            <a:grpFill/>
          </p:grpSpPr>
          <p:grpSp>
            <p:nvGrpSpPr>
              <p:cNvPr id="61" name="Group 60">
                <a:extLst>
                  <a:ext uri="{FF2B5EF4-FFF2-40B4-BE49-F238E27FC236}">
                    <a16:creationId xmlns:a16="http://schemas.microsoft.com/office/drawing/2014/main" id="{36103CD8-A825-4257-BCB6-9EB35CB4C9B3}"/>
                  </a:ext>
                </a:extLst>
              </p:cNvPr>
              <p:cNvGrpSpPr/>
              <p:nvPr/>
            </p:nvGrpSpPr>
            <p:grpSpPr>
              <a:xfrm rot="5400000">
                <a:off x="10721099" y="1359754"/>
                <a:ext cx="478750" cy="478750"/>
                <a:chOff x="6059156" y="973740"/>
                <a:chExt cx="411196" cy="411196"/>
              </a:xfrm>
              <a:grpFill/>
            </p:grpSpPr>
            <p:sp>
              <p:nvSpPr>
                <p:cNvPr id="97" name="Oval 96">
                  <a:extLst>
                    <a:ext uri="{FF2B5EF4-FFF2-40B4-BE49-F238E27FC236}">
                      <a16:creationId xmlns:a16="http://schemas.microsoft.com/office/drawing/2014/main" id="{7894A9B3-FC9B-4EF6-8A92-CBECA7516E34}"/>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98" name="Oval 97">
                  <a:extLst>
                    <a:ext uri="{FF2B5EF4-FFF2-40B4-BE49-F238E27FC236}">
                      <a16:creationId xmlns:a16="http://schemas.microsoft.com/office/drawing/2014/main" id="{462A726C-209E-433D-A8E8-F413E779AA6C}"/>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99" name="Oval 98">
                  <a:extLst>
                    <a:ext uri="{FF2B5EF4-FFF2-40B4-BE49-F238E27FC236}">
                      <a16:creationId xmlns:a16="http://schemas.microsoft.com/office/drawing/2014/main" id="{798FF3CB-D8AC-4EAD-8451-B7536545CEF7}"/>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100" name="Oval 99">
                  <a:extLst>
                    <a:ext uri="{FF2B5EF4-FFF2-40B4-BE49-F238E27FC236}">
                      <a16:creationId xmlns:a16="http://schemas.microsoft.com/office/drawing/2014/main" id="{F2ED5173-A5E0-4331-B389-7BDE3EC4EEEC}"/>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62" name="Group 61">
                <a:extLst>
                  <a:ext uri="{FF2B5EF4-FFF2-40B4-BE49-F238E27FC236}">
                    <a16:creationId xmlns:a16="http://schemas.microsoft.com/office/drawing/2014/main" id="{15818CFD-CA1E-4FF9-A1FC-3D557A125C51}"/>
                  </a:ext>
                </a:extLst>
              </p:cNvPr>
              <p:cNvGrpSpPr/>
              <p:nvPr/>
            </p:nvGrpSpPr>
            <p:grpSpPr>
              <a:xfrm rot="5400000">
                <a:off x="9396599" y="5354951"/>
                <a:ext cx="478750" cy="478750"/>
                <a:chOff x="6059156" y="973740"/>
                <a:chExt cx="411196" cy="411196"/>
              </a:xfrm>
              <a:grpFill/>
            </p:grpSpPr>
            <p:sp>
              <p:nvSpPr>
                <p:cNvPr id="93" name="Oval 92">
                  <a:extLst>
                    <a:ext uri="{FF2B5EF4-FFF2-40B4-BE49-F238E27FC236}">
                      <a16:creationId xmlns:a16="http://schemas.microsoft.com/office/drawing/2014/main" id="{AD0FC914-6908-4C97-948A-2A51B189E397}"/>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94" name="Oval 93">
                  <a:extLst>
                    <a:ext uri="{FF2B5EF4-FFF2-40B4-BE49-F238E27FC236}">
                      <a16:creationId xmlns:a16="http://schemas.microsoft.com/office/drawing/2014/main" id="{70006442-1A25-47EB-9BC5-7FAA6CF9A90D}"/>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95" name="Oval 94">
                  <a:extLst>
                    <a:ext uri="{FF2B5EF4-FFF2-40B4-BE49-F238E27FC236}">
                      <a16:creationId xmlns:a16="http://schemas.microsoft.com/office/drawing/2014/main" id="{D4BD0E7A-2FE0-46B3-9977-CEC7A3AA5735}"/>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96" name="Oval 95">
                  <a:extLst>
                    <a:ext uri="{FF2B5EF4-FFF2-40B4-BE49-F238E27FC236}">
                      <a16:creationId xmlns:a16="http://schemas.microsoft.com/office/drawing/2014/main" id="{5BE5941F-FEDC-4AA8-93C7-213B6CDCA476}"/>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64" name="Group 63">
                <a:extLst>
                  <a:ext uri="{FF2B5EF4-FFF2-40B4-BE49-F238E27FC236}">
                    <a16:creationId xmlns:a16="http://schemas.microsoft.com/office/drawing/2014/main" id="{0C1E6909-F266-48F7-BC5C-34269685D131}"/>
                  </a:ext>
                </a:extLst>
              </p:cNvPr>
              <p:cNvGrpSpPr/>
              <p:nvPr/>
            </p:nvGrpSpPr>
            <p:grpSpPr>
              <a:xfrm rot="5400000">
                <a:off x="10961339" y="3923893"/>
                <a:ext cx="293594" cy="293594"/>
                <a:chOff x="6059156" y="973740"/>
                <a:chExt cx="411196" cy="411196"/>
              </a:xfrm>
              <a:grpFill/>
            </p:grpSpPr>
            <p:sp>
              <p:nvSpPr>
                <p:cNvPr id="85" name="Oval 84">
                  <a:extLst>
                    <a:ext uri="{FF2B5EF4-FFF2-40B4-BE49-F238E27FC236}">
                      <a16:creationId xmlns:a16="http://schemas.microsoft.com/office/drawing/2014/main" id="{26EDFF16-191F-4587-8265-C8E331C9220D}"/>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86" name="Oval 85">
                  <a:extLst>
                    <a:ext uri="{FF2B5EF4-FFF2-40B4-BE49-F238E27FC236}">
                      <a16:creationId xmlns:a16="http://schemas.microsoft.com/office/drawing/2014/main" id="{E2B3D077-D8AE-466F-A54E-DE929ECD1474}"/>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87" name="Oval 86">
                  <a:extLst>
                    <a:ext uri="{FF2B5EF4-FFF2-40B4-BE49-F238E27FC236}">
                      <a16:creationId xmlns:a16="http://schemas.microsoft.com/office/drawing/2014/main" id="{70A1A91A-E13E-4129-B82C-30076AFE52F9}"/>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88" name="Oval 87">
                  <a:extLst>
                    <a:ext uri="{FF2B5EF4-FFF2-40B4-BE49-F238E27FC236}">
                      <a16:creationId xmlns:a16="http://schemas.microsoft.com/office/drawing/2014/main" id="{9611691E-15DC-4AEA-B0BB-EE53DB5203D3}"/>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68" name="Group 67">
                <a:extLst>
                  <a:ext uri="{FF2B5EF4-FFF2-40B4-BE49-F238E27FC236}">
                    <a16:creationId xmlns:a16="http://schemas.microsoft.com/office/drawing/2014/main" id="{78708743-B43A-4F50-8DED-F5D7082FA4D3}"/>
                  </a:ext>
                </a:extLst>
              </p:cNvPr>
              <p:cNvGrpSpPr/>
              <p:nvPr/>
            </p:nvGrpSpPr>
            <p:grpSpPr>
              <a:xfrm rot="5400000">
                <a:off x="9188661" y="820564"/>
                <a:ext cx="293594" cy="293594"/>
                <a:chOff x="6059156" y="973740"/>
                <a:chExt cx="411196" cy="411196"/>
              </a:xfrm>
              <a:grpFill/>
            </p:grpSpPr>
            <p:sp>
              <p:nvSpPr>
                <p:cNvPr id="69" name="Oval 68">
                  <a:extLst>
                    <a:ext uri="{FF2B5EF4-FFF2-40B4-BE49-F238E27FC236}">
                      <a16:creationId xmlns:a16="http://schemas.microsoft.com/office/drawing/2014/main" id="{F8F96BB0-68AC-4EAF-BACF-9660DCEEC292}"/>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70" name="Oval 69">
                  <a:extLst>
                    <a:ext uri="{FF2B5EF4-FFF2-40B4-BE49-F238E27FC236}">
                      <a16:creationId xmlns:a16="http://schemas.microsoft.com/office/drawing/2014/main" id="{D72857F7-68E2-4E17-8682-1B8892E94180}"/>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71" name="Oval 70">
                  <a:extLst>
                    <a:ext uri="{FF2B5EF4-FFF2-40B4-BE49-F238E27FC236}">
                      <a16:creationId xmlns:a16="http://schemas.microsoft.com/office/drawing/2014/main" id="{8C3A1236-314D-479B-A3CD-FB3181ADAA73}"/>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72" name="Oval 71">
                  <a:extLst>
                    <a:ext uri="{FF2B5EF4-FFF2-40B4-BE49-F238E27FC236}">
                      <a16:creationId xmlns:a16="http://schemas.microsoft.com/office/drawing/2014/main" id="{C0F20A6E-645F-4A6C-9B37-8D50CAB105F7}"/>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grpSp>
      <p:grpSp>
        <p:nvGrpSpPr>
          <p:cNvPr id="112" name="Graphic 272">
            <a:extLst>
              <a:ext uri="{FF2B5EF4-FFF2-40B4-BE49-F238E27FC236}">
                <a16:creationId xmlns:a16="http://schemas.microsoft.com/office/drawing/2014/main" id="{85444219-219C-41CF-A405-2B827C330CE9}"/>
              </a:ext>
            </a:extLst>
          </p:cNvPr>
          <p:cNvGrpSpPr/>
          <p:nvPr userDrawn="1"/>
        </p:nvGrpSpPr>
        <p:grpSpPr>
          <a:xfrm>
            <a:off x="5501640" y="580759"/>
            <a:ext cx="6553203" cy="5579701"/>
            <a:chOff x="5353521" y="2543090"/>
            <a:chExt cx="4569705" cy="3890860"/>
          </a:xfrm>
          <a:solidFill>
            <a:schemeClr val="accent1">
              <a:alpha val="5000"/>
            </a:schemeClr>
          </a:solidFill>
        </p:grpSpPr>
        <p:sp>
          <p:nvSpPr>
            <p:cNvPr id="113" name="Freeform: Shape 112">
              <a:extLst>
                <a:ext uri="{FF2B5EF4-FFF2-40B4-BE49-F238E27FC236}">
                  <a16:creationId xmlns:a16="http://schemas.microsoft.com/office/drawing/2014/main" id="{FEE619D9-4D39-4B9E-BAD9-D95354A1DAE5}"/>
                </a:ext>
              </a:extLst>
            </p:cNvPr>
            <p:cNvSpPr/>
            <p:nvPr/>
          </p:nvSpPr>
          <p:spPr>
            <a:xfrm>
              <a:off x="6618438" y="3172501"/>
              <a:ext cx="2533644" cy="2533646"/>
            </a:xfrm>
            <a:custGeom>
              <a:avLst/>
              <a:gdLst>
                <a:gd name="connsiteX0" fmla="*/ 1270730 w 2533650"/>
                <a:gd name="connsiteY0" fmla="*/ 2541461 h 2533650"/>
                <a:gd name="connsiteX1" fmla="*/ 0 w 2533650"/>
                <a:gd name="connsiteY1" fmla="*/ 1270730 h 2533650"/>
                <a:gd name="connsiteX2" fmla="*/ 1270730 w 2533650"/>
                <a:gd name="connsiteY2" fmla="*/ 0 h 2533650"/>
                <a:gd name="connsiteX3" fmla="*/ 2541461 w 2533650"/>
                <a:gd name="connsiteY3" fmla="*/ 1270730 h 2533650"/>
                <a:gd name="connsiteX4" fmla="*/ 1270730 w 2533650"/>
                <a:gd name="connsiteY4" fmla="*/ 2541461 h 2533650"/>
                <a:gd name="connsiteX5" fmla="*/ 1270730 w 2533650"/>
                <a:gd name="connsiteY5" fmla="*/ 7049 h 2533650"/>
                <a:gd name="connsiteX6" fmla="*/ 6953 w 2533650"/>
                <a:gd name="connsiteY6" fmla="*/ 1270826 h 2533650"/>
                <a:gd name="connsiteX7" fmla="*/ 1270730 w 2533650"/>
                <a:gd name="connsiteY7" fmla="*/ 2534603 h 2533650"/>
                <a:gd name="connsiteX8" fmla="*/ 2534508 w 2533650"/>
                <a:gd name="connsiteY8" fmla="*/ 1270826 h 2533650"/>
                <a:gd name="connsiteX9" fmla="*/ 1270730 w 2533650"/>
                <a:gd name="connsiteY9" fmla="*/ 7049 h 2533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3650" h="2533650">
                  <a:moveTo>
                    <a:pt x="1270730" y="2541461"/>
                  </a:moveTo>
                  <a:cubicBezTo>
                    <a:pt x="570071" y="2541461"/>
                    <a:pt x="0" y="1971389"/>
                    <a:pt x="0" y="1270730"/>
                  </a:cubicBezTo>
                  <a:cubicBezTo>
                    <a:pt x="0" y="570071"/>
                    <a:pt x="570071" y="0"/>
                    <a:pt x="1270730" y="0"/>
                  </a:cubicBezTo>
                  <a:cubicBezTo>
                    <a:pt x="1971390" y="0"/>
                    <a:pt x="2541461" y="570071"/>
                    <a:pt x="2541461" y="1270730"/>
                  </a:cubicBezTo>
                  <a:cubicBezTo>
                    <a:pt x="2541461" y="1971485"/>
                    <a:pt x="1971390" y="2541461"/>
                    <a:pt x="1270730" y="2541461"/>
                  </a:cubicBezTo>
                  <a:close/>
                  <a:moveTo>
                    <a:pt x="1270730" y="7049"/>
                  </a:moveTo>
                  <a:cubicBezTo>
                    <a:pt x="573881" y="7049"/>
                    <a:pt x="6953" y="573977"/>
                    <a:pt x="6953" y="1270826"/>
                  </a:cubicBezTo>
                  <a:cubicBezTo>
                    <a:pt x="6953" y="1967675"/>
                    <a:pt x="573881" y="2534603"/>
                    <a:pt x="1270730" y="2534603"/>
                  </a:cubicBezTo>
                  <a:cubicBezTo>
                    <a:pt x="1967579" y="2534603"/>
                    <a:pt x="2534508" y="1967675"/>
                    <a:pt x="2534508" y="1270826"/>
                  </a:cubicBezTo>
                  <a:cubicBezTo>
                    <a:pt x="2534508" y="573977"/>
                    <a:pt x="1967579" y="7049"/>
                    <a:pt x="1270730" y="7049"/>
                  </a:cubicBezTo>
                  <a:close/>
                </a:path>
              </a:pathLst>
            </a:custGeom>
            <a:grpFill/>
            <a:ln w="9525" cap="flat">
              <a:noFill/>
              <a:prstDash val="solid"/>
              <a:miter/>
            </a:ln>
          </p:spPr>
          <p:txBody>
            <a:bodyPr rtlCol="1" anchor="ctr"/>
            <a:lstStyle/>
            <a:p>
              <a:endParaRPr lang="ar-LY" sz="1800"/>
            </a:p>
          </p:txBody>
        </p:sp>
        <p:sp>
          <p:nvSpPr>
            <p:cNvPr id="114" name="Freeform: Shape 113">
              <a:extLst>
                <a:ext uri="{FF2B5EF4-FFF2-40B4-BE49-F238E27FC236}">
                  <a16:creationId xmlns:a16="http://schemas.microsoft.com/office/drawing/2014/main" id="{93B7FB8E-9C4D-41C6-8025-FC2D675BCF83}"/>
                </a:ext>
              </a:extLst>
            </p:cNvPr>
            <p:cNvSpPr/>
            <p:nvPr/>
          </p:nvSpPr>
          <p:spPr>
            <a:xfrm>
              <a:off x="6084753" y="2784739"/>
              <a:ext cx="3314693" cy="3314694"/>
            </a:xfrm>
            <a:custGeom>
              <a:avLst/>
              <a:gdLst>
                <a:gd name="connsiteX0" fmla="*/ 1658588 w 3314700"/>
                <a:gd name="connsiteY0" fmla="*/ 3317177 h 3314700"/>
                <a:gd name="connsiteX1" fmla="*/ 485775 w 3314700"/>
                <a:gd name="connsiteY1" fmla="*/ 2831402 h 3314700"/>
                <a:gd name="connsiteX2" fmla="*/ 0 w 3314700"/>
                <a:gd name="connsiteY2" fmla="*/ 1658588 h 3314700"/>
                <a:gd name="connsiteX3" fmla="*/ 485775 w 3314700"/>
                <a:gd name="connsiteY3" fmla="*/ 485775 h 3314700"/>
                <a:gd name="connsiteX4" fmla="*/ 1658588 w 3314700"/>
                <a:gd name="connsiteY4" fmla="*/ 0 h 3314700"/>
                <a:gd name="connsiteX5" fmla="*/ 2831402 w 3314700"/>
                <a:gd name="connsiteY5" fmla="*/ 485775 h 3314700"/>
                <a:gd name="connsiteX6" fmla="*/ 3317177 w 3314700"/>
                <a:gd name="connsiteY6" fmla="*/ 1658588 h 3314700"/>
                <a:gd name="connsiteX7" fmla="*/ 2831402 w 3314700"/>
                <a:gd name="connsiteY7" fmla="*/ 2831402 h 3314700"/>
                <a:gd name="connsiteX8" fmla="*/ 1658588 w 3314700"/>
                <a:gd name="connsiteY8" fmla="*/ 3317177 h 3314700"/>
                <a:gd name="connsiteX9" fmla="*/ 1658588 w 3314700"/>
                <a:gd name="connsiteY9" fmla="*/ 6858 h 3314700"/>
                <a:gd name="connsiteX10" fmla="*/ 6858 w 3314700"/>
                <a:gd name="connsiteY10" fmla="*/ 1658588 h 3314700"/>
                <a:gd name="connsiteX11" fmla="*/ 1658588 w 3314700"/>
                <a:gd name="connsiteY11" fmla="*/ 3310319 h 3314700"/>
                <a:gd name="connsiteX12" fmla="*/ 3310319 w 3314700"/>
                <a:gd name="connsiteY12" fmla="*/ 1658588 h 3314700"/>
                <a:gd name="connsiteX13" fmla="*/ 1658588 w 3314700"/>
                <a:gd name="connsiteY13" fmla="*/ 6858 h 331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4700" h="3314700">
                  <a:moveTo>
                    <a:pt x="1658588" y="3317177"/>
                  </a:moveTo>
                  <a:cubicBezTo>
                    <a:pt x="1215581" y="3317177"/>
                    <a:pt x="799052" y="3144679"/>
                    <a:pt x="485775" y="2831402"/>
                  </a:cubicBezTo>
                  <a:cubicBezTo>
                    <a:pt x="172498" y="2518124"/>
                    <a:pt x="0" y="2101596"/>
                    <a:pt x="0" y="1658588"/>
                  </a:cubicBezTo>
                  <a:cubicBezTo>
                    <a:pt x="0" y="1215581"/>
                    <a:pt x="172498" y="799052"/>
                    <a:pt x="485775" y="485775"/>
                  </a:cubicBezTo>
                  <a:cubicBezTo>
                    <a:pt x="799052" y="172498"/>
                    <a:pt x="1215581" y="0"/>
                    <a:pt x="1658588" y="0"/>
                  </a:cubicBezTo>
                  <a:cubicBezTo>
                    <a:pt x="2101596" y="0"/>
                    <a:pt x="2518125" y="172498"/>
                    <a:pt x="2831402" y="485775"/>
                  </a:cubicBezTo>
                  <a:cubicBezTo>
                    <a:pt x="3144679" y="799052"/>
                    <a:pt x="3317177" y="1215581"/>
                    <a:pt x="3317177" y="1658588"/>
                  </a:cubicBezTo>
                  <a:cubicBezTo>
                    <a:pt x="3317177" y="2101596"/>
                    <a:pt x="3144679" y="2518124"/>
                    <a:pt x="2831402" y="2831402"/>
                  </a:cubicBezTo>
                  <a:cubicBezTo>
                    <a:pt x="2518220" y="3144679"/>
                    <a:pt x="2101692" y="3317177"/>
                    <a:pt x="1658588" y="3317177"/>
                  </a:cubicBezTo>
                  <a:close/>
                  <a:moveTo>
                    <a:pt x="1658588" y="6858"/>
                  </a:moveTo>
                  <a:cubicBezTo>
                    <a:pt x="747808" y="6858"/>
                    <a:pt x="6858" y="747808"/>
                    <a:pt x="6858" y="1658588"/>
                  </a:cubicBezTo>
                  <a:cubicBezTo>
                    <a:pt x="6858" y="2569369"/>
                    <a:pt x="747808" y="3310319"/>
                    <a:pt x="1658588" y="3310319"/>
                  </a:cubicBezTo>
                  <a:cubicBezTo>
                    <a:pt x="2569369" y="3310319"/>
                    <a:pt x="3310319" y="2569369"/>
                    <a:pt x="3310319" y="1658588"/>
                  </a:cubicBezTo>
                  <a:cubicBezTo>
                    <a:pt x="3310319" y="747808"/>
                    <a:pt x="2569369" y="6858"/>
                    <a:pt x="1658588" y="6858"/>
                  </a:cubicBezTo>
                  <a:close/>
                </a:path>
              </a:pathLst>
            </a:custGeom>
            <a:grpFill/>
            <a:ln w="9525" cap="flat">
              <a:noFill/>
              <a:prstDash val="solid"/>
              <a:miter/>
            </a:ln>
          </p:spPr>
          <p:txBody>
            <a:bodyPr rtlCol="1" anchor="ctr"/>
            <a:lstStyle/>
            <a:p>
              <a:endParaRPr lang="ar-LY" sz="1800"/>
            </a:p>
          </p:txBody>
        </p:sp>
        <p:sp>
          <p:nvSpPr>
            <p:cNvPr id="115" name="Freeform: Shape 114">
              <a:extLst>
                <a:ext uri="{FF2B5EF4-FFF2-40B4-BE49-F238E27FC236}">
                  <a16:creationId xmlns:a16="http://schemas.microsoft.com/office/drawing/2014/main" id="{10D3E6E4-C2E2-4BBF-9BD7-5E65BCFAB36D}"/>
                </a:ext>
              </a:extLst>
            </p:cNvPr>
            <p:cNvSpPr/>
            <p:nvPr/>
          </p:nvSpPr>
          <p:spPr>
            <a:xfrm>
              <a:off x="5887111" y="2930852"/>
              <a:ext cx="2533644" cy="2533646"/>
            </a:xfrm>
            <a:custGeom>
              <a:avLst/>
              <a:gdLst>
                <a:gd name="connsiteX0" fmla="*/ 1270730 w 2533650"/>
                <a:gd name="connsiteY0" fmla="*/ 2541461 h 2533650"/>
                <a:gd name="connsiteX1" fmla="*/ 0 w 2533650"/>
                <a:gd name="connsiteY1" fmla="*/ 1270730 h 2533650"/>
                <a:gd name="connsiteX2" fmla="*/ 1270730 w 2533650"/>
                <a:gd name="connsiteY2" fmla="*/ 0 h 2533650"/>
                <a:gd name="connsiteX3" fmla="*/ 2541461 w 2533650"/>
                <a:gd name="connsiteY3" fmla="*/ 1270730 h 2533650"/>
                <a:gd name="connsiteX4" fmla="*/ 1270730 w 2533650"/>
                <a:gd name="connsiteY4" fmla="*/ 2541461 h 2533650"/>
                <a:gd name="connsiteX5" fmla="*/ 1270730 w 2533650"/>
                <a:gd name="connsiteY5" fmla="*/ 7048 h 2533650"/>
                <a:gd name="connsiteX6" fmla="*/ 6953 w 2533650"/>
                <a:gd name="connsiteY6" fmla="*/ 1270826 h 2533650"/>
                <a:gd name="connsiteX7" fmla="*/ 1270730 w 2533650"/>
                <a:gd name="connsiteY7" fmla="*/ 2534603 h 2533650"/>
                <a:gd name="connsiteX8" fmla="*/ 2534507 w 2533650"/>
                <a:gd name="connsiteY8" fmla="*/ 1270826 h 2533650"/>
                <a:gd name="connsiteX9" fmla="*/ 1270730 w 2533650"/>
                <a:gd name="connsiteY9" fmla="*/ 7048 h 2533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3650" h="2533650">
                  <a:moveTo>
                    <a:pt x="1270730" y="2541461"/>
                  </a:moveTo>
                  <a:cubicBezTo>
                    <a:pt x="570071" y="2541461"/>
                    <a:pt x="0" y="1971389"/>
                    <a:pt x="0" y="1270730"/>
                  </a:cubicBezTo>
                  <a:cubicBezTo>
                    <a:pt x="0" y="570071"/>
                    <a:pt x="570071" y="0"/>
                    <a:pt x="1270730" y="0"/>
                  </a:cubicBezTo>
                  <a:cubicBezTo>
                    <a:pt x="1971389" y="0"/>
                    <a:pt x="2541461" y="570071"/>
                    <a:pt x="2541461" y="1270730"/>
                  </a:cubicBezTo>
                  <a:cubicBezTo>
                    <a:pt x="2541461" y="1971485"/>
                    <a:pt x="1971389" y="2541461"/>
                    <a:pt x="1270730" y="2541461"/>
                  </a:cubicBezTo>
                  <a:close/>
                  <a:moveTo>
                    <a:pt x="1270730" y="7048"/>
                  </a:moveTo>
                  <a:cubicBezTo>
                    <a:pt x="573881" y="7048"/>
                    <a:pt x="6953" y="573977"/>
                    <a:pt x="6953" y="1270826"/>
                  </a:cubicBezTo>
                  <a:cubicBezTo>
                    <a:pt x="6953" y="1967675"/>
                    <a:pt x="573881" y="2534603"/>
                    <a:pt x="1270730" y="2534603"/>
                  </a:cubicBezTo>
                  <a:cubicBezTo>
                    <a:pt x="1967579" y="2534603"/>
                    <a:pt x="2534507" y="1967675"/>
                    <a:pt x="2534507" y="1270826"/>
                  </a:cubicBezTo>
                  <a:cubicBezTo>
                    <a:pt x="2534507" y="573977"/>
                    <a:pt x="1967579" y="7048"/>
                    <a:pt x="1270730" y="7048"/>
                  </a:cubicBezTo>
                  <a:close/>
                </a:path>
              </a:pathLst>
            </a:custGeom>
            <a:grpFill/>
            <a:ln w="9525" cap="flat">
              <a:noFill/>
              <a:prstDash val="solid"/>
              <a:miter/>
            </a:ln>
          </p:spPr>
          <p:txBody>
            <a:bodyPr rtlCol="1" anchor="ctr"/>
            <a:lstStyle/>
            <a:p>
              <a:endParaRPr lang="ar-LY" sz="1800"/>
            </a:p>
          </p:txBody>
        </p:sp>
        <p:sp>
          <p:nvSpPr>
            <p:cNvPr id="116" name="Freeform: Shape 115">
              <a:extLst>
                <a:ext uri="{FF2B5EF4-FFF2-40B4-BE49-F238E27FC236}">
                  <a16:creationId xmlns:a16="http://schemas.microsoft.com/office/drawing/2014/main" id="{4C808A1F-4DDE-476E-91F3-4E4239829CF6}"/>
                </a:ext>
              </a:extLst>
            </p:cNvPr>
            <p:cNvSpPr/>
            <p:nvPr/>
          </p:nvSpPr>
          <p:spPr>
            <a:xfrm>
              <a:off x="5353521" y="2543090"/>
              <a:ext cx="3314693" cy="3314694"/>
            </a:xfrm>
            <a:custGeom>
              <a:avLst/>
              <a:gdLst>
                <a:gd name="connsiteX0" fmla="*/ 1658588 w 3314700"/>
                <a:gd name="connsiteY0" fmla="*/ 3317177 h 3314700"/>
                <a:gd name="connsiteX1" fmla="*/ 485775 w 3314700"/>
                <a:gd name="connsiteY1" fmla="*/ 2831402 h 3314700"/>
                <a:gd name="connsiteX2" fmla="*/ 0 w 3314700"/>
                <a:gd name="connsiteY2" fmla="*/ 1658588 h 3314700"/>
                <a:gd name="connsiteX3" fmla="*/ 485775 w 3314700"/>
                <a:gd name="connsiteY3" fmla="*/ 485775 h 3314700"/>
                <a:gd name="connsiteX4" fmla="*/ 1658588 w 3314700"/>
                <a:gd name="connsiteY4" fmla="*/ 0 h 3314700"/>
                <a:gd name="connsiteX5" fmla="*/ 2831402 w 3314700"/>
                <a:gd name="connsiteY5" fmla="*/ 485775 h 3314700"/>
                <a:gd name="connsiteX6" fmla="*/ 3317177 w 3314700"/>
                <a:gd name="connsiteY6" fmla="*/ 1658588 h 3314700"/>
                <a:gd name="connsiteX7" fmla="*/ 2831402 w 3314700"/>
                <a:gd name="connsiteY7" fmla="*/ 2831402 h 3314700"/>
                <a:gd name="connsiteX8" fmla="*/ 1658588 w 3314700"/>
                <a:gd name="connsiteY8" fmla="*/ 3317177 h 3314700"/>
                <a:gd name="connsiteX9" fmla="*/ 1658588 w 3314700"/>
                <a:gd name="connsiteY9" fmla="*/ 6858 h 3314700"/>
                <a:gd name="connsiteX10" fmla="*/ 6858 w 3314700"/>
                <a:gd name="connsiteY10" fmla="*/ 1658588 h 3314700"/>
                <a:gd name="connsiteX11" fmla="*/ 1658588 w 3314700"/>
                <a:gd name="connsiteY11" fmla="*/ 3310319 h 3314700"/>
                <a:gd name="connsiteX12" fmla="*/ 3310318 w 3314700"/>
                <a:gd name="connsiteY12" fmla="*/ 1658588 h 3314700"/>
                <a:gd name="connsiteX13" fmla="*/ 1658588 w 3314700"/>
                <a:gd name="connsiteY13" fmla="*/ 6858 h 331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4700" h="3314700">
                  <a:moveTo>
                    <a:pt x="1658588" y="3317177"/>
                  </a:moveTo>
                  <a:cubicBezTo>
                    <a:pt x="1215581" y="3317177"/>
                    <a:pt x="799052" y="3144679"/>
                    <a:pt x="485775" y="2831402"/>
                  </a:cubicBezTo>
                  <a:cubicBezTo>
                    <a:pt x="172498" y="2518124"/>
                    <a:pt x="0" y="2101596"/>
                    <a:pt x="0" y="1658588"/>
                  </a:cubicBezTo>
                  <a:cubicBezTo>
                    <a:pt x="0" y="1215581"/>
                    <a:pt x="172498" y="799052"/>
                    <a:pt x="485775" y="485775"/>
                  </a:cubicBezTo>
                  <a:cubicBezTo>
                    <a:pt x="799052" y="172498"/>
                    <a:pt x="1215581" y="0"/>
                    <a:pt x="1658588" y="0"/>
                  </a:cubicBezTo>
                  <a:cubicBezTo>
                    <a:pt x="2101596" y="0"/>
                    <a:pt x="2518124" y="172498"/>
                    <a:pt x="2831402" y="485775"/>
                  </a:cubicBezTo>
                  <a:cubicBezTo>
                    <a:pt x="3144679" y="799052"/>
                    <a:pt x="3317177" y="1215581"/>
                    <a:pt x="3317177" y="1658588"/>
                  </a:cubicBezTo>
                  <a:cubicBezTo>
                    <a:pt x="3317177" y="2101596"/>
                    <a:pt x="3144679" y="2518124"/>
                    <a:pt x="2831402" y="2831402"/>
                  </a:cubicBezTo>
                  <a:cubicBezTo>
                    <a:pt x="2518124" y="3144679"/>
                    <a:pt x="2101596" y="3317177"/>
                    <a:pt x="1658588" y="3317177"/>
                  </a:cubicBezTo>
                  <a:close/>
                  <a:moveTo>
                    <a:pt x="1658588" y="6858"/>
                  </a:moveTo>
                  <a:cubicBezTo>
                    <a:pt x="747808" y="6858"/>
                    <a:pt x="6858" y="747808"/>
                    <a:pt x="6858" y="1658588"/>
                  </a:cubicBezTo>
                  <a:cubicBezTo>
                    <a:pt x="6858" y="2569369"/>
                    <a:pt x="747808" y="3310319"/>
                    <a:pt x="1658588" y="3310319"/>
                  </a:cubicBezTo>
                  <a:cubicBezTo>
                    <a:pt x="2569369" y="3310319"/>
                    <a:pt x="3310318" y="2569369"/>
                    <a:pt x="3310318" y="1658588"/>
                  </a:cubicBezTo>
                  <a:cubicBezTo>
                    <a:pt x="3310318" y="747808"/>
                    <a:pt x="2569274" y="6858"/>
                    <a:pt x="1658588" y="6858"/>
                  </a:cubicBezTo>
                  <a:close/>
                </a:path>
              </a:pathLst>
            </a:custGeom>
            <a:grpFill/>
            <a:ln w="9525" cap="flat">
              <a:noFill/>
              <a:prstDash val="solid"/>
              <a:miter/>
            </a:ln>
          </p:spPr>
          <p:txBody>
            <a:bodyPr rtlCol="1" anchor="ctr"/>
            <a:lstStyle/>
            <a:p>
              <a:endParaRPr lang="ar-LY" sz="1800"/>
            </a:p>
          </p:txBody>
        </p:sp>
        <p:sp>
          <p:nvSpPr>
            <p:cNvPr id="117" name="Freeform: Shape 116">
              <a:extLst>
                <a:ext uri="{FF2B5EF4-FFF2-40B4-BE49-F238E27FC236}">
                  <a16:creationId xmlns:a16="http://schemas.microsoft.com/office/drawing/2014/main" id="{98AD7B4A-E065-45FD-A4AC-752A5D56CA0B}"/>
                </a:ext>
              </a:extLst>
            </p:cNvPr>
            <p:cNvSpPr/>
            <p:nvPr/>
          </p:nvSpPr>
          <p:spPr>
            <a:xfrm>
              <a:off x="8046805" y="4557528"/>
              <a:ext cx="1876421" cy="1876422"/>
            </a:xfrm>
            <a:custGeom>
              <a:avLst/>
              <a:gdLst>
                <a:gd name="connsiteX0" fmla="*/ 941546 w 1876425"/>
                <a:gd name="connsiteY0" fmla="*/ 1883093 h 1876425"/>
                <a:gd name="connsiteX1" fmla="*/ 0 w 1876425"/>
                <a:gd name="connsiteY1" fmla="*/ 941546 h 1876425"/>
                <a:gd name="connsiteX2" fmla="*/ 941546 w 1876425"/>
                <a:gd name="connsiteY2" fmla="*/ 0 h 1876425"/>
                <a:gd name="connsiteX3" fmla="*/ 1883093 w 1876425"/>
                <a:gd name="connsiteY3" fmla="*/ 941546 h 1876425"/>
                <a:gd name="connsiteX4" fmla="*/ 941546 w 1876425"/>
                <a:gd name="connsiteY4" fmla="*/ 1883093 h 1876425"/>
                <a:gd name="connsiteX5" fmla="*/ 941546 w 1876425"/>
                <a:gd name="connsiteY5" fmla="*/ 6858 h 1876425"/>
                <a:gd name="connsiteX6" fmla="*/ 6953 w 1876425"/>
                <a:gd name="connsiteY6" fmla="*/ 941451 h 1876425"/>
                <a:gd name="connsiteX7" fmla="*/ 941546 w 1876425"/>
                <a:gd name="connsiteY7" fmla="*/ 1876044 h 1876425"/>
                <a:gd name="connsiteX8" fmla="*/ 1876139 w 1876425"/>
                <a:gd name="connsiteY8" fmla="*/ 941451 h 1876425"/>
                <a:gd name="connsiteX9" fmla="*/ 941546 w 1876425"/>
                <a:gd name="connsiteY9" fmla="*/ 6858 h 187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6425" h="1876425">
                  <a:moveTo>
                    <a:pt x="941546" y="1883093"/>
                  </a:moveTo>
                  <a:cubicBezTo>
                    <a:pt x="422338" y="1883093"/>
                    <a:pt x="0" y="1460754"/>
                    <a:pt x="0" y="941546"/>
                  </a:cubicBezTo>
                  <a:cubicBezTo>
                    <a:pt x="0" y="422338"/>
                    <a:pt x="422338" y="0"/>
                    <a:pt x="941546" y="0"/>
                  </a:cubicBezTo>
                  <a:cubicBezTo>
                    <a:pt x="1460754" y="0"/>
                    <a:pt x="1883093" y="422338"/>
                    <a:pt x="1883093" y="941546"/>
                  </a:cubicBezTo>
                  <a:cubicBezTo>
                    <a:pt x="1883187" y="1460659"/>
                    <a:pt x="1460754" y="1883093"/>
                    <a:pt x="941546" y="1883093"/>
                  </a:cubicBezTo>
                  <a:close/>
                  <a:moveTo>
                    <a:pt x="941546" y="6858"/>
                  </a:moveTo>
                  <a:cubicBezTo>
                    <a:pt x="426148" y="6858"/>
                    <a:pt x="6953" y="426148"/>
                    <a:pt x="6953" y="941451"/>
                  </a:cubicBezTo>
                  <a:cubicBezTo>
                    <a:pt x="6953" y="1456754"/>
                    <a:pt x="426244" y="1876044"/>
                    <a:pt x="941546" y="1876044"/>
                  </a:cubicBezTo>
                  <a:cubicBezTo>
                    <a:pt x="1456849" y="1876044"/>
                    <a:pt x="1876139" y="1456754"/>
                    <a:pt x="1876139" y="941451"/>
                  </a:cubicBezTo>
                  <a:cubicBezTo>
                    <a:pt x="1876234" y="426148"/>
                    <a:pt x="1456944" y="6858"/>
                    <a:pt x="941546" y="6858"/>
                  </a:cubicBezTo>
                  <a:close/>
                </a:path>
              </a:pathLst>
            </a:custGeom>
            <a:grpFill/>
            <a:ln w="9525" cap="flat">
              <a:noFill/>
              <a:prstDash val="solid"/>
              <a:miter/>
            </a:ln>
          </p:spPr>
          <p:txBody>
            <a:bodyPr rtlCol="1" anchor="ctr"/>
            <a:lstStyle/>
            <a:p>
              <a:endParaRPr lang="ar-LY" sz="1800"/>
            </a:p>
          </p:txBody>
        </p:sp>
        <p:sp>
          <p:nvSpPr>
            <p:cNvPr id="118" name="Freeform: Shape 117">
              <a:extLst>
                <a:ext uri="{FF2B5EF4-FFF2-40B4-BE49-F238E27FC236}">
                  <a16:creationId xmlns:a16="http://schemas.microsoft.com/office/drawing/2014/main" id="{9A81721C-345A-43C6-9596-F3E7011B553F}"/>
                </a:ext>
              </a:extLst>
            </p:cNvPr>
            <p:cNvSpPr/>
            <p:nvPr/>
          </p:nvSpPr>
          <p:spPr>
            <a:xfrm>
              <a:off x="6580720" y="4483233"/>
              <a:ext cx="85725" cy="85725"/>
            </a:xfrm>
            <a:custGeom>
              <a:avLst/>
              <a:gdLst>
                <a:gd name="connsiteX0" fmla="*/ 89535 w 85725"/>
                <a:gd name="connsiteY0" fmla="*/ 44768 h 85725"/>
                <a:gd name="connsiteX1" fmla="*/ 44768 w 85725"/>
                <a:gd name="connsiteY1" fmla="*/ 89535 h 85725"/>
                <a:gd name="connsiteX2" fmla="*/ 0 w 85725"/>
                <a:gd name="connsiteY2" fmla="*/ 44768 h 85725"/>
                <a:gd name="connsiteX3" fmla="*/ 44768 w 85725"/>
                <a:gd name="connsiteY3" fmla="*/ 0 h 85725"/>
                <a:gd name="connsiteX4" fmla="*/ 89535 w 85725"/>
                <a:gd name="connsiteY4" fmla="*/ 44768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9535" y="44768"/>
                  </a:moveTo>
                  <a:cubicBezTo>
                    <a:pt x="89535" y="69533"/>
                    <a:pt x="69437" y="89535"/>
                    <a:pt x="44768" y="89535"/>
                  </a:cubicBezTo>
                  <a:cubicBezTo>
                    <a:pt x="20003" y="89535"/>
                    <a:pt x="0" y="69438"/>
                    <a:pt x="0" y="44768"/>
                  </a:cubicBezTo>
                  <a:cubicBezTo>
                    <a:pt x="0" y="20003"/>
                    <a:pt x="20098" y="0"/>
                    <a:pt x="44768" y="0"/>
                  </a:cubicBezTo>
                  <a:cubicBezTo>
                    <a:pt x="69437" y="-95"/>
                    <a:pt x="89535" y="20003"/>
                    <a:pt x="89535" y="44768"/>
                  </a:cubicBezTo>
                  <a:close/>
                </a:path>
              </a:pathLst>
            </a:custGeom>
            <a:grpFill/>
            <a:ln w="9525" cap="flat">
              <a:noFill/>
              <a:prstDash val="solid"/>
              <a:miter/>
            </a:ln>
          </p:spPr>
          <p:txBody>
            <a:bodyPr rtlCol="1" anchor="ctr"/>
            <a:lstStyle/>
            <a:p>
              <a:endParaRPr lang="ar-LY" sz="1800"/>
            </a:p>
          </p:txBody>
        </p:sp>
        <p:sp>
          <p:nvSpPr>
            <p:cNvPr id="119" name="Freeform: Shape 118">
              <a:extLst>
                <a:ext uri="{FF2B5EF4-FFF2-40B4-BE49-F238E27FC236}">
                  <a16:creationId xmlns:a16="http://schemas.microsoft.com/office/drawing/2014/main" id="{FD19CA89-95D3-47AC-AEC7-7CEF1C02AD2D}"/>
                </a:ext>
              </a:extLst>
            </p:cNvPr>
            <p:cNvSpPr/>
            <p:nvPr/>
          </p:nvSpPr>
          <p:spPr>
            <a:xfrm>
              <a:off x="6510616" y="4413225"/>
              <a:ext cx="228600" cy="228600"/>
            </a:xfrm>
            <a:custGeom>
              <a:avLst/>
              <a:gdLst>
                <a:gd name="connsiteX0" fmla="*/ 229552 w 228600"/>
                <a:gd name="connsiteY0" fmla="*/ 114776 h 228600"/>
                <a:gd name="connsiteX1" fmla="*/ 114776 w 228600"/>
                <a:gd name="connsiteY1" fmla="*/ 229552 h 228600"/>
                <a:gd name="connsiteX2" fmla="*/ 0 w 228600"/>
                <a:gd name="connsiteY2" fmla="*/ 114776 h 228600"/>
                <a:gd name="connsiteX3" fmla="*/ 114776 w 228600"/>
                <a:gd name="connsiteY3" fmla="*/ 0 h 228600"/>
                <a:gd name="connsiteX4" fmla="*/ 229552 w 228600"/>
                <a:gd name="connsiteY4" fmla="*/ 114776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9552" y="114776"/>
                  </a:moveTo>
                  <a:cubicBezTo>
                    <a:pt x="229552" y="178165"/>
                    <a:pt x="178165" y="229552"/>
                    <a:pt x="114776" y="229552"/>
                  </a:cubicBezTo>
                  <a:cubicBezTo>
                    <a:pt x="51387" y="229552"/>
                    <a:pt x="0" y="178165"/>
                    <a:pt x="0" y="114776"/>
                  </a:cubicBezTo>
                  <a:cubicBezTo>
                    <a:pt x="0" y="51387"/>
                    <a:pt x="51387" y="0"/>
                    <a:pt x="114776" y="0"/>
                  </a:cubicBezTo>
                  <a:cubicBezTo>
                    <a:pt x="178165" y="0"/>
                    <a:pt x="229552" y="51387"/>
                    <a:pt x="229552" y="114776"/>
                  </a:cubicBezTo>
                  <a:close/>
                </a:path>
              </a:pathLst>
            </a:custGeom>
            <a:grpFill/>
            <a:ln w="9525" cap="flat">
              <a:noFill/>
              <a:prstDash val="solid"/>
              <a:miter/>
            </a:ln>
          </p:spPr>
          <p:txBody>
            <a:bodyPr rtlCol="1" anchor="ctr"/>
            <a:lstStyle/>
            <a:p>
              <a:endParaRPr lang="ar-LY" sz="1800"/>
            </a:p>
          </p:txBody>
        </p:sp>
        <p:sp>
          <p:nvSpPr>
            <p:cNvPr id="120" name="Freeform: Shape 119">
              <a:extLst>
                <a:ext uri="{FF2B5EF4-FFF2-40B4-BE49-F238E27FC236}">
                  <a16:creationId xmlns:a16="http://schemas.microsoft.com/office/drawing/2014/main" id="{B0D504A2-A3E5-4157-BE64-E485AB4DFBB1}"/>
                </a:ext>
              </a:extLst>
            </p:cNvPr>
            <p:cNvSpPr/>
            <p:nvPr/>
          </p:nvSpPr>
          <p:spPr>
            <a:xfrm>
              <a:off x="6365075" y="3134400"/>
              <a:ext cx="85725" cy="85725"/>
            </a:xfrm>
            <a:custGeom>
              <a:avLst/>
              <a:gdLst>
                <a:gd name="connsiteX0" fmla="*/ 90297 w 85725"/>
                <a:gd name="connsiteY0" fmla="*/ 45149 h 85725"/>
                <a:gd name="connsiteX1" fmla="*/ 45148 w 85725"/>
                <a:gd name="connsiteY1" fmla="*/ 90297 h 85725"/>
                <a:gd name="connsiteX2" fmla="*/ 0 w 85725"/>
                <a:gd name="connsiteY2" fmla="*/ 45149 h 85725"/>
                <a:gd name="connsiteX3" fmla="*/ 45148 w 85725"/>
                <a:gd name="connsiteY3" fmla="*/ 0 h 85725"/>
                <a:gd name="connsiteX4" fmla="*/ 90297 w 85725"/>
                <a:gd name="connsiteY4" fmla="*/ 45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90297" y="45149"/>
                  </a:moveTo>
                  <a:cubicBezTo>
                    <a:pt x="90297" y="70104"/>
                    <a:pt x="70104" y="90297"/>
                    <a:pt x="45148" y="90297"/>
                  </a:cubicBezTo>
                  <a:cubicBezTo>
                    <a:pt x="20193" y="90297"/>
                    <a:pt x="0" y="70104"/>
                    <a:pt x="0" y="45149"/>
                  </a:cubicBezTo>
                  <a:cubicBezTo>
                    <a:pt x="0" y="20193"/>
                    <a:pt x="20193" y="0"/>
                    <a:pt x="45148" y="0"/>
                  </a:cubicBezTo>
                  <a:cubicBezTo>
                    <a:pt x="70104" y="0"/>
                    <a:pt x="90297" y="20193"/>
                    <a:pt x="90297" y="45149"/>
                  </a:cubicBezTo>
                  <a:close/>
                </a:path>
              </a:pathLst>
            </a:custGeom>
            <a:grpFill/>
            <a:ln w="9525" cap="flat">
              <a:noFill/>
              <a:prstDash val="solid"/>
              <a:miter/>
            </a:ln>
          </p:spPr>
          <p:txBody>
            <a:bodyPr rtlCol="1" anchor="ctr"/>
            <a:lstStyle/>
            <a:p>
              <a:endParaRPr lang="ar-LY" sz="1800"/>
            </a:p>
          </p:txBody>
        </p:sp>
        <p:sp>
          <p:nvSpPr>
            <p:cNvPr id="121" name="Freeform: Shape 120">
              <a:extLst>
                <a:ext uri="{FF2B5EF4-FFF2-40B4-BE49-F238E27FC236}">
                  <a16:creationId xmlns:a16="http://schemas.microsoft.com/office/drawing/2014/main" id="{8EE7778B-653E-450F-978F-7E925E87D391}"/>
                </a:ext>
              </a:extLst>
            </p:cNvPr>
            <p:cNvSpPr/>
            <p:nvPr/>
          </p:nvSpPr>
          <p:spPr>
            <a:xfrm>
              <a:off x="6287827" y="3057058"/>
              <a:ext cx="238124" cy="238124"/>
            </a:xfrm>
            <a:custGeom>
              <a:avLst/>
              <a:gdLst>
                <a:gd name="connsiteX0" fmla="*/ 244983 w 238125"/>
                <a:gd name="connsiteY0" fmla="*/ 122492 h 238125"/>
                <a:gd name="connsiteX1" fmla="*/ 122492 w 238125"/>
                <a:gd name="connsiteY1" fmla="*/ 244983 h 238125"/>
                <a:gd name="connsiteX2" fmla="*/ 0 w 238125"/>
                <a:gd name="connsiteY2" fmla="*/ 122492 h 238125"/>
                <a:gd name="connsiteX3" fmla="*/ 122492 w 238125"/>
                <a:gd name="connsiteY3" fmla="*/ 0 h 238125"/>
                <a:gd name="connsiteX4" fmla="*/ 244983 w 238125"/>
                <a:gd name="connsiteY4" fmla="*/ 122492 h 23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25" h="238125">
                  <a:moveTo>
                    <a:pt x="244983" y="122492"/>
                  </a:moveTo>
                  <a:cubicBezTo>
                    <a:pt x="244983" y="190142"/>
                    <a:pt x="190142" y="244983"/>
                    <a:pt x="122492" y="244983"/>
                  </a:cubicBezTo>
                  <a:cubicBezTo>
                    <a:pt x="54841" y="244983"/>
                    <a:pt x="0" y="190142"/>
                    <a:pt x="0" y="122492"/>
                  </a:cubicBezTo>
                  <a:cubicBezTo>
                    <a:pt x="0" y="54841"/>
                    <a:pt x="54842" y="0"/>
                    <a:pt x="122492" y="0"/>
                  </a:cubicBezTo>
                  <a:cubicBezTo>
                    <a:pt x="190142" y="0"/>
                    <a:pt x="244983" y="54841"/>
                    <a:pt x="244983" y="122492"/>
                  </a:cubicBezTo>
                  <a:close/>
                </a:path>
              </a:pathLst>
            </a:custGeom>
            <a:grpFill/>
            <a:ln w="9525" cap="flat">
              <a:noFill/>
              <a:prstDash val="solid"/>
              <a:miter/>
            </a:ln>
          </p:spPr>
          <p:txBody>
            <a:bodyPr rtlCol="1" anchor="ctr"/>
            <a:lstStyle/>
            <a:p>
              <a:endParaRPr lang="ar-LY" sz="1800"/>
            </a:p>
          </p:txBody>
        </p:sp>
        <p:sp>
          <p:nvSpPr>
            <p:cNvPr id="122" name="Freeform: Shape 121">
              <a:extLst>
                <a:ext uri="{FF2B5EF4-FFF2-40B4-BE49-F238E27FC236}">
                  <a16:creationId xmlns:a16="http://schemas.microsoft.com/office/drawing/2014/main" id="{6E0ED142-A91B-4655-9613-58C5826EE2A2}"/>
                </a:ext>
              </a:extLst>
            </p:cNvPr>
            <p:cNvSpPr/>
            <p:nvPr/>
          </p:nvSpPr>
          <p:spPr>
            <a:xfrm>
              <a:off x="9208186" y="3732188"/>
              <a:ext cx="95250" cy="95250"/>
            </a:xfrm>
            <a:custGeom>
              <a:avLst/>
              <a:gdLst>
                <a:gd name="connsiteX0" fmla="*/ 96964 w 95250"/>
                <a:gd name="connsiteY0" fmla="*/ 48482 h 95250"/>
                <a:gd name="connsiteX1" fmla="*/ 48483 w 95250"/>
                <a:gd name="connsiteY1" fmla="*/ 96965 h 95250"/>
                <a:gd name="connsiteX2" fmla="*/ 0 w 95250"/>
                <a:gd name="connsiteY2" fmla="*/ 48482 h 95250"/>
                <a:gd name="connsiteX3" fmla="*/ 48483 w 95250"/>
                <a:gd name="connsiteY3" fmla="*/ 0 h 95250"/>
                <a:gd name="connsiteX4" fmla="*/ 96964 w 95250"/>
                <a:gd name="connsiteY4" fmla="*/ 48482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964" y="48482"/>
                  </a:moveTo>
                  <a:cubicBezTo>
                    <a:pt x="96964" y="75248"/>
                    <a:pt x="75248" y="96965"/>
                    <a:pt x="48483" y="96965"/>
                  </a:cubicBezTo>
                  <a:cubicBezTo>
                    <a:pt x="21717" y="96965"/>
                    <a:pt x="0" y="75248"/>
                    <a:pt x="0" y="48482"/>
                  </a:cubicBezTo>
                  <a:cubicBezTo>
                    <a:pt x="0" y="21717"/>
                    <a:pt x="21717" y="0"/>
                    <a:pt x="48483" y="0"/>
                  </a:cubicBezTo>
                  <a:cubicBezTo>
                    <a:pt x="75248" y="0"/>
                    <a:pt x="96964" y="21717"/>
                    <a:pt x="96964" y="48482"/>
                  </a:cubicBezTo>
                  <a:close/>
                </a:path>
              </a:pathLst>
            </a:custGeom>
            <a:grpFill/>
            <a:ln w="9525" cap="flat">
              <a:noFill/>
              <a:prstDash val="solid"/>
              <a:miter/>
            </a:ln>
          </p:spPr>
          <p:txBody>
            <a:bodyPr rtlCol="1" anchor="ctr"/>
            <a:lstStyle/>
            <a:p>
              <a:endParaRPr lang="ar-LY" sz="1800"/>
            </a:p>
          </p:txBody>
        </p:sp>
        <p:sp>
          <p:nvSpPr>
            <p:cNvPr id="123" name="Freeform: Shape 122">
              <a:extLst>
                <a:ext uri="{FF2B5EF4-FFF2-40B4-BE49-F238E27FC236}">
                  <a16:creationId xmlns:a16="http://schemas.microsoft.com/office/drawing/2014/main" id="{A5C1FEEE-2E7D-4CA6-880C-953D7AAC9EE7}"/>
                </a:ext>
              </a:extLst>
            </p:cNvPr>
            <p:cNvSpPr/>
            <p:nvPr/>
          </p:nvSpPr>
          <p:spPr>
            <a:xfrm>
              <a:off x="9147607" y="3671610"/>
              <a:ext cx="209549" cy="209549"/>
            </a:xfrm>
            <a:custGeom>
              <a:avLst/>
              <a:gdLst>
                <a:gd name="connsiteX0" fmla="*/ 218122 w 209550"/>
                <a:gd name="connsiteY0" fmla="*/ 109061 h 209550"/>
                <a:gd name="connsiteX1" fmla="*/ 109061 w 209550"/>
                <a:gd name="connsiteY1" fmla="*/ 218123 h 209550"/>
                <a:gd name="connsiteX2" fmla="*/ 0 w 209550"/>
                <a:gd name="connsiteY2" fmla="*/ 109061 h 209550"/>
                <a:gd name="connsiteX3" fmla="*/ 109061 w 209550"/>
                <a:gd name="connsiteY3" fmla="*/ 0 h 209550"/>
                <a:gd name="connsiteX4" fmla="*/ 218122 w 209550"/>
                <a:gd name="connsiteY4" fmla="*/ 109061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50" h="209550">
                  <a:moveTo>
                    <a:pt x="218122" y="109061"/>
                  </a:moveTo>
                  <a:cubicBezTo>
                    <a:pt x="218122" y="169294"/>
                    <a:pt x="169294" y="218123"/>
                    <a:pt x="109061" y="218123"/>
                  </a:cubicBezTo>
                  <a:cubicBezTo>
                    <a:pt x="48828" y="218123"/>
                    <a:pt x="0" y="169294"/>
                    <a:pt x="0" y="109061"/>
                  </a:cubicBezTo>
                  <a:cubicBezTo>
                    <a:pt x="0" y="48828"/>
                    <a:pt x="48828" y="0"/>
                    <a:pt x="109061" y="0"/>
                  </a:cubicBezTo>
                  <a:cubicBezTo>
                    <a:pt x="169294" y="0"/>
                    <a:pt x="218122" y="48828"/>
                    <a:pt x="218122" y="109061"/>
                  </a:cubicBezTo>
                  <a:close/>
                </a:path>
              </a:pathLst>
            </a:custGeom>
            <a:grpFill/>
            <a:ln w="9525" cap="flat">
              <a:noFill/>
              <a:prstDash val="solid"/>
              <a:miter/>
            </a:ln>
          </p:spPr>
          <p:txBody>
            <a:bodyPr rtlCol="1" anchor="ctr"/>
            <a:lstStyle/>
            <a:p>
              <a:endParaRPr lang="ar-LY" sz="1800"/>
            </a:p>
          </p:txBody>
        </p:sp>
        <p:sp>
          <p:nvSpPr>
            <p:cNvPr id="124" name="Freeform: Shape 123">
              <a:extLst>
                <a:ext uri="{FF2B5EF4-FFF2-40B4-BE49-F238E27FC236}">
                  <a16:creationId xmlns:a16="http://schemas.microsoft.com/office/drawing/2014/main" id="{701DF13E-798F-4729-9EA1-17DE99DF83F4}"/>
                </a:ext>
              </a:extLst>
            </p:cNvPr>
            <p:cNvSpPr/>
            <p:nvPr/>
          </p:nvSpPr>
          <p:spPr>
            <a:xfrm>
              <a:off x="8059951" y="5750056"/>
              <a:ext cx="85725" cy="85725"/>
            </a:xfrm>
            <a:custGeom>
              <a:avLst/>
              <a:gdLst>
                <a:gd name="connsiteX0" fmla="*/ 88582 w 85725"/>
                <a:gd name="connsiteY0" fmla="*/ 44291 h 85725"/>
                <a:gd name="connsiteX1" fmla="*/ 44291 w 85725"/>
                <a:gd name="connsiteY1" fmla="*/ 88582 h 85725"/>
                <a:gd name="connsiteX2" fmla="*/ 0 w 85725"/>
                <a:gd name="connsiteY2" fmla="*/ 44291 h 85725"/>
                <a:gd name="connsiteX3" fmla="*/ 44291 w 85725"/>
                <a:gd name="connsiteY3" fmla="*/ 0 h 85725"/>
                <a:gd name="connsiteX4" fmla="*/ 88582 w 85725"/>
                <a:gd name="connsiteY4" fmla="*/ 44291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8582" y="44291"/>
                  </a:moveTo>
                  <a:cubicBezTo>
                    <a:pt x="88582" y="68771"/>
                    <a:pt x="68770" y="88582"/>
                    <a:pt x="44291" y="88582"/>
                  </a:cubicBezTo>
                  <a:cubicBezTo>
                    <a:pt x="19812" y="88582"/>
                    <a:pt x="0" y="68771"/>
                    <a:pt x="0" y="44291"/>
                  </a:cubicBezTo>
                  <a:cubicBezTo>
                    <a:pt x="0" y="19812"/>
                    <a:pt x="19812" y="0"/>
                    <a:pt x="44291" y="0"/>
                  </a:cubicBezTo>
                  <a:cubicBezTo>
                    <a:pt x="68770" y="0"/>
                    <a:pt x="88582" y="19812"/>
                    <a:pt x="88582" y="44291"/>
                  </a:cubicBezTo>
                  <a:close/>
                </a:path>
              </a:pathLst>
            </a:custGeom>
            <a:grpFill/>
            <a:ln w="9525" cap="flat">
              <a:noFill/>
              <a:prstDash val="solid"/>
              <a:miter/>
            </a:ln>
          </p:spPr>
          <p:txBody>
            <a:bodyPr rtlCol="1" anchor="ctr"/>
            <a:lstStyle/>
            <a:p>
              <a:endParaRPr lang="ar-LY" sz="1800"/>
            </a:p>
          </p:txBody>
        </p:sp>
        <p:sp>
          <p:nvSpPr>
            <p:cNvPr id="125" name="Freeform: Shape 124">
              <a:extLst>
                <a:ext uri="{FF2B5EF4-FFF2-40B4-BE49-F238E27FC236}">
                  <a16:creationId xmlns:a16="http://schemas.microsoft.com/office/drawing/2014/main" id="{289DADEF-0121-4312-8834-FDDE9C9B8AD7}"/>
                </a:ext>
              </a:extLst>
            </p:cNvPr>
            <p:cNvSpPr/>
            <p:nvPr/>
          </p:nvSpPr>
          <p:spPr>
            <a:xfrm>
              <a:off x="7999371" y="5689382"/>
              <a:ext cx="209549" cy="209549"/>
            </a:xfrm>
            <a:custGeom>
              <a:avLst/>
              <a:gdLst>
                <a:gd name="connsiteX0" fmla="*/ 209931 w 209550"/>
                <a:gd name="connsiteY0" fmla="*/ 104966 h 209550"/>
                <a:gd name="connsiteX1" fmla="*/ 104966 w 209550"/>
                <a:gd name="connsiteY1" fmla="*/ 209931 h 209550"/>
                <a:gd name="connsiteX2" fmla="*/ 0 w 209550"/>
                <a:gd name="connsiteY2" fmla="*/ 104966 h 209550"/>
                <a:gd name="connsiteX3" fmla="*/ 104966 w 209550"/>
                <a:gd name="connsiteY3" fmla="*/ 0 h 209550"/>
                <a:gd name="connsiteX4" fmla="*/ 209931 w 209550"/>
                <a:gd name="connsiteY4" fmla="*/ 104966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50" h="209550">
                  <a:moveTo>
                    <a:pt x="209931" y="104966"/>
                  </a:moveTo>
                  <a:cubicBezTo>
                    <a:pt x="209931" y="162936"/>
                    <a:pt x="162937" y="209931"/>
                    <a:pt x="104966" y="209931"/>
                  </a:cubicBezTo>
                  <a:cubicBezTo>
                    <a:pt x="46995" y="209931"/>
                    <a:pt x="0" y="162936"/>
                    <a:pt x="0" y="104966"/>
                  </a:cubicBezTo>
                  <a:cubicBezTo>
                    <a:pt x="0" y="46995"/>
                    <a:pt x="46995" y="0"/>
                    <a:pt x="104966" y="0"/>
                  </a:cubicBezTo>
                  <a:cubicBezTo>
                    <a:pt x="162937" y="0"/>
                    <a:pt x="209931" y="46995"/>
                    <a:pt x="209931" y="104966"/>
                  </a:cubicBezTo>
                  <a:close/>
                </a:path>
              </a:pathLst>
            </a:custGeom>
            <a:grpFill/>
            <a:ln w="9525" cap="flat">
              <a:noFill/>
              <a:prstDash val="solid"/>
              <a:miter/>
            </a:ln>
          </p:spPr>
          <p:txBody>
            <a:bodyPr rtlCol="1" anchor="ctr"/>
            <a:lstStyle/>
            <a:p>
              <a:endParaRPr lang="ar-LY" sz="1800"/>
            </a:p>
          </p:txBody>
        </p:sp>
        <p:sp>
          <p:nvSpPr>
            <p:cNvPr id="126" name="Freeform: Shape 125">
              <a:extLst>
                <a:ext uri="{FF2B5EF4-FFF2-40B4-BE49-F238E27FC236}">
                  <a16:creationId xmlns:a16="http://schemas.microsoft.com/office/drawing/2014/main" id="{96CAE51E-2807-41A4-8E40-AB804DCC63A8}"/>
                </a:ext>
              </a:extLst>
            </p:cNvPr>
            <p:cNvSpPr/>
            <p:nvPr/>
          </p:nvSpPr>
          <p:spPr>
            <a:xfrm>
              <a:off x="6062086" y="4302163"/>
              <a:ext cx="57150" cy="57150"/>
            </a:xfrm>
            <a:custGeom>
              <a:avLst/>
              <a:gdLst>
                <a:gd name="connsiteX0" fmla="*/ 59055 w 57150"/>
                <a:gd name="connsiteY0" fmla="*/ 29527 h 57150"/>
                <a:gd name="connsiteX1" fmla="*/ 29527 w 57150"/>
                <a:gd name="connsiteY1" fmla="*/ 59055 h 57150"/>
                <a:gd name="connsiteX2" fmla="*/ 0 w 57150"/>
                <a:gd name="connsiteY2" fmla="*/ 29527 h 57150"/>
                <a:gd name="connsiteX3" fmla="*/ 29527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35"/>
                    <a:pt x="45835" y="59055"/>
                    <a:pt x="29527" y="59055"/>
                  </a:cubicBezTo>
                  <a:cubicBezTo>
                    <a:pt x="13220" y="59055"/>
                    <a:pt x="0" y="45835"/>
                    <a:pt x="0" y="29527"/>
                  </a:cubicBezTo>
                  <a:cubicBezTo>
                    <a:pt x="0" y="13220"/>
                    <a:pt x="13220" y="0"/>
                    <a:pt x="29527" y="0"/>
                  </a:cubicBezTo>
                  <a:cubicBezTo>
                    <a:pt x="45835" y="0"/>
                    <a:pt x="59055" y="13220"/>
                    <a:pt x="59055" y="29527"/>
                  </a:cubicBezTo>
                  <a:close/>
                </a:path>
              </a:pathLst>
            </a:custGeom>
            <a:grpFill/>
            <a:ln w="9525" cap="flat">
              <a:noFill/>
              <a:prstDash val="solid"/>
              <a:miter/>
            </a:ln>
          </p:spPr>
          <p:txBody>
            <a:bodyPr rtlCol="1" anchor="ctr"/>
            <a:lstStyle/>
            <a:p>
              <a:endParaRPr lang="ar-LY" sz="1800"/>
            </a:p>
          </p:txBody>
        </p:sp>
        <p:sp>
          <p:nvSpPr>
            <p:cNvPr id="127" name="Freeform: Shape 126">
              <a:extLst>
                <a:ext uri="{FF2B5EF4-FFF2-40B4-BE49-F238E27FC236}">
                  <a16:creationId xmlns:a16="http://schemas.microsoft.com/office/drawing/2014/main" id="{4AC318D9-09A3-47AD-9AA3-AC30AB82F2C8}"/>
                </a:ext>
              </a:extLst>
            </p:cNvPr>
            <p:cNvSpPr/>
            <p:nvPr/>
          </p:nvSpPr>
          <p:spPr>
            <a:xfrm>
              <a:off x="6022081" y="4262158"/>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8013" y="0"/>
                    <a:pt x="139065" y="31147"/>
                    <a:pt x="139065" y="69532"/>
                  </a:cubicBezTo>
                  <a:close/>
                </a:path>
              </a:pathLst>
            </a:custGeom>
            <a:grpFill/>
            <a:ln w="9525" cap="flat">
              <a:noFill/>
              <a:prstDash val="solid"/>
              <a:miter/>
            </a:ln>
          </p:spPr>
          <p:txBody>
            <a:bodyPr rtlCol="1" anchor="ctr"/>
            <a:lstStyle/>
            <a:p>
              <a:endParaRPr lang="ar-LY" sz="1800"/>
            </a:p>
          </p:txBody>
        </p:sp>
        <p:sp>
          <p:nvSpPr>
            <p:cNvPr id="128" name="Freeform: Shape 127">
              <a:extLst>
                <a:ext uri="{FF2B5EF4-FFF2-40B4-BE49-F238E27FC236}">
                  <a16:creationId xmlns:a16="http://schemas.microsoft.com/office/drawing/2014/main" id="{681F6B32-3912-446E-827B-5B3BE0AE76F9}"/>
                </a:ext>
              </a:extLst>
            </p:cNvPr>
            <p:cNvSpPr/>
            <p:nvPr/>
          </p:nvSpPr>
          <p:spPr>
            <a:xfrm>
              <a:off x="7614752" y="3005622"/>
              <a:ext cx="57150" cy="57150"/>
            </a:xfrm>
            <a:custGeom>
              <a:avLst/>
              <a:gdLst>
                <a:gd name="connsiteX0" fmla="*/ 59055 w 57150"/>
                <a:gd name="connsiteY0" fmla="*/ 29527 h 57150"/>
                <a:gd name="connsiteX1" fmla="*/ 29528 w 57150"/>
                <a:gd name="connsiteY1" fmla="*/ 59055 h 57150"/>
                <a:gd name="connsiteX2" fmla="*/ 0 w 57150"/>
                <a:gd name="connsiteY2" fmla="*/ 29527 h 57150"/>
                <a:gd name="connsiteX3" fmla="*/ 29528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15"/>
                    <a:pt x="45815" y="59055"/>
                    <a:pt x="29528" y="59055"/>
                  </a:cubicBezTo>
                  <a:cubicBezTo>
                    <a:pt x="13240" y="59055"/>
                    <a:pt x="0" y="45815"/>
                    <a:pt x="0" y="29527"/>
                  </a:cubicBezTo>
                  <a:cubicBezTo>
                    <a:pt x="0" y="13240"/>
                    <a:pt x="13240" y="0"/>
                    <a:pt x="29528" y="0"/>
                  </a:cubicBezTo>
                  <a:cubicBezTo>
                    <a:pt x="45911" y="0"/>
                    <a:pt x="59055" y="13240"/>
                    <a:pt x="59055" y="29527"/>
                  </a:cubicBezTo>
                  <a:close/>
                </a:path>
              </a:pathLst>
            </a:custGeom>
            <a:grpFill/>
            <a:ln w="9525" cap="flat">
              <a:noFill/>
              <a:prstDash val="solid"/>
              <a:miter/>
            </a:ln>
          </p:spPr>
          <p:txBody>
            <a:bodyPr rtlCol="1" anchor="ctr"/>
            <a:lstStyle/>
            <a:p>
              <a:endParaRPr lang="ar-LY" sz="1800"/>
            </a:p>
          </p:txBody>
        </p:sp>
        <p:sp>
          <p:nvSpPr>
            <p:cNvPr id="129" name="Freeform: Shape 128">
              <a:extLst>
                <a:ext uri="{FF2B5EF4-FFF2-40B4-BE49-F238E27FC236}">
                  <a16:creationId xmlns:a16="http://schemas.microsoft.com/office/drawing/2014/main" id="{428475CA-7275-4981-8594-14953EF4EB15}"/>
                </a:ext>
              </a:extLst>
            </p:cNvPr>
            <p:cNvSpPr/>
            <p:nvPr/>
          </p:nvSpPr>
          <p:spPr>
            <a:xfrm>
              <a:off x="7574842" y="2965617"/>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34"/>
                    <a:pt x="107934" y="139065"/>
                    <a:pt x="69533" y="139065"/>
                  </a:cubicBezTo>
                  <a:cubicBezTo>
                    <a:pt x="31131" y="139065"/>
                    <a:pt x="0" y="107934"/>
                    <a:pt x="0" y="69532"/>
                  </a:cubicBezTo>
                  <a:cubicBezTo>
                    <a:pt x="0" y="31131"/>
                    <a:pt x="31131" y="0"/>
                    <a:pt x="69533" y="0"/>
                  </a:cubicBezTo>
                  <a:cubicBezTo>
                    <a:pt x="107934" y="0"/>
                    <a:pt x="139065" y="31131"/>
                    <a:pt x="139065" y="69532"/>
                  </a:cubicBezTo>
                  <a:close/>
                </a:path>
              </a:pathLst>
            </a:custGeom>
            <a:grpFill/>
            <a:ln w="9525" cap="flat">
              <a:noFill/>
              <a:prstDash val="solid"/>
              <a:miter/>
            </a:ln>
          </p:spPr>
          <p:txBody>
            <a:bodyPr rtlCol="1" anchor="ctr"/>
            <a:lstStyle/>
            <a:p>
              <a:endParaRPr lang="ar-LY" sz="1800"/>
            </a:p>
          </p:txBody>
        </p:sp>
        <p:sp>
          <p:nvSpPr>
            <p:cNvPr id="130" name="Freeform: Shape 129">
              <a:extLst>
                <a:ext uri="{FF2B5EF4-FFF2-40B4-BE49-F238E27FC236}">
                  <a16:creationId xmlns:a16="http://schemas.microsoft.com/office/drawing/2014/main" id="{7718CADC-792B-4F8B-87D2-B9728CA55A05}"/>
                </a:ext>
              </a:extLst>
            </p:cNvPr>
            <p:cNvSpPr/>
            <p:nvPr/>
          </p:nvSpPr>
          <p:spPr>
            <a:xfrm>
              <a:off x="6266682" y="5218561"/>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95"/>
                    <a:pt x="59055" y="13240"/>
                    <a:pt x="59055" y="29528"/>
                  </a:cubicBezTo>
                  <a:close/>
                </a:path>
              </a:pathLst>
            </a:custGeom>
            <a:grpFill/>
            <a:ln w="9525" cap="flat">
              <a:noFill/>
              <a:prstDash val="solid"/>
              <a:miter/>
            </a:ln>
          </p:spPr>
          <p:txBody>
            <a:bodyPr rtlCol="1" anchor="ctr"/>
            <a:lstStyle/>
            <a:p>
              <a:endParaRPr lang="ar-LY" sz="1800"/>
            </a:p>
          </p:txBody>
        </p:sp>
        <p:sp>
          <p:nvSpPr>
            <p:cNvPr id="131" name="Freeform: Shape 130">
              <a:extLst>
                <a:ext uri="{FF2B5EF4-FFF2-40B4-BE49-F238E27FC236}">
                  <a16:creationId xmlns:a16="http://schemas.microsoft.com/office/drawing/2014/main" id="{9E4BCBDD-1D0B-4522-87B8-00D6B54FCC74}"/>
                </a:ext>
              </a:extLst>
            </p:cNvPr>
            <p:cNvSpPr/>
            <p:nvPr/>
          </p:nvSpPr>
          <p:spPr>
            <a:xfrm>
              <a:off x="6226677" y="5178557"/>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7918" y="0"/>
                    <a:pt x="139065" y="31147"/>
                    <a:pt x="139065" y="69532"/>
                  </a:cubicBezTo>
                  <a:close/>
                </a:path>
              </a:pathLst>
            </a:custGeom>
            <a:grpFill/>
            <a:ln w="9525" cap="flat">
              <a:noFill/>
              <a:prstDash val="solid"/>
              <a:miter/>
            </a:ln>
          </p:spPr>
          <p:txBody>
            <a:bodyPr rtlCol="1" anchor="ctr"/>
            <a:lstStyle/>
            <a:p>
              <a:endParaRPr lang="ar-LY" sz="1800"/>
            </a:p>
          </p:txBody>
        </p:sp>
        <p:sp>
          <p:nvSpPr>
            <p:cNvPr id="132" name="Freeform: Shape 131">
              <a:extLst>
                <a:ext uri="{FF2B5EF4-FFF2-40B4-BE49-F238E27FC236}">
                  <a16:creationId xmlns:a16="http://schemas.microsoft.com/office/drawing/2014/main" id="{C6DAD548-F79E-475D-A3FD-430855A8D4CD}"/>
                </a:ext>
              </a:extLst>
            </p:cNvPr>
            <p:cNvSpPr/>
            <p:nvPr/>
          </p:nvSpPr>
          <p:spPr>
            <a:xfrm>
              <a:off x="6710641" y="5362674"/>
              <a:ext cx="57150" cy="57150"/>
            </a:xfrm>
            <a:custGeom>
              <a:avLst/>
              <a:gdLst>
                <a:gd name="connsiteX0" fmla="*/ 59055 w 57150"/>
                <a:gd name="connsiteY0" fmla="*/ 29528 h 57150"/>
                <a:gd name="connsiteX1" fmla="*/ 29527 w 57150"/>
                <a:gd name="connsiteY1" fmla="*/ 59055 h 57150"/>
                <a:gd name="connsiteX2" fmla="*/ 0 w 57150"/>
                <a:gd name="connsiteY2" fmla="*/ 29528 h 57150"/>
                <a:gd name="connsiteX3" fmla="*/ 29527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35"/>
                    <a:pt x="45835" y="59055"/>
                    <a:pt x="29527" y="59055"/>
                  </a:cubicBezTo>
                  <a:cubicBezTo>
                    <a:pt x="13220" y="59055"/>
                    <a:pt x="0" y="45835"/>
                    <a:pt x="0" y="29528"/>
                  </a:cubicBezTo>
                  <a:cubicBezTo>
                    <a:pt x="0" y="13220"/>
                    <a:pt x="13220" y="0"/>
                    <a:pt x="29527" y="0"/>
                  </a:cubicBezTo>
                  <a:cubicBezTo>
                    <a:pt x="45835" y="0"/>
                    <a:pt x="59055" y="13220"/>
                    <a:pt x="59055" y="29528"/>
                  </a:cubicBezTo>
                  <a:close/>
                </a:path>
              </a:pathLst>
            </a:custGeom>
            <a:grpFill/>
            <a:ln w="9525" cap="flat">
              <a:noFill/>
              <a:prstDash val="solid"/>
              <a:miter/>
            </a:ln>
          </p:spPr>
          <p:txBody>
            <a:bodyPr rtlCol="1" anchor="ctr"/>
            <a:lstStyle/>
            <a:p>
              <a:endParaRPr lang="ar-LY" sz="1800"/>
            </a:p>
          </p:txBody>
        </p:sp>
        <p:sp>
          <p:nvSpPr>
            <p:cNvPr id="133" name="Freeform: Shape 132">
              <a:extLst>
                <a:ext uri="{FF2B5EF4-FFF2-40B4-BE49-F238E27FC236}">
                  <a16:creationId xmlns:a16="http://schemas.microsoft.com/office/drawing/2014/main" id="{596A69F1-20DD-48CB-AE5E-DFBE8C519BF0}"/>
                </a:ext>
              </a:extLst>
            </p:cNvPr>
            <p:cNvSpPr/>
            <p:nvPr/>
          </p:nvSpPr>
          <p:spPr>
            <a:xfrm>
              <a:off x="6670636" y="5322669"/>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sz="1800"/>
            </a:p>
          </p:txBody>
        </p:sp>
        <p:sp>
          <p:nvSpPr>
            <p:cNvPr id="134" name="Freeform: Shape 133">
              <a:extLst>
                <a:ext uri="{FF2B5EF4-FFF2-40B4-BE49-F238E27FC236}">
                  <a16:creationId xmlns:a16="http://schemas.microsoft.com/office/drawing/2014/main" id="{9B1CD320-2DA3-48D5-84C1-D9244253B593}"/>
                </a:ext>
              </a:extLst>
            </p:cNvPr>
            <p:cNvSpPr/>
            <p:nvPr/>
          </p:nvSpPr>
          <p:spPr>
            <a:xfrm>
              <a:off x="5947975" y="5469449"/>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95"/>
                    <a:pt x="59055" y="13240"/>
                    <a:pt x="59055" y="29528"/>
                  </a:cubicBezTo>
                  <a:close/>
                </a:path>
              </a:pathLst>
            </a:custGeom>
            <a:grpFill/>
            <a:ln w="9525" cap="flat">
              <a:noFill/>
              <a:prstDash val="solid"/>
              <a:miter/>
            </a:ln>
          </p:spPr>
          <p:txBody>
            <a:bodyPr rtlCol="1" anchor="ctr"/>
            <a:lstStyle/>
            <a:p>
              <a:endParaRPr lang="ar-LY" sz="1800"/>
            </a:p>
          </p:txBody>
        </p:sp>
        <p:sp>
          <p:nvSpPr>
            <p:cNvPr id="135" name="Freeform: Shape 134">
              <a:extLst>
                <a:ext uri="{FF2B5EF4-FFF2-40B4-BE49-F238E27FC236}">
                  <a16:creationId xmlns:a16="http://schemas.microsoft.com/office/drawing/2014/main" id="{D55BF967-B83B-4F8C-B401-364087ABDB10}"/>
                </a:ext>
              </a:extLst>
            </p:cNvPr>
            <p:cNvSpPr/>
            <p:nvPr/>
          </p:nvSpPr>
          <p:spPr>
            <a:xfrm>
              <a:off x="5907970" y="5429445"/>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3" y="139065"/>
                  </a:cubicBezTo>
                  <a:cubicBezTo>
                    <a:pt x="31147" y="139065"/>
                    <a:pt x="0" y="107918"/>
                    <a:pt x="0" y="69532"/>
                  </a:cubicBezTo>
                  <a:cubicBezTo>
                    <a:pt x="0" y="31147"/>
                    <a:pt x="31147" y="0"/>
                    <a:pt x="69533" y="0"/>
                  </a:cubicBezTo>
                  <a:cubicBezTo>
                    <a:pt x="107918" y="95"/>
                    <a:pt x="139065" y="31147"/>
                    <a:pt x="139065" y="69532"/>
                  </a:cubicBezTo>
                  <a:close/>
                </a:path>
              </a:pathLst>
            </a:custGeom>
            <a:grpFill/>
            <a:ln w="9525" cap="flat">
              <a:noFill/>
              <a:prstDash val="solid"/>
              <a:miter/>
            </a:ln>
          </p:spPr>
          <p:txBody>
            <a:bodyPr rtlCol="1" anchor="ctr"/>
            <a:lstStyle/>
            <a:p>
              <a:endParaRPr lang="ar-LY" sz="1800"/>
            </a:p>
          </p:txBody>
        </p:sp>
        <p:sp>
          <p:nvSpPr>
            <p:cNvPr id="136" name="Freeform: Shape 135">
              <a:extLst>
                <a:ext uri="{FF2B5EF4-FFF2-40B4-BE49-F238E27FC236}">
                  <a16:creationId xmlns:a16="http://schemas.microsoft.com/office/drawing/2014/main" id="{7BE9792D-086A-4AF8-A630-840582407577}"/>
                </a:ext>
              </a:extLst>
            </p:cNvPr>
            <p:cNvSpPr/>
            <p:nvPr/>
          </p:nvSpPr>
          <p:spPr>
            <a:xfrm>
              <a:off x="8883574" y="3671514"/>
              <a:ext cx="57150" cy="57150"/>
            </a:xfrm>
            <a:custGeom>
              <a:avLst/>
              <a:gdLst>
                <a:gd name="connsiteX0" fmla="*/ 59055 w 57150"/>
                <a:gd name="connsiteY0" fmla="*/ 29527 h 57150"/>
                <a:gd name="connsiteX1" fmla="*/ 29528 w 57150"/>
                <a:gd name="connsiteY1" fmla="*/ 59055 h 57150"/>
                <a:gd name="connsiteX2" fmla="*/ 0 w 57150"/>
                <a:gd name="connsiteY2" fmla="*/ 29527 h 57150"/>
                <a:gd name="connsiteX3" fmla="*/ 29528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15"/>
                    <a:pt x="45815" y="59055"/>
                    <a:pt x="29528" y="59055"/>
                  </a:cubicBezTo>
                  <a:cubicBezTo>
                    <a:pt x="13240" y="59055"/>
                    <a:pt x="0" y="45815"/>
                    <a:pt x="0" y="29527"/>
                  </a:cubicBezTo>
                  <a:cubicBezTo>
                    <a:pt x="0" y="13240"/>
                    <a:pt x="13240" y="0"/>
                    <a:pt x="29528" y="0"/>
                  </a:cubicBezTo>
                  <a:cubicBezTo>
                    <a:pt x="45815" y="0"/>
                    <a:pt x="59055" y="13240"/>
                    <a:pt x="59055" y="29527"/>
                  </a:cubicBezTo>
                  <a:close/>
                </a:path>
              </a:pathLst>
            </a:custGeom>
            <a:grpFill/>
            <a:ln w="9525" cap="flat">
              <a:noFill/>
              <a:prstDash val="solid"/>
              <a:miter/>
            </a:ln>
          </p:spPr>
          <p:txBody>
            <a:bodyPr rtlCol="1" anchor="ctr"/>
            <a:lstStyle/>
            <a:p>
              <a:endParaRPr lang="ar-LY" sz="1800"/>
            </a:p>
          </p:txBody>
        </p:sp>
        <p:sp>
          <p:nvSpPr>
            <p:cNvPr id="137" name="Freeform: Shape 136">
              <a:extLst>
                <a:ext uri="{FF2B5EF4-FFF2-40B4-BE49-F238E27FC236}">
                  <a16:creationId xmlns:a16="http://schemas.microsoft.com/office/drawing/2014/main" id="{0B5C730C-FDE5-413D-B8DB-3D2EF8DA8220}"/>
                </a:ext>
              </a:extLst>
            </p:cNvPr>
            <p:cNvSpPr/>
            <p:nvPr/>
          </p:nvSpPr>
          <p:spPr>
            <a:xfrm>
              <a:off x="8843569" y="3631509"/>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sz="1800"/>
            </a:p>
          </p:txBody>
        </p:sp>
        <p:sp>
          <p:nvSpPr>
            <p:cNvPr id="138" name="Freeform: Shape 137">
              <a:extLst>
                <a:ext uri="{FF2B5EF4-FFF2-40B4-BE49-F238E27FC236}">
                  <a16:creationId xmlns:a16="http://schemas.microsoft.com/office/drawing/2014/main" id="{23B92F83-F1CF-46E8-B5DB-C09C74DBD5E8}"/>
                </a:ext>
              </a:extLst>
            </p:cNvPr>
            <p:cNvSpPr/>
            <p:nvPr/>
          </p:nvSpPr>
          <p:spPr>
            <a:xfrm>
              <a:off x="9123318" y="4543526"/>
              <a:ext cx="57150" cy="57150"/>
            </a:xfrm>
            <a:custGeom>
              <a:avLst/>
              <a:gdLst>
                <a:gd name="connsiteX0" fmla="*/ 59055 w 57150"/>
                <a:gd name="connsiteY0" fmla="*/ 29528 h 57150"/>
                <a:gd name="connsiteX1" fmla="*/ 29527 w 57150"/>
                <a:gd name="connsiteY1" fmla="*/ 59055 h 57150"/>
                <a:gd name="connsiteX2" fmla="*/ 0 w 57150"/>
                <a:gd name="connsiteY2" fmla="*/ 29528 h 57150"/>
                <a:gd name="connsiteX3" fmla="*/ 29527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7" y="59055"/>
                  </a:cubicBezTo>
                  <a:cubicBezTo>
                    <a:pt x="13239" y="59055"/>
                    <a:pt x="0" y="45815"/>
                    <a:pt x="0" y="29528"/>
                  </a:cubicBezTo>
                  <a:cubicBezTo>
                    <a:pt x="0" y="13240"/>
                    <a:pt x="13239" y="0"/>
                    <a:pt x="29527" y="0"/>
                  </a:cubicBezTo>
                  <a:cubicBezTo>
                    <a:pt x="45910" y="95"/>
                    <a:pt x="59055" y="13240"/>
                    <a:pt x="59055" y="29528"/>
                  </a:cubicBezTo>
                  <a:close/>
                </a:path>
              </a:pathLst>
            </a:custGeom>
            <a:grpFill/>
            <a:ln w="9525" cap="flat">
              <a:noFill/>
              <a:prstDash val="solid"/>
              <a:miter/>
            </a:ln>
          </p:spPr>
          <p:txBody>
            <a:bodyPr rtlCol="1" anchor="ctr"/>
            <a:lstStyle/>
            <a:p>
              <a:endParaRPr lang="ar-LY" sz="1800"/>
            </a:p>
          </p:txBody>
        </p:sp>
        <p:sp>
          <p:nvSpPr>
            <p:cNvPr id="139" name="Freeform: Shape 138">
              <a:extLst>
                <a:ext uri="{FF2B5EF4-FFF2-40B4-BE49-F238E27FC236}">
                  <a16:creationId xmlns:a16="http://schemas.microsoft.com/office/drawing/2014/main" id="{0446919C-B6A9-4394-ACBE-2A07A507DBAB}"/>
                </a:ext>
              </a:extLst>
            </p:cNvPr>
            <p:cNvSpPr/>
            <p:nvPr/>
          </p:nvSpPr>
          <p:spPr>
            <a:xfrm>
              <a:off x="9083408" y="4503235"/>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sz="1800"/>
            </a:p>
          </p:txBody>
        </p:sp>
        <p:sp>
          <p:nvSpPr>
            <p:cNvPr id="140" name="Freeform: Shape 139">
              <a:extLst>
                <a:ext uri="{FF2B5EF4-FFF2-40B4-BE49-F238E27FC236}">
                  <a16:creationId xmlns:a16="http://schemas.microsoft.com/office/drawing/2014/main" id="{F85861B1-DF83-4CFB-AECB-159E868CEAD9}"/>
                </a:ext>
              </a:extLst>
            </p:cNvPr>
            <p:cNvSpPr/>
            <p:nvPr/>
          </p:nvSpPr>
          <p:spPr>
            <a:xfrm>
              <a:off x="9227140" y="5087307"/>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0"/>
                    <a:pt x="59055" y="13240"/>
                    <a:pt x="59055" y="29528"/>
                  </a:cubicBezTo>
                  <a:close/>
                </a:path>
              </a:pathLst>
            </a:custGeom>
            <a:grpFill/>
            <a:ln w="9525" cap="flat">
              <a:noFill/>
              <a:prstDash val="solid"/>
              <a:miter/>
            </a:ln>
          </p:spPr>
          <p:txBody>
            <a:bodyPr rtlCol="1" anchor="ctr"/>
            <a:lstStyle/>
            <a:p>
              <a:endParaRPr lang="ar-LY" sz="1800"/>
            </a:p>
          </p:txBody>
        </p:sp>
        <p:sp>
          <p:nvSpPr>
            <p:cNvPr id="141" name="Freeform: Shape 140">
              <a:extLst>
                <a:ext uri="{FF2B5EF4-FFF2-40B4-BE49-F238E27FC236}">
                  <a16:creationId xmlns:a16="http://schemas.microsoft.com/office/drawing/2014/main" id="{08F42432-F2AE-4F37-8263-177E4B42F934}"/>
                </a:ext>
              </a:extLst>
            </p:cNvPr>
            <p:cNvSpPr/>
            <p:nvPr/>
          </p:nvSpPr>
          <p:spPr>
            <a:xfrm>
              <a:off x="9187136" y="5047304"/>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3" y="139065"/>
                  </a:cubicBezTo>
                  <a:cubicBezTo>
                    <a:pt x="31147" y="139065"/>
                    <a:pt x="0" y="107918"/>
                    <a:pt x="0" y="69532"/>
                  </a:cubicBezTo>
                  <a:cubicBezTo>
                    <a:pt x="0" y="31147"/>
                    <a:pt x="31147" y="0"/>
                    <a:pt x="69533" y="0"/>
                  </a:cubicBezTo>
                  <a:cubicBezTo>
                    <a:pt x="107918" y="0"/>
                    <a:pt x="139065" y="31147"/>
                    <a:pt x="139065" y="69532"/>
                  </a:cubicBezTo>
                  <a:close/>
                </a:path>
              </a:pathLst>
            </a:custGeom>
            <a:grpFill/>
            <a:ln w="9525" cap="flat">
              <a:noFill/>
              <a:prstDash val="solid"/>
              <a:miter/>
            </a:ln>
          </p:spPr>
          <p:txBody>
            <a:bodyPr rtlCol="1" anchor="ctr"/>
            <a:lstStyle/>
            <a:p>
              <a:endParaRPr lang="ar-LY" sz="1800"/>
            </a:p>
          </p:txBody>
        </p:sp>
        <p:sp>
          <p:nvSpPr>
            <p:cNvPr id="142" name="Freeform: Shape 141">
              <a:extLst>
                <a:ext uri="{FF2B5EF4-FFF2-40B4-BE49-F238E27FC236}">
                  <a16:creationId xmlns:a16="http://schemas.microsoft.com/office/drawing/2014/main" id="{C6CD409E-8A15-4A92-9D13-7DF760D4A7E5}"/>
                </a:ext>
              </a:extLst>
            </p:cNvPr>
            <p:cNvSpPr/>
            <p:nvPr/>
          </p:nvSpPr>
          <p:spPr>
            <a:xfrm>
              <a:off x="6714071" y="3097063"/>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0"/>
                    <a:pt x="59055" y="13240"/>
                    <a:pt x="59055" y="29528"/>
                  </a:cubicBezTo>
                  <a:close/>
                </a:path>
              </a:pathLst>
            </a:custGeom>
            <a:grpFill/>
            <a:ln w="9525" cap="flat">
              <a:noFill/>
              <a:prstDash val="solid"/>
              <a:miter/>
            </a:ln>
          </p:spPr>
          <p:txBody>
            <a:bodyPr rtlCol="1" anchor="ctr"/>
            <a:lstStyle/>
            <a:p>
              <a:endParaRPr lang="ar-LY" sz="1800"/>
            </a:p>
          </p:txBody>
        </p:sp>
        <p:sp>
          <p:nvSpPr>
            <p:cNvPr id="143" name="Freeform: Shape 142">
              <a:extLst>
                <a:ext uri="{FF2B5EF4-FFF2-40B4-BE49-F238E27FC236}">
                  <a16:creationId xmlns:a16="http://schemas.microsoft.com/office/drawing/2014/main" id="{CCABC29B-5A52-4654-847A-BD11CD88F20B}"/>
                </a:ext>
              </a:extLst>
            </p:cNvPr>
            <p:cNvSpPr/>
            <p:nvPr/>
          </p:nvSpPr>
          <p:spPr>
            <a:xfrm>
              <a:off x="6674079" y="3057063"/>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7918" y="0"/>
                    <a:pt x="139065" y="31147"/>
                    <a:pt x="139065" y="69532"/>
                  </a:cubicBezTo>
                  <a:close/>
                </a:path>
              </a:pathLst>
            </a:custGeom>
            <a:grpFill/>
            <a:ln w="9525" cap="flat">
              <a:noFill/>
              <a:prstDash val="solid"/>
              <a:miter/>
            </a:ln>
          </p:spPr>
          <p:txBody>
            <a:bodyPr rtlCol="1" anchor="ctr"/>
            <a:lstStyle/>
            <a:p>
              <a:endParaRPr lang="ar-LY" sz="1800"/>
            </a:p>
          </p:txBody>
        </p:sp>
      </p:grpSp>
    </p:spTree>
    <p:extLst>
      <p:ext uri="{BB962C8B-B14F-4D97-AF65-F5344CB8AC3E}">
        <p14:creationId xmlns:p14="http://schemas.microsoft.com/office/powerpoint/2010/main" val="1082210236"/>
      </p:ext>
    </p:extLst>
  </p:cSld>
  <p:clrMap bg1="lt1" tx1="dk1" bg2="lt2" tx2="dk2" accent1="accent1" accent2="accent2" accent3="accent3" accent4="accent4" accent5="accent5" accent6="accent6" hlink="hlink" folHlink="folHlink"/>
  <p:sldLayoutIdLst>
    <p:sldLayoutId id="[redacted]" r:id="rId1"/>
    <p:sldLayoutId id="[redacted]" r:id="rId2"/>
    <p:sldLayoutId id="[redacted]" r:id="rId3"/>
    <p:sldLayoutId id="[redacted]" r:id="rId4"/>
    <p:sldLayoutId id="[redacted]" r:id="rId5"/>
    <p:sldLayoutId id="[redacted]" r:id="rId6"/>
    <p:sldLayoutId id="[redacted]" r:id="rId7"/>
    <p:sldLayoutId id="[redacted]" r:id="rId8"/>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LY"/>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tiff"/></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TextBox 308">
            <a:extLst>
              <a:ext uri="{FF2B5EF4-FFF2-40B4-BE49-F238E27FC236}">
                <a16:creationId xmlns:a16="http://schemas.microsoft.com/office/drawing/2014/main" id="{D5FC8BB6-F6FB-476D-B484-6B5D63DE65D3}"/>
              </a:ext>
            </a:extLst>
          </p:cNvPr>
          <p:cNvSpPr txBox="1"/>
          <p:nvPr/>
        </p:nvSpPr>
        <p:spPr>
          <a:xfrm>
            <a:off x="4721779" y="2611449"/>
            <a:ext cx="5027339" cy="1107996"/>
          </a:xfrm>
          <a:prstGeom prst="rect">
            <a:avLst/>
          </a:prstGeom>
          <a:noFill/>
        </p:spPr>
        <p:txBody>
          <a:bodyPr wrap="square" rtlCol="1">
            <a:spAutoFit/>
          </a:bodyPr>
          <a:lstStyle/>
          <a:p>
            <a:r>
              <a:rPr lang="en-US" sz="4800" dirty="0">
                <a:solidFill>
                  <a:schemeClr val="bg1"/>
                </a:solidFill>
                <a:latin typeface="Poppins" panose="00000500000000000000" pitchFamily="2" charset="0"/>
                <a:cs typeface="Poppins" panose="00000500000000000000" pitchFamily="2" charset="0"/>
              </a:rPr>
              <a:t>Ambient Systems</a:t>
            </a:r>
          </a:p>
          <a:p>
            <a:r>
              <a:rPr lang="en-CA" dirty="0">
                <a:solidFill>
                  <a:schemeClr val="bg1"/>
                </a:solidFill>
              </a:rPr>
              <a:t>Climate Management for Cities of Tomorrow</a:t>
            </a:r>
            <a:endParaRPr lang="en-CA" sz="2400" dirty="0">
              <a:solidFill>
                <a:schemeClr val="bg1"/>
              </a:solidFill>
            </a:endParaRPr>
          </a:p>
        </p:txBody>
      </p:sp>
      <p:grpSp>
        <p:nvGrpSpPr>
          <p:cNvPr id="4" name="Group 3">
            <a:extLst>
              <a:ext uri="{FF2B5EF4-FFF2-40B4-BE49-F238E27FC236}">
                <a16:creationId xmlns:a16="http://schemas.microsoft.com/office/drawing/2014/main" id="{DCC86869-144C-4362-8835-D83D20FAD15C}"/>
              </a:ext>
            </a:extLst>
          </p:cNvPr>
          <p:cNvGrpSpPr/>
          <p:nvPr/>
        </p:nvGrpSpPr>
        <p:grpSpPr>
          <a:xfrm>
            <a:off x="0" y="4868033"/>
            <a:ext cx="2362200" cy="2025452"/>
            <a:chOff x="0" y="4868032"/>
            <a:chExt cx="2362200" cy="2025452"/>
          </a:xfrm>
        </p:grpSpPr>
        <p:sp>
          <p:nvSpPr>
            <p:cNvPr id="108" name="Freeform: Shape 107">
              <a:extLst>
                <a:ext uri="{FF2B5EF4-FFF2-40B4-BE49-F238E27FC236}">
                  <a16:creationId xmlns:a16="http://schemas.microsoft.com/office/drawing/2014/main" id="{7ACC092D-78DF-43A4-A6FD-9333EE17D3AB}"/>
                </a:ext>
              </a:extLst>
            </p:cNvPr>
            <p:cNvSpPr/>
            <p:nvPr/>
          </p:nvSpPr>
          <p:spPr>
            <a:xfrm flipH="1" flipV="1">
              <a:off x="1682808" y="5249619"/>
              <a:ext cx="623452" cy="802801"/>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109" name="Freeform: Shape 108">
              <a:extLst>
                <a:ext uri="{FF2B5EF4-FFF2-40B4-BE49-F238E27FC236}">
                  <a16:creationId xmlns:a16="http://schemas.microsoft.com/office/drawing/2014/main" id="{380BCF0F-69DE-4BB7-9095-FBC6E0843EFE}"/>
                </a:ext>
              </a:extLst>
            </p:cNvPr>
            <p:cNvSpPr/>
            <p:nvPr/>
          </p:nvSpPr>
          <p:spPr>
            <a:xfrm flipH="1" flipV="1">
              <a:off x="1694423" y="5769135"/>
              <a:ext cx="614912" cy="973610"/>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110" name="Freeform: Shape 109">
              <a:extLst>
                <a:ext uri="{FF2B5EF4-FFF2-40B4-BE49-F238E27FC236}">
                  <a16:creationId xmlns:a16="http://schemas.microsoft.com/office/drawing/2014/main" id="{6B579CB2-7678-49F4-88A7-4999A20A95CE}"/>
                </a:ext>
              </a:extLst>
            </p:cNvPr>
            <p:cNvSpPr/>
            <p:nvPr/>
          </p:nvSpPr>
          <p:spPr>
            <a:xfrm flipH="1" flipV="1">
              <a:off x="1200872" y="4902878"/>
              <a:ext cx="631992" cy="862584"/>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111" name="Freeform: Shape 110">
              <a:extLst>
                <a:ext uri="{FF2B5EF4-FFF2-40B4-BE49-F238E27FC236}">
                  <a16:creationId xmlns:a16="http://schemas.microsoft.com/office/drawing/2014/main" id="{18CAAF9A-FB00-4319-B3BB-3C400040CB09}"/>
                </a:ext>
              </a:extLst>
            </p:cNvPr>
            <p:cNvSpPr/>
            <p:nvPr/>
          </p:nvSpPr>
          <p:spPr>
            <a:xfrm flipH="1" flipV="1">
              <a:off x="1693825" y="5773405"/>
              <a:ext cx="606371" cy="965070"/>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112" name="Freeform: Shape 111">
              <a:extLst>
                <a:ext uri="{FF2B5EF4-FFF2-40B4-BE49-F238E27FC236}">
                  <a16:creationId xmlns:a16="http://schemas.microsoft.com/office/drawing/2014/main" id="{A7EF2380-4836-42E9-AFD0-6A2BFF259481}"/>
                </a:ext>
              </a:extLst>
            </p:cNvPr>
            <p:cNvSpPr/>
            <p:nvPr/>
          </p:nvSpPr>
          <p:spPr>
            <a:xfrm flipH="1" flipV="1">
              <a:off x="1259972" y="5766743"/>
              <a:ext cx="427022" cy="896746"/>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3" name="Freeform: Shape 112">
              <a:extLst>
                <a:ext uri="{FF2B5EF4-FFF2-40B4-BE49-F238E27FC236}">
                  <a16:creationId xmlns:a16="http://schemas.microsoft.com/office/drawing/2014/main" id="{4F340D06-58A4-4370-A1F7-8F744B68750F}"/>
                </a:ext>
              </a:extLst>
            </p:cNvPr>
            <p:cNvSpPr/>
            <p:nvPr/>
          </p:nvSpPr>
          <p:spPr>
            <a:xfrm flipH="1" flipV="1">
              <a:off x="1337262" y="5766743"/>
              <a:ext cx="555128" cy="896746"/>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114" name="Freeform: Shape 113">
              <a:extLst>
                <a:ext uri="{FF2B5EF4-FFF2-40B4-BE49-F238E27FC236}">
                  <a16:creationId xmlns:a16="http://schemas.microsoft.com/office/drawing/2014/main" id="{5CFD9798-531C-4A05-998B-5C6D65916ECC}"/>
                </a:ext>
              </a:extLst>
            </p:cNvPr>
            <p:cNvSpPr/>
            <p:nvPr/>
          </p:nvSpPr>
          <p:spPr>
            <a:xfrm flipH="1" flipV="1">
              <a:off x="407123" y="4872388"/>
              <a:ext cx="785720" cy="563669"/>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115" name="Freeform: Shape 114">
              <a:extLst>
                <a:ext uri="{FF2B5EF4-FFF2-40B4-BE49-F238E27FC236}">
                  <a16:creationId xmlns:a16="http://schemas.microsoft.com/office/drawing/2014/main" id="{7AA26C9D-42AB-46CF-80C1-C70767C9E73D}"/>
                </a:ext>
              </a:extLst>
            </p:cNvPr>
            <p:cNvSpPr/>
            <p:nvPr/>
          </p:nvSpPr>
          <p:spPr>
            <a:xfrm flipH="1" flipV="1">
              <a:off x="1106244" y="5447075"/>
              <a:ext cx="580750" cy="495346"/>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dirty="0"/>
            </a:p>
          </p:txBody>
        </p:sp>
        <p:sp>
          <p:nvSpPr>
            <p:cNvPr id="116" name="Freeform: Shape 115">
              <a:extLst>
                <a:ext uri="{FF2B5EF4-FFF2-40B4-BE49-F238E27FC236}">
                  <a16:creationId xmlns:a16="http://schemas.microsoft.com/office/drawing/2014/main" id="{E72CB72B-FD85-4DC3-8F3B-C107D1D8265B}"/>
                </a:ext>
              </a:extLst>
            </p:cNvPr>
            <p:cNvSpPr/>
            <p:nvPr/>
          </p:nvSpPr>
          <p:spPr>
            <a:xfrm flipH="1" flipV="1">
              <a:off x="1106244" y="4902878"/>
              <a:ext cx="580750" cy="862584"/>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117" name="Freeform: Shape 116">
              <a:extLst>
                <a:ext uri="{FF2B5EF4-FFF2-40B4-BE49-F238E27FC236}">
                  <a16:creationId xmlns:a16="http://schemas.microsoft.com/office/drawing/2014/main" id="{B9151E3B-F894-4AB0-AA0E-EEC36F29EFF1}"/>
                </a:ext>
              </a:extLst>
            </p:cNvPr>
            <p:cNvSpPr/>
            <p:nvPr/>
          </p:nvSpPr>
          <p:spPr>
            <a:xfrm flipH="1" flipV="1">
              <a:off x="407123" y="4897411"/>
              <a:ext cx="785720" cy="546588"/>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118" name="Freeform: Shape 117">
              <a:extLst>
                <a:ext uri="{FF2B5EF4-FFF2-40B4-BE49-F238E27FC236}">
                  <a16:creationId xmlns:a16="http://schemas.microsoft.com/office/drawing/2014/main" id="{B0752B23-2A48-45EA-8029-E73055306DBE}"/>
                </a:ext>
              </a:extLst>
            </p:cNvPr>
            <p:cNvSpPr/>
            <p:nvPr/>
          </p:nvSpPr>
          <p:spPr>
            <a:xfrm flipH="1" flipV="1">
              <a:off x="342" y="5278549"/>
              <a:ext cx="404252" cy="15745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9" name="Freeform: Shape 118">
              <a:extLst>
                <a:ext uri="{FF2B5EF4-FFF2-40B4-BE49-F238E27FC236}">
                  <a16:creationId xmlns:a16="http://schemas.microsoft.com/office/drawing/2014/main" id="{638608FF-F4D3-4A4C-88BF-AB40047AEBAF}"/>
                </a:ext>
              </a:extLst>
            </p:cNvPr>
            <p:cNvSpPr/>
            <p:nvPr/>
          </p:nvSpPr>
          <p:spPr>
            <a:xfrm flipH="1" flipV="1">
              <a:off x="342" y="5280245"/>
              <a:ext cx="404389" cy="726314"/>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0" name="Freeform: Shape 119">
              <a:extLst>
                <a:ext uri="{FF2B5EF4-FFF2-40B4-BE49-F238E27FC236}">
                  <a16:creationId xmlns:a16="http://schemas.microsoft.com/office/drawing/2014/main" id="{E8C2A47E-5451-469D-9593-BE466AF3261F}"/>
                </a:ext>
              </a:extLst>
            </p:cNvPr>
            <p:cNvSpPr/>
            <p:nvPr/>
          </p:nvSpPr>
          <p:spPr>
            <a:xfrm flipH="1" flipV="1">
              <a:off x="342" y="4873925"/>
              <a:ext cx="534973" cy="562132"/>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1" name="Freeform: Shape 120">
              <a:extLst>
                <a:ext uri="{FF2B5EF4-FFF2-40B4-BE49-F238E27FC236}">
                  <a16:creationId xmlns:a16="http://schemas.microsoft.com/office/drawing/2014/main" id="{86CE580B-9297-481E-8EFD-111C8EB1DA22}"/>
                </a:ext>
              </a:extLst>
            </p:cNvPr>
            <p:cNvSpPr/>
            <p:nvPr/>
          </p:nvSpPr>
          <p:spPr>
            <a:xfrm flipH="1" flipV="1">
              <a:off x="411734" y="5442548"/>
              <a:ext cx="691776" cy="4270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2" name="Freeform: Shape 121">
              <a:extLst>
                <a:ext uri="{FF2B5EF4-FFF2-40B4-BE49-F238E27FC236}">
                  <a16:creationId xmlns:a16="http://schemas.microsoft.com/office/drawing/2014/main" id="{2474B05D-C381-4F0F-A16F-E35DC5850724}"/>
                </a:ext>
              </a:extLst>
            </p:cNvPr>
            <p:cNvSpPr/>
            <p:nvPr/>
          </p:nvSpPr>
          <p:spPr>
            <a:xfrm flipH="1" flipV="1">
              <a:off x="760440" y="5447075"/>
              <a:ext cx="495346" cy="495346"/>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3" name="Freeform: Shape 122">
              <a:extLst>
                <a:ext uri="{FF2B5EF4-FFF2-40B4-BE49-F238E27FC236}">
                  <a16:creationId xmlns:a16="http://schemas.microsoft.com/office/drawing/2014/main" id="{BD3AF008-5BDE-4A4F-9174-5B51298F6F20}"/>
                </a:ext>
              </a:extLst>
            </p:cNvPr>
            <p:cNvSpPr/>
            <p:nvPr/>
          </p:nvSpPr>
          <p:spPr>
            <a:xfrm flipH="1" flipV="1">
              <a:off x="883594" y="5946092"/>
              <a:ext cx="452643" cy="717397"/>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124" name="Freeform: Shape 123">
              <a:extLst>
                <a:ext uri="{FF2B5EF4-FFF2-40B4-BE49-F238E27FC236}">
                  <a16:creationId xmlns:a16="http://schemas.microsoft.com/office/drawing/2014/main" id="{F57B656B-D254-4308-8FFF-3E5521C28F19}"/>
                </a:ext>
              </a:extLst>
            </p:cNvPr>
            <p:cNvSpPr/>
            <p:nvPr/>
          </p:nvSpPr>
          <p:spPr>
            <a:xfrm flipH="1" flipV="1">
              <a:off x="760440" y="5870851"/>
              <a:ext cx="495346" cy="478264"/>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5" name="Freeform: Shape 124">
              <a:extLst>
                <a:ext uri="{FF2B5EF4-FFF2-40B4-BE49-F238E27FC236}">
                  <a16:creationId xmlns:a16="http://schemas.microsoft.com/office/drawing/2014/main" id="{A8C92B49-0F94-4570-B79E-A18D73B7745C}"/>
                </a:ext>
              </a:extLst>
            </p:cNvPr>
            <p:cNvSpPr/>
            <p:nvPr/>
          </p:nvSpPr>
          <p:spPr>
            <a:xfrm flipH="1" flipV="1">
              <a:off x="412162" y="5442548"/>
              <a:ext cx="341618" cy="879665"/>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126" name="Freeform: Shape 125">
              <a:extLst>
                <a:ext uri="{FF2B5EF4-FFF2-40B4-BE49-F238E27FC236}">
                  <a16:creationId xmlns:a16="http://schemas.microsoft.com/office/drawing/2014/main" id="{8AC761C4-41DA-438E-A81C-7D1D96456964}"/>
                </a:ext>
              </a:extLst>
            </p:cNvPr>
            <p:cNvSpPr/>
            <p:nvPr/>
          </p:nvSpPr>
          <p:spPr>
            <a:xfrm flipH="1" flipV="1">
              <a:off x="14348" y="5442548"/>
              <a:ext cx="435562" cy="879665"/>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127" name="Freeform: Shape 126">
              <a:extLst>
                <a:ext uri="{FF2B5EF4-FFF2-40B4-BE49-F238E27FC236}">
                  <a16:creationId xmlns:a16="http://schemas.microsoft.com/office/drawing/2014/main" id="{FC8B8D8F-A2F4-448D-8077-D07A23B344D6}"/>
                </a:ext>
              </a:extLst>
            </p:cNvPr>
            <p:cNvSpPr/>
            <p:nvPr/>
          </p:nvSpPr>
          <p:spPr>
            <a:xfrm flipH="1" flipV="1">
              <a:off x="455376" y="5870851"/>
              <a:ext cx="427022" cy="478264"/>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8" name="Freeform: Shape 127">
              <a:extLst>
                <a:ext uri="{FF2B5EF4-FFF2-40B4-BE49-F238E27FC236}">
                  <a16:creationId xmlns:a16="http://schemas.microsoft.com/office/drawing/2014/main" id="{EC505487-3EA0-467C-97AC-0095AD99C644}"/>
                </a:ext>
              </a:extLst>
            </p:cNvPr>
            <p:cNvSpPr/>
            <p:nvPr/>
          </p:nvSpPr>
          <p:spPr>
            <a:xfrm flipH="1" flipV="1">
              <a:off x="883594" y="6355436"/>
              <a:ext cx="452643" cy="538048"/>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25400" cap="flat">
              <a:solidFill>
                <a:schemeClr val="accent1">
                  <a:alpha val="10000"/>
                </a:schemeClr>
              </a:solidFill>
              <a:prstDash val="solid"/>
              <a:round/>
            </a:ln>
          </p:spPr>
          <p:txBody>
            <a:bodyPr rtlCol="1" anchor="ctr"/>
            <a:lstStyle/>
            <a:p>
              <a:endParaRPr lang="ar-LY"/>
            </a:p>
          </p:txBody>
        </p:sp>
        <p:sp>
          <p:nvSpPr>
            <p:cNvPr id="129" name="Freeform: Shape 128">
              <a:extLst>
                <a:ext uri="{FF2B5EF4-FFF2-40B4-BE49-F238E27FC236}">
                  <a16:creationId xmlns:a16="http://schemas.microsoft.com/office/drawing/2014/main" id="{3649AF7F-34F7-4872-B653-BF3744860CBD}"/>
                </a:ext>
              </a:extLst>
            </p:cNvPr>
            <p:cNvSpPr/>
            <p:nvPr/>
          </p:nvSpPr>
          <p:spPr>
            <a:xfrm flipH="1" flipV="1">
              <a:off x="5808" y="6009804"/>
              <a:ext cx="444103" cy="802801"/>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0" name="Freeform: Shape 129">
              <a:extLst>
                <a:ext uri="{FF2B5EF4-FFF2-40B4-BE49-F238E27FC236}">
                  <a16:creationId xmlns:a16="http://schemas.microsoft.com/office/drawing/2014/main" id="{64F37E16-C5C4-4E19-A59A-8D5DD503030F}"/>
                </a:ext>
              </a:extLst>
            </p:cNvPr>
            <p:cNvSpPr/>
            <p:nvPr/>
          </p:nvSpPr>
          <p:spPr>
            <a:xfrm flipH="1" flipV="1">
              <a:off x="541851" y="6349116"/>
              <a:ext cx="362113" cy="514221"/>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1" name="Freeform: Shape 130">
              <a:extLst>
                <a:ext uri="{FF2B5EF4-FFF2-40B4-BE49-F238E27FC236}">
                  <a16:creationId xmlns:a16="http://schemas.microsoft.com/office/drawing/2014/main" id="{50705E66-353C-47B6-9C99-539997795B1B}"/>
                </a:ext>
              </a:extLst>
            </p:cNvPr>
            <p:cNvSpPr/>
            <p:nvPr/>
          </p:nvSpPr>
          <p:spPr>
            <a:xfrm flipH="1" flipV="1">
              <a:off x="0" y="6322214"/>
              <a:ext cx="882398" cy="541123"/>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2" name="Freeform: Shape 131">
              <a:extLst>
                <a:ext uri="{FF2B5EF4-FFF2-40B4-BE49-F238E27FC236}">
                  <a16:creationId xmlns:a16="http://schemas.microsoft.com/office/drawing/2014/main" id="{1E20D68C-2697-40F0-99FA-491651632149}"/>
                </a:ext>
              </a:extLst>
            </p:cNvPr>
            <p:cNvSpPr/>
            <p:nvPr/>
          </p:nvSpPr>
          <p:spPr>
            <a:xfrm flipH="1" flipV="1">
              <a:off x="1634106" y="5712078"/>
              <a:ext cx="102485" cy="102485"/>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3" name="Freeform: Shape 132">
              <a:extLst>
                <a:ext uri="{FF2B5EF4-FFF2-40B4-BE49-F238E27FC236}">
                  <a16:creationId xmlns:a16="http://schemas.microsoft.com/office/drawing/2014/main" id="{373B34EE-9E1B-4B70-848E-0DB23028952F}"/>
                </a:ext>
              </a:extLst>
            </p:cNvPr>
            <p:cNvSpPr/>
            <p:nvPr/>
          </p:nvSpPr>
          <p:spPr>
            <a:xfrm flipH="1" flipV="1">
              <a:off x="351674" y="5389660"/>
              <a:ext cx="102485" cy="102485"/>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4" name="Freeform: Shape 133">
              <a:extLst>
                <a:ext uri="{FF2B5EF4-FFF2-40B4-BE49-F238E27FC236}">
                  <a16:creationId xmlns:a16="http://schemas.microsoft.com/office/drawing/2014/main" id="{2AEE5365-86DF-4FF5-83C5-177544A3439B}"/>
                </a:ext>
              </a:extLst>
            </p:cNvPr>
            <p:cNvSpPr/>
            <p:nvPr/>
          </p:nvSpPr>
          <p:spPr>
            <a:xfrm flipH="1" flipV="1">
              <a:off x="2259715" y="6002800"/>
              <a:ext cx="102485" cy="102485"/>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5" name="Freeform: Shape 134">
              <a:extLst>
                <a:ext uri="{FF2B5EF4-FFF2-40B4-BE49-F238E27FC236}">
                  <a16:creationId xmlns:a16="http://schemas.microsoft.com/office/drawing/2014/main" id="{7D5ABBF1-980E-465F-8804-DD999CDEEA67}"/>
                </a:ext>
              </a:extLst>
            </p:cNvPr>
            <p:cNvSpPr/>
            <p:nvPr/>
          </p:nvSpPr>
          <p:spPr>
            <a:xfrm flipH="1" flipV="1">
              <a:off x="828401" y="6297595"/>
              <a:ext cx="102485" cy="102485"/>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9" name="Freeform: Shape 138">
              <a:extLst>
                <a:ext uri="{FF2B5EF4-FFF2-40B4-BE49-F238E27FC236}">
                  <a16:creationId xmlns:a16="http://schemas.microsoft.com/office/drawing/2014/main" id="{7958CCEC-22C6-4C76-B8A4-B33FCED516C2}"/>
                </a:ext>
              </a:extLst>
            </p:cNvPr>
            <p:cNvSpPr/>
            <p:nvPr/>
          </p:nvSpPr>
          <p:spPr>
            <a:xfrm flipH="1" flipV="1">
              <a:off x="1892463" y="6548131"/>
              <a:ext cx="56694" cy="284118"/>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0" name="Freeform: Shape 139">
              <a:extLst>
                <a:ext uri="{FF2B5EF4-FFF2-40B4-BE49-F238E27FC236}">
                  <a16:creationId xmlns:a16="http://schemas.microsoft.com/office/drawing/2014/main" id="{8DC821A8-A0F3-4634-8905-3308E896108F}"/>
                </a:ext>
              </a:extLst>
            </p:cNvPr>
            <p:cNvSpPr/>
            <p:nvPr/>
          </p:nvSpPr>
          <p:spPr>
            <a:xfrm flipH="1" flipV="1">
              <a:off x="1892390" y="6547766"/>
              <a:ext cx="73" cy="364"/>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1" name="Freeform: Shape 140">
              <a:extLst>
                <a:ext uri="{FF2B5EF4-FFF2-40B4-BE49-F238E27FC236}">
                  <a16:creationId xmlns:a16="http://schemas.microsoft.com/office/drawing/2014/main" id="{037BE0B8-165B-45E4-8F14-58CB4F668298}"/>
                </a:ext>
              </a:extLst>
            </p:cNvPr>
            <p:cNvSpPr/>
            <p:nvPr/>
          </p:nvSpPr>
          <p:spPr>
            <a:xfrm flipH="1" flipV="1">
              <a:off x="1892391" y="6547766"/>
              <a:ext cx="407805" cy="284482"/>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2" name="Freeform: Shape 141">
              <a:extLst>
                <a:ext uri="{FF2B5EF4-FFF2-40B4-BE49-F238E27FC236}">
                  <a16:creationId xmlns:a16="http://schemas.microsoft.com/office/drawing/2014/main" id="{2721A00C-E42F-4A86-AEA3-F2C50D7D0AE3}"/>
                </a:ext>
              </a:extLst>
            </p:cNvPr>
            <p:cNvSpPr/>
            <p:nvPr/>
          </p:nvSpPr>
          <p:spPr>
            <a:xfrm flipH="1" flipV="1">
              <a:off x="1336238" y="6547766"/>
              <a:ext cx="612470" cy="284482"/>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3" name="Freeform: Shape 142">
              <a:extLst>
                <a:ext uri="{FF2B5EF4-FFF2-40B4-BE49-F238E27FC236}">
                  <a16:creationId xmlns:a16="http://schemas.microsoft.com/office/drawing/2014/main" id="{630AD418-F949-447A-A2EE-907FE44B38D8}"/>
                </a:ext>
              </a:extLst>
            </p:cNvPr>
            <p:cNvSpPr/>
            <p:nvPr/>
          </p:nvSpPr>
          <p:spPr>
            <a:xfrm flipH="1" flipV="1">
              <a:off x="1024162" y="6663490"/>
              <a:ext cx="430128" cy="168759"/>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 name="Straight Connector 2">
              <a:extLst>
                <a:ext uri="{FF2B5EF4-FFF2-40B4-BE49-F238E27FC236}">
                  <a16:creationId xmlns:a16="http://schemas.microsoft.com/office/drawing/2014/main" id="{A64E411C-C5F7-40EB-9FB3-2F337BAC6738}"/>
                </a:ext>
              </a:extLst>
            </p:cNvPr>
            <p:cNvCxnSpPr>
              <a:stCxn id="114" idx="0"/>
              <a:endCxn id="117" idx="0"/>
            </p:cNvCxnSpPr>
            <p:nvPr/>
          </p:nvCxnSpPr>
          <p:spPr>
            <a:xfrm>
              <a:off x="539499" y="4868032"/>
              <a:ext cx="653344" cy="29123"/>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31595E0A-9E8E-427D-A1A2-40E46D78CDD9}"/>
              </a:ext>
            </a:extLst>
          </p:cNvPr>
          <p:cNvGrpSpPr/>
          <p:nvPr/>
        </p:nvGrpSpPr>
        <p:grpSpPr>
          <a:xfrm>
            <a:off x="9646173" y="-78916"/>
            <a:ext cx="2567428" cy="2201423"/>
            <a:chOff x="9646172" y="-78917"/>
            <a:chExt cx="2567428" cy="2201423"/>
          </a:xfrm>
        </p:grpSpPr>
        <p:sp>
          <p:nvSpPr>
            <p:cNvPr id="32" name="Freeform: Shape 31">
              <a:extLst>
                <a:ext uri="{FF2B5EF4-FFF2-40B4-BE49-F238E27FC236}">
                  <a16:creationId xmlns:a16="http://schemas.microsoft.com/office/drawing/2014/main" id="{9E7A7763-7818-4DDC-BC05-47B0FBF9EDB8}"/>
                </a:ext>
              </a:extLst>
            </p:cNvPr>
            <p:cNvSpPr/>
            <p:nvPr/>
          </p:nvSpPr>
          <p:spPr>
            <a:xfrm>
              <a:off x="10761270" y="-78917"/>
              <a:ext cx="491969" cy="584793"/>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9525" cap="flat">
              <a:solidFill>
                <a:schemeClr val="accent1">
                  <a:alpha val="10000"/>
                </a:schemeClr>
              </a:solidFill>
              <a:prstDash val="solid"/>
              <a:round/>
            </a:ln>
          </p:spPr>
          <p:txBody>
            <a:bodyPr rtlCol="1" anchor="ctr"/>
            <a:lstStyle/>
            <a:p>
              <a:endParaRPr lang="ar-LY"/>
            </a:p>
          </p:txBody>
        </p:sp>
        <p:sp>
          <p:nvSpPr>
            <p:cNvPr id="41" name="Freeform: Shape 40">
              <a:extLst>
                <a:ext uri="{FF2B5EF4-FFF2-40B4-BE49-F238E27FC236}">
                  <a16:creationId xmlns:a16="http://schemas.microsoft.com/office/drawing/2014/main" id="{DDFD568A-8E81-4AB7-BF0D-7FFB45CEE9DB}"/>
                </a:ext>
              </a:extLst>
            </p:cNvPr>
            <p:cNvSpPr/>
            <p:nvPr/>
          </p:nvSpPr>
          <p:spPr>
            <a:xfrm>
              <a:off x="11724602" y="8988"/>
              <a:ext cx="482686" cy="872549"/>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9525" cap="flat">
              <a:solidFill>
                <a:schemeClr val="accent1">
                  <a:alpha val="10000"/>
                </a:schemeClr>
              </a:solidFill>
              <a:prstDash val="solid"/>
              <a:round/>
            </a:ln>
          </p:spPr>
          <p:txBody>
            <a:bodyPr rtlCol="1" anchor="ctr"/>
            <a:lstStyle/>
            <a:p>
              <a:endParaRPr lang="ar-LY"/>
            </a:p>
          </p:txBody>
        </p:sp>
        <p:sp>
          <p:nvSpPr>
            <p:cNvPr id="95" name="Freeform: Shape 94">
              <a:extLst>
                <a:ext uri="{FF2B5EF4-FFF2-40B4-BE49-F238E27FC236}">
                  <a16:creationId xmlns:a16="http://schemas.microsoft.com/office/drawing/2014/main" id="{39B599B4-A601-4066-891E-478B8C92F598}"/>
                </a:ext>
              </a:extLst>
            </p:cNvPr>
            <p:cNvSpPr/>
            <p:nvPr/>
          </p:nvSpPr>
          <p:spPr>
            <a:xfrm>
              <a:off x="11231100" y="-46151"/>
              <a:ext cx="393573" cy="558896"/>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9525" cap="flat">
              <a:solidFill>
                <a:schemeClr val="accent1">
                  <a:alpha val="10000"/>
                </a:schemeClr>
              </a:solidFill>
              <a:prstDash val="solid"/>
              <a:round/>
            </a:ln>
          </p:spPr>
          <p:txBody>
            <a:bodyPr rtlCol="1" anchor="ctr"/>
            <a:lstStyle/>
            <a:p>
              <a:endParaRPr lang="ar-LY"/>
            </a:p>
          </p:txBody>
        </p:sp>
        <p:sp>
          <p:nvSpPr>
            <p:cNvPr id="94" name="Freeform: Shape 93">
              <a:extLst>
                <a:ext uri="{FF2B5EF4-FFF2-40B4-BE49-F238E27FC236}">
                  <a16:creationId xmlns:a16="http://schemas.microsoft.com/office/drawing/2014/main" id="{42248E57-1982-4C77-B7B6-98067B11D1D0}"/>
                </a:ext>
              </a:extLst>
            </p:cNvPr>
            <p:cNvSpPr/>
            <p:nvPr/>
          </p:nvSpPr>
          <p:spPr>
            <a:xfrm>
              <a:off x="11254539" y="-46151"/>
              <a:ext cx="959061" cy="588135"/>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9525" cap="flat">
              <a:solidFill>
                <a:schemeClr val="accent1">
                  <a:alpha val="10000"/>
                </a:schemeClr>
              </a:solidFill>
              <a:prstDash val="solid"/>
              <a:round/>
            </a:ln>
          </p:spPr>
          <p:txBody>
            <a:bodyPr rtlCol="1" anchor="ctr"/>
            <a:lstStyle/>
            <a:p>
              <a:endParaRPr lang="ar-LY"/>
            </a:p>
          </p:txBody>
        </p:sp>
        <p:sp>
          <p:nvSpPr>
            <p:cNvPr id="79" name="Freeform: Shape 78">
              <a:extLst>
                <a:ext uri="{FF2B5EF4-FFF2-40B4-BE49-F238E27FC236}">
                  <a16:creationId xmlns:a16="http://schemas.microsoft.com/office/drawing/2014/main" id="{34989CAA-40F1-4EFA-A879-220B2D5F2A65}"/>
                </a:ext>
              </a:extLst>
            </p:cNvPr>
            <p:cNvSpPr/>
            <p:nvPr/>
          </p:nvSpPr>
          <p:spPr>
            <a:xfrm>
              <a:off x="10095100" y="-12362"/>
              <a:ext cx="61620" cy="308802"/>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5" name="Freeform: Shape 64">
              <a:extLst>
                <a:ext uri="{FF2B5EF4-FFF2-40B4-BE49-F238E27FC236}">
                  <a16:creationId xmlns:a16="http://schemas.microsoft.com/office/drawing/2014/main" id="{A1875776-4C74-43F2-AEEC-816CFBAEB717}"/>
                </a:ext>
              </a:extLst>
            </p:cNvPr>
            <p:cNvSpPr/>
            <p:nvPr/>
          </p:nvSpPr>
          <p:spPr>
            <a:xfrm>
              <a:off x="9713562" y="-12362"/>
              <a:ext cx="443236" cy="309198"/>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4" name="Freeform: Shape 63">
              <a:extLst>
                <a:ext uri="{FF2B5EF4-FFF2-40B4-BE49-F238E27FC236}">
                  <a16:creationId xmlns:a16="http://schemas.microsoft.com/office/drawing/2014/main" id="{E218BE3B-E994-44D2-8724-0F39BEC2B403}"/>
                </a:ext>
              </a:extLst>
            </p:cNvPr>
            <p:cNvSpPr/>
            <p:nvPr/>
          </p:nvSpPr>
          <p:spPr>
            <a:xfrm>
              <a:off x="10095588" y="-12362"/>
              <a:ext cx="665681" cy="309198"/>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3" name="Freeform: Shape 62">
              <a:extLst>
                <a:ext uri="{FF2B5EF4-FFF2-40B4-BE49-F238E27FC236}">
                  <a16:creationId xmlns:a16="http://schemas.microsoft.com/office/drawing/2014/main" id="{111D1371-80CE-4D92-AD42-1CD94C8B430F}"/>
                </a:ext>
              </a:extLst>
            </p:cNvPr>
            <p:cNvSpPr/>
            <p:nvPr/>
          </p:nvSpPr>
          <p:spPr>
            <a:xfrm>
              <a:off x="10632961" y="-12362"/>
              <a:ext cx="467497" cy="183420"/>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 name="Freeform: Shape 5">
              <a:extLst>
                <a:ext uri="{FF2B5EF4-FFF2-40B4-BE49-F238E27FC236}">
                  <a16:creationId xmlns:a16="http://schemas.microsoft.com/office/drawing/2014/main" id="{DA0BE4FC-E249-4118-8CDC-104C4F90FA99}"/>
                </a:ext>
              </a:extLst>
            </p:cNvPr>
            <p:cNvSpPr/>
            <p:nvPr/>
          </p:nvSpPr>
          <p:spPr>
            <a:xfrm>
              <a:off x="9706972" y="835218"/>
              <a:ext cx="677617" cy="872549"/>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7" name="Freeform: Shape 6">
              <a:extLst>
                <a:ext uri="{FF2B5EF4-FFF2-40B4-BE49-F238E27FC236}">
                  <a16:creationId xmlns:a16="http://schemas.microsoft.com/office/drawing/2014/main" id="{55EB3C09-B204-400D-AE74-F4633E5D1BF6}"/>
                </a:ext>
              </a:extLst>
            </p:cNvPr>
            <p:cNvSpPr/>
            <p:nvPr/>
          </p:nvSpPr>
          <p:spPr>
            <a:xfrm>
              <a:off x="9703630" y="84919"/>
              <a:ext cx="668335" cy="1058197"/>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8" name="Freeform: Shape 7">
              <a:extLst>
                <a:ext uri="{FF2B5EF4-FFF2-40B4-BE49-F238E27FC236}">
                  <a16:creationId xmlns:a16="http://schemas.microsoft.com/office/drawing/2014/main" id="{5AEDAA89-2EDC-4940-908D-F4F13997DE4D}"/>
                </a:ext>
              </a:extLst>
            </p:cNvPr>
            <p:cNvSpPr/>
            <p:nvPr/>
          </p:nvSpPr>
          <p:spPr>
            <a:xfrm>
              <a:off x="10221496" y="1147107"/>
              <a:ext cx="686900" cy="937526"/>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9" name="Freeform: Shape 8">
              <a:extLst>
                <a:ext uri="{FF2B5EF4-FFF2-40B4-BE49-F238E27FC236}">
                  <a16:creationId xmlns:a16="http://schemas.microsoft.com/office/drawing/2014/main" id="{A7B952A6-2FF0-4FE4-9335-2E660CAD6F4C}"/>
                </a:ext>
              </a:extLst>
            </p:cNvPr>
            <p:cNvSpPr/>
            <p:nvPr/>
          </p:nvSpPr>
          <p:spPr>
            <a:xfrm>
              <a:off x="9713563" y="89560"/>
              <a:ext cx="659053" cy="1048915"/>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10" name="Freeform: Shape 9">
              <a:extLst>
                <a:ext uri="{FF2B5EF4-FFF2-40B4-BE49-F238E27FC236}">
                  <a16:creationId xmlns:a16="http://schemas.microsoft.com/office/drawing/2014/main" id="{C1E3601C-F2C6-49E9-89A7-AEAF5213F83A}"/>
                </a:ext>
              </a:extLst>
            </p:cNvPr>
            <p:cNvSpPr/>
            <p:nvPr/>
          </p:nvSpPr>
          <p:spPr>
            <a:xfrm>
              <a:off x="10380041" y="171060"/>
              <a:ext cx="464122" cy="974655"/>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 name="Freeform: Shape 10">
              <a:extLst>
                <a:ext uri="{FF2B5EF4-FFF2-40B4-BE49-F238E27FC236}">
                  <a16:creationId xmlns:a16="http://schemas.microsoft.com/office/drawing/2014/main" id="{D78C6FF3-7A07-4CE1-806E-F86A50C1D310}"/>
                </a:ext>
              </a:extLst>
            </p:cNvPr>
            <p:cNvSpPr/>
            <p:nvPr/>
          </p:nvSpPr>
          <p:spPr>
            <a:xfrm>
              <a:off x="10156798" y="171060"/>
              <a:ext cx="603358" cy="974655"/>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13" name="Freeform: Shape 12">
              <a:extLst>
                <a:ext uri="{FF2B5EF4-FFF2-40B4-BE49-F238E27FC236}">
                  <a16:creationId xmlns:a16="http://schemas.microsoft.com/office/drawing/2014/main" id="{701A1714-B275-453F-B17D-8C979553C5B2}"/>
                </a:ext>
              </a:extLst>
            </p:cNvPr>
            <p:cNvSpPr/>
            <p:nvPr/>
          </p:nvSpPr>
          <p:spPr>
            <a:xfrm>
              <a:off x="10917122" y="1505131"/>
              <a:ext cx="853984" cy="612641"/>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14" name="Freeform: Shape 13">
              <a:extLst>
                <a:ext uri="{FF2B5EF4-FFF2-40B4-BE49-F238E27FC236}">
                  <a16:creationId xmlns:a16="http://schemas.microsoft.com/office/drawing/2014/main" id="{7D5FEB2B-C37D-4740-BC67-4BA2C198E7E8}"/>
                </a:ext>
              </a:extLst>
            </p:cNvPr>
            <p:cNvSpPr/>
            <p:nvPr/>
          </p:nvSpPr>
          <p:spPr>
            <a:xfrm>
              <a:off x="10380041" y="954775"/>
              <a:ext cx="631205" cy="538381"/>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15" name="Freeform: Shape 14">
              <a:extLst>
                <a:ext uri="{FF2B5EF4-FFF2-40B4-BE49-F238E27FC236}">
                  <a16:creationId xmlns:a16="http://schemas.microsoft.com/office/drawing/2014/main" id="{DF2AEB8D-D654-4621-844C-3C11F5A26A01}"/>
                </a:ext>
              </a:extLst>
            </p:cNvPr>
            <p:cNvSpPr/>
            <p:nvPr/>
          </p:nvSpPr>
          <p:spPr>
            <a:xfrm>
              <a:off x="10380041" y="1147107"/>
              <a:ext cx="631205" cy="937526"/>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16" name="Freeform: Shape 15">
              <a:extLst>
                <a:ext uri="{FF2B5EF4-FFF2-40B4-BE49-F238E27FC236}">
                  <a16:creationId xmlns:a16="http://schemas.microsoft.com/office/drawing/2014/main" id="{7D8C20A4-77D2-4510-8BF3-A7F865E4AD9A}"/>
                </a:ext>
              </a:extLst>
            </p:cNvPr>
            <p:cNvSpPr/>
            <p:nvPr/>
          </p:nvSpPr>
          <p:spPr>
            <a:xfrm>
              <a:off x="10917122" y="1496499"/>
              <a:ext cx="853984" cy="594076"/>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104" name="Freeform: Shape 103">
              <a:extLst>
                <a:ext uri="{FF2B5EF4-FFF2-40B4-BE49-F238E27FC236}">
                  <a16:creationId xmlns:a16="http://schemas.microsoft.com/office/drawing/2014/main" id="{1E5F006B-92DF-4EC3-8936-C7F3F8C6EE74}"/>
                </a:ext>
              </a:extLst>
            </p:cNvPr>
            <p:cNvSpPr/>
            <p:nvPr/>
          </p:nvSpPr>
          <p:spPr>
            <a:xfrm>
              <a:off x="11773855" y="1505189"/>
              <a:ext cx="439374" cy="17113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01" name="Freeform: Shape 100">
              <a:extLst>
                <a:ext uri="{FF2B5EF4-FFF2-40B4-BE49-F238E27FC236}">
                  <a16:creationId xmlns:a16="http://schemas.microsoft.com/office/drawing/2014/main" id="{7F62F606-8377-4849-9C8A-FBF71850764F}"/>
                </a:ext>
              </a:extLst>
            </p:cNvPr>
            <p:cNvSpPr/>
            <p:nvPr/>
          </p:nvSpPr>
          <p:spPr>
            <a:xfrm>
              <a:off x="11773706" y="885064"/>
              <a:ext cx="439523" cy="789417"/>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00" name="Freeform: Shape 99">
              <a:extLst>
                <a:ext uri="{FF2B5EF4-FFF2-40B4-BE49-F238E27FC236}">
                  <a16:creationId xmlns:a16="http://schemas.microsoft.com/office/drawing/2014/main" id="{995C44F4-8747-4DF8-9E05-01180D885AC4}"/>
                </a:ext>
              </a:extLst>
            </p:cNvPr>
            <p:cNvSpPr/>
            <p:nvPr/>
          </p:nvSpPr>
          <p:spPr>
            <a:xfrm>
              <a:off x="11631777" y="1505131"/>
              <a:ext cx="581452" cy="610970"/>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8" name="Freeform: Shape 17">
              <a:extLst>
                <a:ext uri="{FF2B5EF4-FFF2-40B4-BE49-F238E27FC236}">
                  <a16:creationId xmlns:a16="http://schemas.microsoft.com/office/drawing/2014/main" id="{C0522BFE-3F6A-4D00-9354-C9B1640C029A}"/>
                </a:ext>
              </a:extLst>
            </p:cNvPr>
            <p:cNvSpPr/>
            <p:nvPr/>
          </p:nvSpPr>
          <p:spPr>
            <a:xfrm>
              <a:off x="11014217" y="1033955"/>
              <a:ext cx="751877" cy="4641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19" name="Freeform: Shape 18">
              <a:extLst>
                <a:ext uri="{FF2B5EF4-FFF2-40B4-BE49-F238E27FC236}">
                  <a16:creationId xmlns:a16="http://schemas.microsoft.com/office/drawing/2014/main" id="{D89E3CD7-9086-446F-9391-D2770EB46090}"/>
                </a:ext>
              </a:extLst>
            </p:cNvPr>
            <p:cNvSpPr/>
            <p:nvPr/>
          </p:nvSpPr>
          <p:spPr>
            <a:xfrm>
              <a:off x="10848711" y="954775"/>
              <a:ext cx="538381" cy="538381"/>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20" name="Freeform: Shape 19">
              <a:extLst>
                <a:ext uri="{FF2B5EF4-FFF2-40B4-BE49-F238E27FC236}">
                  <a16:creationId xmlns:a16="http://schemas.microsoft.com/office/drawing/2014/main" id="{5F67EBAA-20C0-4BD5-BA48-726EDA4A78D0}"/>
                </a:ext>
              </a:extLst>
            </p:cNvPr>
            <p:cNvSpPr/>
            <p:nvPr/>
          </p:nvSpPr>
          <p:spPr>
            <a:xfrm>
              <a:off x="10761270" y="171060"/>
              <a:ext cx="491969" cy="779725"/>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21" name="Freeform: Shape 20">
              <a:extLst>
                <a:ext uri="{FF2B5EF4-FFF2-40B4-BE49-F238E27FC236}">
                  <a16:creationId xmlns:a16="http://schemas.microsoft.com/office/drawing/2014/main" id="{BAD38D0B-BF4A-460F-8411-CE9D51C91629}"/>
                </a:ext>
              </a:extLst>
            </p:cNvPr>
            <p:cNvSpPr/>
            <p:nvPr/>
          </p:nvSpPr>
          <p:spPr>
            <a:xfrm>
              <a:off x="10848711" y="512746"/>
              <a:ext cx="538381" cy="519816"/>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22" name="Freeform: Shape 21">
              <a:extLst>
                <a:ext uri="{FF2B5EF4-FFF2-40B4-BE49-F238E27FC236}">
                  <a16:creationId xmlns:a16="http://schemas.microsoft.com/office/drawing/2014/main" id="{58C187B5-B513-4FD6-B2D4-77BB2F8EE81C}"/>
                </a:ext>
              </a:extLst>
            </p:cNvPr>
            <p:cNvSpPr/>
            <p:nvPr/>
          </p:nvSpPr>
          <p:spPr>
            <a:xfrm>
              <a:off x="11394332" y="541986"/>
              <a:ext cx="371297" cy="956091"/>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25" name="Freeform: Shape 24">
              <a:extLst>
                <a:ext uri="{FF2B5EF4-FFF2-40B4-BE49-F238E27FC236}">
                  <a16:creationId xmlns:a16="http://schemas.microsoft.com/office/drawing/2014/main" id="{4963B90B-F6AA-47B5-A122-4215B6665540}"/>
                </a:ext>
              </a:extLst>
            </p:cNvPr>
            <p:cNvSpPr/>
            <p:nvPr/>
          </p:nvSpPr>
          <p:spPr>
            <a:xfrm>
              <a:off x="11724602" y="541986"/>
              <a:ext cx="473404" cy="956091"/>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26" name="Freeform: Shape 25">
              <a:extLst>
                <a:ext uri="{FF2B5EF4-FFF2-40B4-BE49-F238E27FC236}">
                  <a16:creationId xmlns:a16="http://schemas.microsoft.com/office/drawing/2014/main" id="{22951845-37F1-43F7-85FC-F98449620568}"/>
                </a:ext>
              </a:extLst>
            </p:cNvPr>
            <p:cNvSpPr/>
            <p:nvPr/>
          </p:nvSpPr>
          <p:spPr>
            <a:xfrm>
              <a:off x="11254539" y="512746"/>
              <a:ext cx="464122" cy="519816"/>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48" name="Freeform: Shape 47">
              <a:extLst>
                <a:ext uri="{FF2B5EF4-FFF2-40B4-BE49-F238E27FC236}">
                  <a16:creationId xmlns:a16="http://schemas.microsoft.com/office/drawing/2014/main" id="{370E5F52-70E3-48CB-B497-66DD4C96C7D3}"/>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9" name="Freeform: Shape 48">
              <a:extLst>
                <a:ext uri="{FF2B5EF4-FFF2-40B4-BE49-F238E27FC236}">
                  <a16:creationId xmlns:a16="http://schemas.microsoft.com/office/drawing/2014/main" id="{F9DE2464-4D85-4453-B698-75D676F33865}"/>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0" name="Freeform: Shape 49">
              <a:extLst>
                <a:ext uri="{FF2B5EF4-FFF2-40B4-BE49-F238E27FC236}">
                  <a16:creationId xmlns:a16="http://schemas.microsoft.com/office/drawing/2014/main" id="{23FB01A5-728A-4A3C-AB4D-BCA7FC61063B}"/>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1" name="Freeform: Shape 50">
              <a:extLst>
                <a:ext uri="{FF2B5EF4-FFF2-40B4-BE49-F238E27FC236}">
                  <a16:creationId xmlns:a16="http://schemas.microsoft.com/office/drawing/2014/main" id="{1EACAF30-0929-48B7-8DD1-1190B209BA89}"/>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3" name="Freeform: Shape 52">
              <a:extLst>
                <a:ext uri="{FF2B5EF4-FFF2-40B4-BE49-F238E27FC236}">
                  <a16:creationId xmlns:a16="http://schemas.microsoft.com/office/drawing/2014/main" id="{97C99107-C4F8-4C92-9F7A-10DCF9A5ACD2}"/>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4" name="Freeform: Shape 53">
              <a:extLst>
                <a:ext uri="{FF2B5EF4-FFF2-40B4-BE49-F238E27FC236}">
                  <a16:creationId xmlns:a16="http://schemas.microsoft.com/office/drawing/2014/main" id="{B36A5D5D-1212-4972-88F2-ACA4F24ABC0B}"/>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5" name="Freeform: Shape 54">
              <a:extLst>
                <a:ext uri="{FF2B5EF4-FFF2-40B4-BE49-F238E27FC236}">
                  <a16:creationId xmlns:a16="http://schemas.microsoft.com/office/drawing/2014/main" id="{5813AF68-4B88-49DC-8D5F-19741244B69F}"/>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78" name="Freeform: Shape 77">
              <a:extLst>
                <a:ext uri="{FF2B5EF4-FFF2-40B4-BE49-F238E27FC236}">
                  <a16:creationId xmlns:a16="http://schemas.microsoft.com/office/drawing/2014/main" id="{4020148D-809B-406F-8AE9-6378531A50FF}"/>
                </a:ext>
              </a:extLst>
            </p:cNvPr>
            <p:cNvSpPr/>
            <p:nvPr/>
          </p:nvSpPr>
          <p:spPr>
            <a:xfrm>
              <a:off x="10156720" y="296441"/>
              <a:ext cx="79" cy="396"/>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57" name="Freeform: Shape 56">
              <a:extLst>
                <a:ext uri="{FF2B5EF4-FFF2-40B4-BE49-F238E27FC236}">
                  <a16:creationId xmlns:a16="http://schemas.microsoft.com/office/drawing/2014/main" id="{9901E08C-E238-4FB9-A622-274942CB80FD}"/>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58" name="Straight Connector 357">
              <a:extLst>
                <a:ext uri="{FF2B5EF4-FFF2-40B4-BE49-F238E27FC236}">
                  <a16:creationId xmlns:a16="http://schemas.microsoft.com/office/drawing/2014/main" id="{FCEBB729-71CD-47ED-986C-1E732F9AAAB1}"/>
                </a:ext>
              </a:extLst>
            </p:cNvPr>
            <p:cNvCxnSpPr>
              <a:cxnSpLocks/>
              <a:endCxn id="13" idx="0"/>
            </p:cNvCxnSpPr>
            <p:nvPr/>
          </p:nvCxnSpPr>
          <p:spPr>
            <a:xfrm>
              <a:off x="10926567" y="2089612"/>
              <a:ext cx="700662" cy="32894"/>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261" name="Group 260">
            <a:extLst>
              <a:ext uri="{FF2B5EF4-FFF2-40B4-BE49-F238E27FC236}">
                <a16:creationId xmlns:a16="http://schemas.microsoft.com/office/drawing/2014/main" id="{7D1081D1-3993-492A-A293-1F93C7739B71}"/>
              </a:ext>
            </a:extLst>
          </p:cNvPr>
          <p:cNvGrpSpPr/>
          <p:nvPr/>
        </p:nvGrpSpPr>
        <p:grpSpPr>
          <a:xfrm flipH="1">
            <a:off x="29593" y="-34757"/>
            <a:ext cx="2567428" cy="2201423"/>
            <a:chOff x="9646172" y="-78917"/>
            <a:chExt cx="2567428" cy="2201423"/>
          </a:xfrm>
        </p:grpSpPr>
        <p:sp>
          <p:nvSpPr>
            <p:cNvPr id="262" name="Freeform: Shape 261">
              <a:extLst>
                <a:ext uri="{FF2B5EF4-FFF2-40B4-BE49-F238E27FC236}">
                  <a16:creationId xmlns:a16="http://schemas.microsoft.com/office/drawing/2014/main" id="{21203898-75F5-43AF-8606-3E55A307715E}"/>
                </a:ext>
              </a:extLst>
            </p:cNvPr>
            <p:cNvSpPr/>
            <p:nvPr/>
          </p:nvSpPr>
          <p:spPr>
            <a:xfrm>
              <a:off x="10761270" y="-78917"/>
              <a:ext cx="491969" cy="584793"/>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9525" cap="flat">
              <a:solidFill>
                <a:schemeClr val="accent1">
                  <a:alpha val="10000"/>
                </a:schemeClr>
              </a:solidFill>
              <a:prstDash val="solid"/>
              <a:round/>
            </a:ln>
          </p:spPr>
          <p:txBody>
            <a:bodyPr rtlCol="1" anchor="ctr"/>
            <a:lstStyle/>
            <a:p>
              <a:endParaRPr lang="ar-LY"/>
            </a:p>
          </p:txBody>
        </p:sp>
        <p:sp>
          <p:nvSpPr>
            <p:cNvPr id="263" name="Freeform: Shape 262">
              <a:extLst>
                <a:ext uri="{FF2B5EF4-FFF2-40B4-BE49-F238E27FC236}">
                  <a16:creationId xmlns:a16="http://schemas.microsoft.com/office/drawing/2014/main" id="{560F1574-9085-489D-B747-5B001AD6274F}"/>
                </a:ext>
              </a:extLst>
            </p:cNvPr>
            <p:cNvSpPr/>
            <p:nvPr/>
          </p:nvSpPr>
          <p:spPr>
            <a:xfrm>
              <a:off x="11724602" y="8988"/>
              <a:ext cx="482686" cy="872549"/>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9525" cap="flat">
              <a:solidFill>
                <a:schemeClr val="accent1">
                  <a:alpha val="10000"/>
                </a:schemeClr>
              </a:solidFill>
              <a:prstDash val="solid"/>
              <a:round/>
            </a:ln>
          </p:spPr>
          <p:txBody>
            <a:bodyPr rtlCol="1" anchor="ctr"/>
            <a:lstStyle/>
            <a:p>
              <a:endParaRPr lang="ar-LY"/>
            </a:p>
          </p:txBody>
        </p:sp>
        <p:sp>
          <p:nvSpPr>
            <p:cNvPr id="264" name="Freeform: Shape 263">
              <a:extLst>
                <a:ext uri="{FF2B5EF4-FFF2-40B4-BE49-F238E27FC236}">
                  <a16:creationId xmlns:a16="http://schemas.microsoft.com/office/drawing/2014/main" id="{1D6C1127-94E0-4957-890F-444F307AB581}"/>
                </a:ext>
              </a:extLst>
            </p:cNvPr>
            <p:cNvSpPr/>
            <p:nvPr/>
          </p:nvSpPr>
          <p:spPr>
            <a:xfrm>
              <a:off x="11231100" y="-46151"/>
              <a:ext cx="393573" cy="558896"/>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9525" cap="flat">
              <a:solidFill>
                <a:schemeClr val="accent1">
                  <a:alpha val="10000"/>
                </a:schemeClr>
              </a:solidFill>
              <a:prstDash val="solid"/>
              <a:round/>
            </a:ln>
          </p:spPr>
          <p:txBody>
            <a:bodyPr rtlCol="1" anchor="ctr"/>
            <a:lstStyle/>
            <a:p>
              <a:endParaRPr lang="ar-LY"/>
            </a:p>
          </p:txBody>
        </p:sp>
        <p:sp>
          <p:nvSpPr>
            <p:cNvPr id="265" name="Freeform: Shape 264">
              <a:extLst>
                <a:ext uri="{FF2B5EF4-FFF2-40B4-BE49-F238E27FC236}">
                  <a16:creationId xmlns:a16="http://schemas.microsoft.com/office/drawing/2014/main" id="{5108B5DD-00AC-480E-BCE3-BA53E825D431}"/>
                </a:ext>
              </a:extLst>
            </p:cNvPr>
            <p:cNvSpPr/>
            <p:nvPr/>
          </p:nvSpPr>
          <p:spPr>
            <a:xfrm>
              <a:off x="11254539" y="-46151"/>
              <a:ext cx="959061" cy="588135"/>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9525" cap="flat">
              <a:solidFill>
                <a:schemeClr val="accent1">
                  <a:alpha val="10000"/>
                </a:schemeClr>
              </a:solidFill>
              <a:prstDash val="solid"/>
              <a:round/>
            </a:ln>
          </p:spPr>
          <p:txBody>
            <a:bodyPr rtlCol="1" anchor="ctr"/>
            <a:lstStyle/>
            <a:p>
              <a:endParaRPr lang="ar-LY"/>
            </a:p>
          </p:txBody>
        </p:sp>
        <p:sp>
          <p:nvSpPr>
            <p:cNvPr id="266" name="Freeform: Shape 265">
              <a:extLst>
                <a:ext uri="{FF2B5EF4-FFF2-40B4-BE49-F238E27FC236}">
                  <a16:creationId xmlns:a16="http://schemas.microsoft.com/office/drawing/2014/main" id="{E8E2DB72-5014-4F57-AE3E-994ACD62AE58}"/>
                </a:ext>
              </a:extLst>
            </p:cNvPr>
            <p:cNvSpPr/>
            <p:nvPr/>
          </p:nvSpPr>
          <p:spPr>
            <a:xfrm>
              <a:off x="10095100" y="-12362"/>
              <a:ext cx="61620" cy="308802"/>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07" name="Freeform: Shape 306">
              <a:extLst>
                <a:ext uri="{FF2B5EF4-FFF2-40B4-BE49-F238E27FC236}">
                  <a16:creationId xmlns:a16="http://schemas.microsoft.com/office/drawing/2014/main" id="{C1B5F59B-6BBB-4C27-A1C9-D58B234A7661}"/>
                </a:ext>
              </a:extLst>
            </p:cNvPr>
            <p:cNvSpPr/>
            <p:nvPr/>
          </p:nvSpPr>
          <p:spPr>
            <a:xfrm>
              <a:off x="9713562" y="-12362"/>
              <a:ext cx="443236" cy="309198"/>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10" name="Freeform: Shape 309">
              <a:extLst>
                <a:ext uri="{FF2B5EF4-FFF2-40B4-BE49-F238E27FC236}">
                  <a16:creationId xmlns:a16="http://schemas.microsoft.com/office/drawing/2014/main" id="{5E5F9897-B5BF-45BB-9A97-C7417506C266}"/>
                </a:ext>
              </a:extLst>
            </p:cNvPr>
            <p:cNvSpPr/>
            <p:nvPr/>
          </p:nvSpPr>
          <p:spPr>
            <a:xfrm>
              <a:off x="10095588" y="-12362"/>
              <a:ext cx="665681" cy="309198"/>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56" name="Freeform: Shape 355">
              <a:extLst>
                <a:ext uri="{FF2B5EF4-FFF2-40B4-BE49-F238E27FC236}">
                  <a16:creationId xmlns:a16="http://schemas.microsoft.com/office/drawing/2014/main" id="{D50EB562-9DF9-4039-9EC8-192CC851C2E8}"/>
                </a:ext>
              </a:extLst>
            </p:cNvPr>
            <p:cNvSpPr/>
            <p:nvPr/>
          </p:nvSpPr>
          <p:spPr>
            <a:xfrm>
              <a:off x="10632961" y="-12362"/>
              <a:ext cx="467497" cy="183420"/>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57" name="Freeform: Shape 356">
              <a:extLst>
                <a:ext uri="{FF2B5EF4-FFF2-40B4-BE49-F238E27FC236}">
                  <a16:creationId xmlns:a16="http://schemas.microsoft.com/office/drawing/2014/main" id="{5890C0BC-2726-43EE-8B45-A1756CDA5832}"/>
                </a:ext>
              </a:extLst>
            </p:cNvPr>
            <p:cNvSpPr/>
            <p:nvPr/>
          </p:nvSpPr>
          <p:spPr>
            <a:xfrm>
              <a:off x="9706972" y="835218"/>
              <a:ext cx="677617" cy="872549"/>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359" name="Freeform: Shape 358">
              <a:extLst>
                <a:ext uri="{FF2B5EF4-FFF2-40B4-BE49-F238E27FC236}">
                  <a16:creationId xmlns:a16="http://schemas.microsoft.com/office/drawing/2014/main" id="{63D069DF-864A-4F67-B185-CF720614D9D8}"/>
                </a:ext>
              </a:extLst>
            </p:cNvPr>
            <p:cNvSpPr/>
            <p:nvPr/>
          </p:nvSpPr>
          <p:spPr>
            <a:xfrm>
              <a:off x="9703630" y="84919"/>
              <a:ext cx="668335" cy="1058197"/>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360" name="Freeform: Shape 359">
              <a:extLst>
                <a:ext uri="{FF2B5EF4-FFF2-40B4-BE49-F238E27FC236}">
                  <a16:creationId xmlns:a16="http://schemas.microsoft.com/office/drawing/2014/main" id="{33D0529D-C258-4D6C-B202-542EE7BA56E0}"/>
                </a:ext>
              </a:extLst>
            </p:cNvPr>
            <p:cNvSpPr/>
            <p:nvPr/>
          </p:nvSpPr>
          <p:spPr>
            <a:xfrm>
              <a:off x="10221496" y="1147107"/>
              <a:ext cx="686900" cy="937526"/>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361" name="Freeform: Shape 360">
              <a:extLst>
                <a:ext uri="{FF2B5EF4-FFF2-40B4-BE49-F238E27FC236}">
                  <a16:creationId xmlns:a16="http://schemas.microsoft.com/office/drawing/2014/main" id="{23F21052-C521-4292-929B-D40D675CDD15}"/>
                </a:ext>
              </a:extLst>
            </p:cNvPr>
            <p:cNvSpPr/>
            <p:nvPr/>
          </p:nvSpPr>
          <p:spPr>
            <a:xfrm>
              <a:off x="9713563" y="89560"/>
              <a:ext cx="659053" cy="1048915"/>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362" name="Freeform: Shape 361">
              <a:extLst>
                <a:ext uri="{FF2B5EF4-FFF2-40B4-BE49-F238E27FC236}">
                  <a16:creationId xmlns:a16="http://schemas.microsoft.com/office/drawing/2014/main" id="{16E1C646-B40F-4688-885F-BCC512D92272}"/>
                </a:ext>
              </a:extLst>
            </p:cNvPr>
            <p:cNvSpPr/>
            <p:nvPr/>
          </p:nvSpPr>
          <p:spPr>
            <a:xfrm>
              <a:off x="10380041" y="171060"/>
              <a:ext cx="464122" cy="974655"/>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63" name="Freeform: Shape 362">
              <a:extLst>
                <a:ext uri="{FF2B5EF4-FFF2-40B4-BE49-F238E27FC236}">
                  <a16:creationId xmlns:a16="http://schemas.microsoft.com/office/drawing/2014/main" id="{8A7431CF-1A92-47DC-83C7-5C6299B8B3D3}"/>
                </a:ext>
              </a:extLst>
            </p:cNvPr>
            <p:cNvSpPr/>
            <p:nvPr/>
          </p:nvSpPr>
          <p:spPr>
            <a:xfrm>
              <a:off x="10156798" y="171060"/>
              <a:ext cx="603358" cy="974655"/>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364" name="Freeform: Shape 363">
              <a:extLst>
                <a:ext uri="{FF2B5EF4-FFF2-40B4-BE49-F238E27FC236}">
                  <a16:creationId xmlns:a16="http://schemas.microsoft.com/office/drawing/2014/main" id="{33C1A73F-012F-4758-B091-CB6602C945AD}"/>
                </a:ext>
              </a:extLst>
            </p:cNvPr>
            <p:cNvSpPr/>
            <p:nvPr/>
          </p:nvSpPr>
          <p:spPr>
            <a:xfrm>
              <a:off x="10917122" y="1505131"/>
              <a:ext cx="853984" cy="612641"/>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365" name="Freeform: Shape 364">
              <a:extLst>
                <a:ext uri="{FF2B5EF4-FFF2-40B4-BE49-F238E27FC236}">
                  <a16:creationId xmlns:a16="http://schemas.microsoft.com/office/drawing/2014/main" id="{AB804377-27A8-4CC5-9F61-EF69A7FEDC2D}"/>
                </a:ext>
              </a:extLst>
            </p:cNvPr>
            <p:cNvSpPr/>
            <p:nvPr/>
          </p:nvSpPr>
          <p:spPr>
            <a:xfrm>
              <a:off x="10380041" y="954775"/>
              <a:ext cx="631205" cy="538381"/>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366" name="Freeform: Shape 365">
              <a:extLst>
                <a:ext uri="{FF2B5EF4-FFF2-40B4-BE49-F238E27FC236}">
                  <a16:creationId xmlns:a16="http://schemas.microsoft.com/office/drawing/2014/main" id="{8AB7A34F-77E0-4F44-85D5-EC1FCD1C005E}"/>
                </a:ext>
              </a:extLst>
            </p:cNvPr>
            <p:cNvSpPr/>
            <p:nvPr/>
          </p:nvSpPr>
          <p:spPr>
            <a:xfrm>
              <a:off x="10380041" y="1147107"/>
              <a:ext cx="631205" cy="937526"/>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367" name="Freeform: Shape 366">
              <a:extLst>
                <a:ext uri="{FF2B5EF4-FFF2-40B4-BE49-F238E27FC236}">
                  <a16:creationId xmlns:a16="http://schemas.microsoft.com/office/drawing/2014/main" id="{532FC38E-3D4D-493F-9534-B4E19B1D78DA}"/>
                </a:ext>
              </a:extLst>
            </p:cNvPr>
            <p:cNvSpPr/>
            <p:nvPr/>
          </p:nvSpPr>
          <p:spPr>
            <a:xfrm>
              <a:off x="10917122" y="1496499"/>
              <a:ext cx="853984" cy="594076"/>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368" name="Freeform: Shape 367">
              <a:extLst>
                <a:ext uri="{FF2B5EF4-FFF2-40B4-BE49-F238E27FC236}">
                  <a16:creationId xmlns:a16="http://schemas.microsoft.com/office/drawing/2014/main" id="{BB1C3AE0-FDAC-4527-82A3-7F67024E29B4}"/>
                </a:ext>
              </a:extLst>
            </p:cNvPr>
            <p:cNvSpPr/>
            <p:nvPr/>
          </p:nvSpPr>
          <p:spPr>
            <a:xfrm>
              <a:off x="11773855" y="1505189"/>
              <a:ext cx="439374" cy="17113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69" name="Freeform: Shape 368">
              <a:extLst>
                <a:ext uri="{FF2B5EF4-FFF2-40B4-BE49-F238E27FC236}">
                  <a16:creationId xmlns:a16="http://schemas.microsoft.com/office/drawing/2014/main" id="{63042967-13E2-4CA9-AD8D-EFE84F48E814}"/>
                </a:ext>
              </a:extLst>
            </p:cNvPr>
            <p:cNvSpPr/>
            <p:nvPr/>
          </p:nvSpPr>
          <p:spPr>
            <a:xfrm>
              <a:off x="11773706" y="885064"/>
              <a:ext cx="439523" cy="789417"/>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0" name="Freeform: Shape 369">
              <a:extLst>
                <a:ext uri="{FF2B5EF4-FFF2-40B4-BE49-F238E27FC236}">
                  <a16:creationId xmlns:a16="http://schemas.microsoft.com/office/drawing/2014/main" id="{47D43CB0-3885-4A86-964C-24E518FEB7BA}"/>
                </a:ext>
              </a:extLst>
            </p:cNvPr>
            <p:cNvSpPr/>
            <p:nvPr/>
          </p:nvSpPr>
          <p:spPr>
            <a:xfrm>
              <a:off x="11631777" y="1505131"/>
              <a:ext cx="581452" cy="610970"/>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1" name="Freeform: Shape 370">
              <a:extLst>
                <a:ext uri="{FF2B5EF4-FFF2-40B4-BE49-F238E27FC236}">
                  <a16:creationId xmlns:a16="http://schemas.microsoft.com/office/drawing/2014/main" id="{64800A95-B7DD-4BB7-BFA6-90438D4074DD}"/>
                </a:ext>
              </a:extLst>
            </p:cNvPr>
            <p:cNvSpPr/>
            <p:nvPr/>
          </p:nvSpPr>
          <p:spPr>
            <a:xfrm>
              <a:off x="11014217" y="1033955"/>
              <a:ext cx="751877" cy="4641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2" name="Freeform: Shape 371">
              <a:extLst>
                <a:ext uri="{FF2B5EF4-FFF2-40B4-BE49-F238E27FC236}">
                  <a16:creationId xmlns:a16="http://schemas.microsoft.com/office/drawing/2014/main" id="{7E85A836-4772-4DD2-82E6-BC3D5D352188}"/>
                </a:ext>
              </a:extLst>
            </p:cNvPr>
            <p:cNvSpPr/>
            <p:nvPr/>
          </p:nvSpPr>
          <p:spPr>
            <a:xfrm>
              <a:off x="10848711" y="954775"/>
              <a:ext cx="538381" cy="538381"/>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3" name="Freeform: Shape 372">
              <a:extLst>
                <a:ext uri="{FF2B5EF4-FFF2-40B4-BE49-F238E27FC236}">
                  <a16:creationId xmlns:a16="http://schemas.microsoft.com/office/drawing/2014/main" id="{73B1AC75-3A44-4E21-B775-2642E72CE53B}"/>
                </a:ext>
              </a:extLst>
            </p:cNvPr>
            <p:cNvSpPr/>
            <p:nvPr/>
          </p:nvSpPr>
          <p:spPr>
            <a:xfrm>
              <a:off x="10761270" y="171060"/>
              <a:ext cx="491969" cy="779725"/>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374" name="Freeform: Shape 373">
              <a:extLst>
                <a:ext uri="{FF2B5EF4-FFF2-40B4-BE49-F238E27FC236}">
                  <a16:creationId xmlns:a16="http://schemas.microsoft.com/office/drawing/2014/main" id="{B8C516EA-925C-4BE3-B77D-6C8F9ACFD37E}"/>
                </a:ext>
              </a:extLst>
            </p:cNvPr>
            <p:cNvSpPr/>
            <p:nvPr/>
          </p:nvSpPr>
          <p:spPr>
            <a:xfrm>
              <a:off x="10848711" y="512746"/>
              <a:ext cx="538381" cy="519816"/>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5" name="Freeform: Shape 374">
              <a:extLst>
                <a:ext uri="{FF2B5EF4-FFF2-40B4-BE49-F238E27FC236}">
                  <a16:creationId xmlns:a16="http://schemas.microsoft.com/office/drawing/2014/main" id="{FB04E203-3151-47D1-BF21-7E3E8EB60E2A}"/>
                </a:ext>
              </a:extLst>
            </p:cNvPr>
            <p:cNvSpPr/>
            <p:nvPr/>
          </p:nvSpPr>
          <p:spPr>
            <a:xfrm>
              <a:off x="11394332" y="541986"/>
              <a:ext cx="371297" cy="956091"/>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376" name="Freeform: Shape 375">
              <a:extLst>
                <a:ext uri="{FF2B5EF4-FFF2-40B4-BE49-F238E27FC236}">
                  <a16:creationId xmlns:a16="http://schemas.microsoft.com/office/drawing/2014/main" id="{258A6CC8-9E30-4B8F-945A-BD18AF5D368C}"/>
                </a:ext>
              </a:extLst>
            </p:cNvPr>
            <p:cNvSpPr/>
            <p:nvPr/>
          </p:nvSpPr>
          <p:spPr>
            <a:xfrm>
              <a:off x="11724602" y="541986"/>
              <a:ext cx="473404" cy="956091"/>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377" name="Freeform: Shape 376">
              <a:extLst>
                <a:ext uri="{FF2B5EF4-FFF2-40B4-BE49-F238E27FC236}">
                  <a16:creationId xmlns:a16="http://schemas.microsoft.com/office/drawing/2014/main" id="{D57D8E5C-F9AC-455D-8D4D-FFD0B14EAAD9}"/>
                </a:ext>
              </a:extLst>
            </p:cNvPr>
            <p:cNvSpPr/>
            <p:nvPr/>
          </p:nvSpPr>
          <p:spPr>
            <a:xfrm>
              <a:off x="11254539" y="512746"/>
              <a:ext cx="464122" cy="519816"/>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8" name="Freeform: Shape 377">
              <a:extLst>
                <a:ext uri="{FF2B5EF4-FFF2-40B4-BE49-F238E27FC236}">
                  <a16:creationId xmlns:a16="http://schemas.microsoft.com/office/drawing/2014/main" id="{915A31FF-0B2D-40FA-943F-49FFA49A5500}"/>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79" name="Freeform: Shape 378">
              <a:extLst>
                <a:ext uri="{FF2B5EF4-FFF2-40B4-BE49-F238E27FC236}">
                  <a16:creationId xmlns:a16="http://schemas.microsoft.com/office/drawing/2014/main" id="{4EAADF45-6631-4B08-82E4-BFCAE6011DE8}"/>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0" name="Freeform: Shape 379">
              <a:extLst>
                <a:ext uri="{FF2B5EF4-FFF2-40B4-BE49-F238E27FC236}">
                  <a16:creationId xmlns:a16="http://schemas.microsoft.com/office/drawing/2014/main" id="{CDB6778E-4E12-4BC2-8DFB-FFDF9F944B63}"/>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1" name="Freeform: Shape 380">
              <a:extLst>
                <a:ext uri="{FF2B5EF4-FFF2-40B4-BE49-F238E27FC236}">
                  <a16:creationId xmlns:a16="http://schemas.microsoft.com/office/drawing/2014/main" id="{D1475A72-4EF5-4265-A848-B4CE35354D09}"/>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2" name="Freeform: Shape 381">
              <a:extLst>
                <a:ext uri="{FF2B5EF4-FFF2-40B4-BE49-F238E27FC236}">
                  <a16:creationId xmlns:a16="http://schemas.microsoft.com/office/drawing/2014/main" id="{4473C88C-90F1-472C-97A0-584345D72B58}"/>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3" name="Freeform: Shape 382">
              <a:extLst>
                <a:ext uri="{FF2B5EF4-FFF2-40B4-BE49-F238E27FC236}">
                  <a16:creationId xmlns:a16="http://schemas.microsoft.com/office/drawing/2014/main" id="{6091FAB6-9F3F-4928-BD4A-57A4DB7FD544}"/>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4" name="Freeform: Shape 383">
              <a:extLst>
                <a:ext uri="{FF2B5EF4-FFF2-40B4-BE49-F238E27FC236}">
                  <a16:creationId xmlns:a16="http://schemas.microsoft.com/office/drawing/2014/main" id="{F178557F-E42E-4AD9-91D2-06FE205260CC}"/>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5" name="Freeform: Shape 384">
              <a:extLst>
                <a:ext uri="{FF2B5EF4-FFF2-40B4-BE49-F238E27FC236}">
                  <a16:creationId xmlns:a16="http://schemas.microsoft.com/office/drawing/2014/main" id="{3A8FA096-1E93-4945-A628-FED1FD8D9EE4}"/>
                </a:ext>
              </a:extLst>
            </p:cNvPr>
            <p:cNvSpPr/>
            <p:nvPr/>
          </p:nvSpPr>
          <p:spPr>
            <a:xfrm>
              <a:off x="10156720" y="296441"/>
              <a:ext cx="79" cy="396"/>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386" name="Freeform: Shape 385">
              <a:extLst>
                <a:ext uri="{FF2B5EF4-FFF2-40B4-BE49-F238E27FC236}">
                  <a16:creationId xmlns:a16="http://schemas.microsoft.com/office/drawing/2014/main" id="{6F9AEBA0-65A9-4496-99ED-BF82A41D437B}"/>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87" name="Straight Connector 386">
              <a:extLst>
                <a:ext uri="{FF2B5EF4-FFF2-40B4-BE49-F238E27FC236}">
                  <a16:creationId xmlns:a16="http://schemas.microsoft.com/office/drawing/2014/main" id="{F0C32599-B900-4F66-8138-3DB3C3BA4FA0}"/>
                </a:ext>
              </a:extLst>
            </p:cNvPr>
            <p:cNvCxnSpPr>
              <a:cxnSpLocks/>
              <a:endCxn id="364" idx="0"/>
            </p:cNvCxnSpPr>
            <p:nvPr/>
          </p:nvCxnSpPr>
          <p:spPr>
            <a:xfrm>
              <a:off x="10926567" y="2089612"/>
              <a:ext cx="700662" cy="32894"/>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427" name="Group 426">
            <a:extLst>
              <a:ext uri="{FF2B5EF4-FFF2-40B4-BE49-F238E27FC236}">
                <a16:creationId xmlns:a16="http://schemas.microsoft.com/office/drawing/2014/main" id="{4243A657-DAF3-4492-97EF-85FC6C802AB0}"/>
              </a:ext>
            </a:extLst>
          </p:cNvPr>
          <p:cNvGrpSpPr/>
          <p:nvPr/>
        </p:nvGrpSpPr>
        <p:grpSpPr>
          <a:xfrm flipH="1">
            <a:off x="9829800" y="4832549"/>
            <a:ext cx="2362200" cy="2025452"/>
            <a:chOff x="0" y="4868032"/>
            <a:chExt cx="2362200" cy="2025452"/>
          </a:xfrm>
        </p:grpSpPr>
        <p:sp>
          <p:nvSpPr>
            <p:cNvPr id="428" name="Freeform: Shape 427">
              <a:extLst>
                <a:ext uri="{FF2B5EF4-FFF2-40B4-BE49-F238E27FC236}">
                  <a16:creationId xmlns:a16="http://schemas.microsoft.com/office/drawing/2014/main" id="{FE06C695-3AF8-4511-A827-397633C49A0A}"/>
                </a:ext>
              </a:extLst>
            </p:cNvPr>
            <p:cNvSpPr/>
            <p:nvPr/>
          </p:nvSpPr>
          <p:spPr>
            <a:xfrm flipH="1" flipV="1">
              <a:off x="1682808" y="5249619"/>
              <a:ext cx="623452" cy="802801"/>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429" name="Freeform: Shape 428">
              <a:extLst>
                <a:ext uri="{FF2B5EF4-FFF2-40B4-BE49-F238E27FC236}">
                  <a16:creationId xmlns:a16="http://schemas.microsoft.com/office/drawing/2014/main" id="{77FAC9AF-0C05-4A43-B2CE-CE6C6379F552}"/>
                </a:ext>
              </a:extLst>
            </p:cNvPr>
            <p:cNvSpPr/>
            <p:nvPr/>
          </p:nvSpPr>
          <p:spPr>
            <a:xfrm flipH="1" flipV="1">
              <a:off x="1694423" y="5769135"/>
              <a:ext cx="614912" cy="973610"/>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430" name="Freeform: Shape 429">
              <a:extLst>
                <a:ext uri="{FF2B5EF4-FFF2-40B4-BE49-F238E27FC236}">
                  <a16:creationId xmlns:a16="http://schemas.microsoft.com/office/drawing/2014/main" id="{C53AB519-76C2-429D-830D-294354209599}"/>
                </a:ext>
              </a:extLst>
            </p:cNvPr>
            <p:cNvSpPr/>
            <p:nvPr/>
          </p:nvSpPr>
          <p:spPr>
            <a:xfrm flipH="1" flipV="1">
              <a:off x="1200872" y="4902878"/>
              <a:ext cx="631992" cy="862584"/>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431" name="Freeform: Shape 430">
              <a:extLst>
                <a:ext uri="{FF2B5EF4-FFF2-40B4-BE49-F238E27FC236}">
                  <a16:creationId xmlns:a16="http://schemas.microsoft.com/office/drawing/2014/main" id="{31D2B566-79E0-4346-BFDD-750BA6C54FD2}"/>
                </a:ext>
              </a:extLst>
            </p:cNvPr>
            <p:cNvSpPr/>
            <p:nvPr/>
          </p:nvSpPr>
          <p:spPr>
            <a:xfrm flipH="1" flipV="1">
              <a:off x="1693825" y="5773405"/>
              <a:ext cx="606371" cy="965070"/>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432" name="Freeform: Shape 431">
              <a:extLst>
                <a:ext uri="{FF2B5EF4-FFF2-40B4-BE49-F238E27FC236}">
                  <a16:creationId xmlns:a16="http://schemas.microsoft.com/office/drawing/2014/main" id="{E81A3D89-CE5B-4500-82E4-01F147646262}"/>
                </a:ext>
              </a:extLst>
            </p:cNvPr>
            <p:cNvSpPr/>
            <p:nvPr/>
          </p:nvSpPr>
          <p:spPr>
            <a:xfrm flipH="1" flipV="1">
              <a:off x="1259972" y="5766743"/>
              <a:ext cx="427022" cy="896746"/>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33" name="Freeform: Shape 432">
              <a:extLst>
                <a:ext uri="{FF2B5EF4-FFF2-40B4-BE49-F238E27FC236}">
                  <a16:creationId xmlns:a16="http://schemas.microsoft.com/office/drawing/2014/main" id="{3E915323-C1F6-4011-A307-4531A07FE0FD}"/>
                </a:ext>
              </a:extLst>
            </p:cNvPr>
            <p:cNvSpPr/>
            <p:nvPr/>
          </p:nvSpPr>
          <p:spPr>
            <a:xfrm flipH="1" flipV="1">
              <a:off x="1337262" y="5766743"/>
              <a:ext cx="555128" cy="896746"/>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434" name="Freeform: Shape 433">
              <a:extLst>
                <a:ext uri="{FF2B5EF4-FFF2-40B4-BE49-F238E27FC236}">
                  <a16:creationId xmlns:a16="http://schemas.microsoft.com/office/drawing/2014/main" id="{97D27A2A-4717-482A-A951-1273C2FA2B5A}"/>
                </a:ext>
              </a:extLst>
            </p:cNvPr>
            <p:cNvSpPr/>
            <p:nvPr/>
          </p:nvSpPr>
          <p:spPr>
            <a:xfrm flipH="1" flipV="1">
              <a:off x="407123" y="4872388"/>
              <a:ext cx="785720" cy="563669"/>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435" name="Freeform: Shape 434">
              <a:extLst>
                <a:ext uri="{FF2B5EF4-FFF2-40B4-BE49-F238E27FC236}">
                  <a16:creationId xmlns:a16="http://schemas.microsoft.com/office/drawing/2014/main" id="{4B230D0B-C07A-4EE2-A0C5-6664EEE0B669}"/>
                </a:ext>
              </a:extLst>
            </p:cNvPr>
            <p:cNvSpPr/>
            <p:nvPr/>
          </p:nvSpPr>
          <p:spPr>
            <a:xfrm flipH="1" flipV="1">
              <a:off x="1106244" y="5447075"/>
              <a:ext cx="580750" cy="495346"/>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dirty="0"/>
            </a:p>
          </p:txBody>
        </p:sp>
        <p:sp>
          <p:nvSpPr>
            <p:cNvPr id="436" name="Freeform: Shape 435">
              <a:extLst>
                <a:ext uri="{FF2B5EF4-FFF2-40B4-BE49-F238E27FC236}">
                  <a16:creationId xmlns:a16="http://schemas.microsoft.com/office/drawing/2014/main" id="{BB4755D7-C78E-4DA7-84E6-67C1CD7FDFC7}"/>
                </a:ext>
              </a:extLst>
            </p:cNvPr>
            <p:cNvSpPr/>
            <p:nvPr/>
          </p:nvSpPr>
          <p:spPr>
            <a:xfrm flipH="1" flipV="1">
              <a:off x="1106244" y="4902878"/>
              <a:ext cx="580750" cy="862584"/>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437" name="Freeform: Shape 436">
              <a:extLst>
                <a:ext uri="{FF2B5EF4-FFF2-40B4-BE49-F238E27FC236}">
                  <a16:creationId xmlns:a16="http://schemas.microsoft.com/office/drawing/2014/main" id="{74F6F84D-936A-4760-ACC4-055B64FF23DE}"/>
                </a:ext>
              </a:extLst>
            </p:cNvPr>
            <p:cNvSpPr/>
            <p:nvPr/>
          </p:nvSpPr>
          <p:spPr>
            <a:xfrm flipH="1" flipV="1">
              <a:off x="407123" y="4897411"/>
              <a:ext cx="785720" cy="546588"/>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438" name="Freeform: Shape 437">
              <a:extLst>
                <a:ext uri="{FF2B5EF4-FFF2-40B4-BE49-F238E27FC236}">
                  <a16:creationId xmlns:a16="http://schemas.microsoft.com/office/drawing/2014/main" id="{89D65E30-885A-457F-9CA3-43FB9528B5BF}"/>
                </a:ext>
              </a:extLst>
            </p:cNvPr>
            <p:cNvSpPr/>
            <p:nvPr/>
          </p:nvSpPr>
          <p:spPr>
            <a:xfrm flipH="1" flipV="1">
              <a:off x="342" y="5278549"/>
              <a:ext cx="404252" cy="15745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39" name="Freeform: Shape 438">
              <a:extLst>
                <a:ext uri="{FF2B5EF4-FFF2-40B4-BE49-F238E27FC236}">
                  <a16:creationId xmlns:a16="http://schemas.microsoft.com/office/drawing/2014/main" id="{07019A0F-FC42-4D5B-BF57-264B4A9045AC}"/>
                </a:ext>
              </a:extLst>
            </p:cNvPr>
            <p:cNvSpPr/>
            <p:nvPr/>
          </p:nvSpPr>
          <p:spPr>
            <a:xfrm flipH="1" flipV="1">
              <a:off x="342" y="5280245"/>
              <a:ext cx="404389" cy="726314"/>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0" name="Freeform: Shape 439">
              <a:extLst>
                <a:ext uri="{FF2B5EF4-FFF2-40B4-BE49-F238E27FC236}">
                  <a16:creationId xmlns:a16="http://schemas.microsoft.com/office/drawing/2014/main" id="{EB478AE6-5B32-4669-A7D5-CE7811A77EAE}"/>
                </a:ext>
              </a:extLst>
            </p:cNvPr>
            <p:cNvSpPr/>
            <p:nvPr/>
          </p:nvSpPr>
          <p:spPr>
            <a:xfrm flipH="1" flipV="1">
              <a:off x="342" y="4873925"/>
              <a:ext cx="534973" cy="562132"/>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1" name="Freeform: Shape 440">
              <a:extLst>
                <a:ext uri="{FF2B5EF4-FFF2-40B4-BE49-F238E27FC236}">
                  <a16:creationId xmlns:a16="http://schemas.microsoft.com/office/drawing/2014/main" id="{10856FB5-71B5-4FCF-9FA6-B2C51CDEABBB}"/>
                </a:ext>
              </a:extLst>
            </p:cNvPr>
            <p:cNvSpPr/>
            <p:nvPr/>
          </p:nvSpPr>
          <p:spPr>
            <a:xfrm flipH="1" flipV="1">
              <a:off x="411734" y="5442548"/>
              <a:ext cx="691776" cy="4270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2" name="Freeform: Shape 441">
              <a:extLst>
                <a:ext uri="{FF2B5EF4-FFF2-40B4-BE49-F238E27FC236}">
                  <a16:creationId xmlns:a16="http://schemas.microsoft.com/office/drawing/2014/main" id="{B36AD7C1-8F87-4CF7-A0E5-1C1D90DE7FF8}"/>
                </a:ext>
              </a:extLst>
            </p:cNvPr>
            <p:cNvSpPr/>
            <p:nvPr/>
          </p:nvSpPr>
          <p:spPr>
            <a:xfrm flipH="1" flipV="1">
              <a:off x="760440" y="5447075"/>
              <a:ext cx="495346" cy="495346"/>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3" name="Freeform: Shape 442">
              <a:extLst>
                <a:ext uri="{FF2B5EF4-FFF2-40B4-BE49-F238E27FC236}">
                  <a16:creationId xmlns:a16="http://schemas.microsoft.com/office/drawing/2014/main" id="{F28DA495-1CCA-4D4A-81EA-28774C725DFA}"/>
                </a:ext>
              </a:extLst>
            </p:cNvPr>
            <p:cNvSpPr/>
            <p:nvPr/>
          </p:nvSpPr>
          <p:spPr>
            <a:xfrm flipH="1" flipV="1">
              <a:off x="883594" y="5946092"/>
              <a:ext cx="452643" cy="717397"/>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444" name="Freeform: Shape 443">
              <a:extLst>
                <a:ext uri="{FF2B5EF4-FFF2-40B4-BE49-F238E27FC236}">
                  <a16:creationId xmlns:a16="http://schemas.microsoft.com/office/drawing/2014/main" id="{071E87B6-45C9-4A0A-93E0-9D006FBA4916}"/>
                </a:ext>
              </a:extLst>
            </p:cNvPr>
            <p:cNvSpPr/>
            <p:nvPr/>
          </p:nvSpPr>
          <p:spPr>
            <a:xfrm flipH="1" flipV="1">
              <a:off x="760440" y="5870851"/>
              <a:ext cx="495346" cy="478264"/>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5" name="Freeform: Shape 444">
              <a:extLst>
                <a:ext uri="{FF2B5EF4-FFF2-40B4-BE49-F238E27FC236}">
                  <a16:creationId xmlns:a16="http://schemas.microsoft.com/office/drawing/2014/main" id="{8822C763-DDF6-458C-9E9C-FC[redacted]}"/>
                </a:ext>
              </a:extLst>
            </p:cNvPr>
            <p:cNvSpPr/>
            <p:nvPr/>
          </p:nvSpPr>
          <p:spPr>
            <a:xfrm flipH="1" flipV="1">
              <a:off x="412162" y="5442548"/>
              <a:ext cx="341618" cy="879665"/>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446" name="Freeform: Shape 445">
              <a:extLst>
                <a:ext uri="{FF2B5EF4-FFF2-40B4-BE49-F238E27FC236}">
                  <a16:creationId xmlns:a16="http://schemas.microsoft.com/office/drawing/2014/main" id="{F1846E64-0F4A-4981-A955-7CE13D26F3E8}"/>
                </a:ext>
              </a:extLst>
            </p:cNvPr>
            <p:cNvSpPr/>
            <p:nvPr/>
          </p:nvSpPr>
          <p:spPr>
            <a:xfrm flipH="1" flipV="1">
              <a:off x="14348" y="5442548"/>
              <a:ext cx="435562" cy="879665"/>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447" name="Freeform: Shape 446">
              <a:extLst>
                <a:ext uri="{FF2B5EF4-FFF2-40B4-BE49-F238E27FC236}">
                  <a16:creationId xmlns:a16="http://schemas.microsoft.com/office/drawing/2014/main" id="{D4F8241A-CA55-4F4E-AED1-1EEEE96AEB56}"/>
                </a:ext>
              </a:extLst>
            </p:cNvPr>
            <p:cNvSpPr/>
            <p:nvPr/>
          </p:nvSpPr>
          <p:spPr>
            <a:xfrm flipH="1" flipV="1">
              <a:off x="455376" y="5870851"/>
              <a:ext cx="427022" cy="478264"/>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8" name="Freeform: Shape 447">
              <a:extLst>
                <a:ext uri="{FF2B5EF4-FFF2-40B4-BE49-F238E27FC236}">
                  <a16:creationId xmlns:a16="http://schemas.microsoft.com/office/drawing/2014/main" id="{2BB546F8-8D6F-4E5C-A8E4-C4C5D2AF980C}"/>
                </a:ext>
              </a:extLst>
            </p:cNvPr>
            <p:cNvSpPr/>
            <p:nvPr/>
          </p:nvSpPr>
          <p:spPr>
            <a:xfrm flipH="1" flipV="1">
              <a:off x="883594" y="6355436"/>
              <a:ext cx="452643" cy="538048"/>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25400" cap="flat">
              <a:solidFill>
                <a:schemeClr val="accent1">
                  <a:alpha val="10000"/>
                </a:schemeClr>
              </a:solidFill>
              <a:prstDash val="solid"/>
              <a:round/>
            </a:ln>
          </p:spPr>
          <p:txBody>
            <a:bodyPr rtlCol="1" anchor="ctr"/>
            <a:lstStyle/>
            <a:p>
              <a:endParaRPr lang="ar-LY"/>
            </a:p>
          </p:txBody>
        </p:sp>
        <p:sp>
          <p:nvSpPr>
            <p:cNvPr id="449" name="Freeform: Shape 448">
              <a:extLst>
                <a:ext uri="{FF2B5EF4-FFF2-40B4-BE49-F238E27FC236}">
                  <a16:creationId xmlns:a16="http://schemas.microsoft.com/office/drawing/2014/main" id="{4C4597FF-CB53-40D4-A186-8F3E4CE2CF1D}"/>
                </a:ext>
              </a:extLst>
            </p:cNvPr>
            <p:cNvSpPr/>
            <p:nvPr/>
          </p:nvSpPr>
          <p:spPr>
            <a:xfrm flipH="1" flipV="1">
              <a:off x="5808" y="6009804"/>
              <a:ext cx="444103" cy="802801"/>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0" name="Freeform: Shape 449">
              <a:extLst>
                <a:ext uri="{FF2B5EF4-FFF2-40B4-BE49-F238E27FC236}">
                  <a16:creationId xmlns:a16="http://schemas.microsoft.com/office/drawing/2014/main" id="{51F13E0C-46F2-4215-8356-56C438E9A323}"/>
                </a:ext>
              </a:extLst>
            </p:cNvPr>
            <p:cNvSpPr/>
            <p:nvPr/>
          </p:nvSpPr>
          <p:spPr>
            <a:xfrm flipH="1" flipV="1">
              <a:off x="541851" y="6349116"/>
              <a:ext cx="362113" cy="514221"/>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1" name="Freeform: Shape 450">
              <a:extLst>
                <a:ext uri="{FF2B5EF4-FFF2-40B4-BE49-F238E27FC236}">
                  <a16:creationId xmlns:a16="http://schemas.microsoft.com/office/drawing/2014/main" id="{5625A08C-E1C8-4FA6-9B2B-4F37C1B2E972}"/>
                </a:ext>
              </a:extLst>
            </p:cNvPr>
            <p:cNvSpPr/>
            <p:nvPr/>
          </p:nvSpPr>
          <p:spPr>
            <a:xfrm flipH="1" flipV="1">
              <a:off x="0" y="6322214"/>
              <a:ext cx="882398" cy="541123"/>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2" name="Freeform: Shape 451">
              <a:extLst>
                <a:ext uri="{FF2B5EF4-FFF2-40B4-BE49-F238E27FC236}">
                  <a16:creationId xmlns:a16="http://schemas.microsoft.com/office/drawing/2014/main" id="{3F781752-D22C-410C-8057-17EE3F28044D}"/>
                </a:ext>
              </a:extLst>
            </p:cNvPr>
            <p:cNvSpPr/>
            <p:nvPr/>
          </p:nvSpPr>
          <p:spPr>
            <a:xfrm flipH="1" flipV="1">
              <a:off x="1634106" y="5712078"/>
              <a:ext cx="102485" cy="102485"/>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3" name="Freeform: Shape 452">
              <a:extLst>
                <a:ext uri="{FF2B5EF4-FFF2-40B4-BE49-F238E27FC236}">
                  <a16:creationId xmlns:a16="http://schemas.microsoft.com/office/drawing/2014/main" id="{439B8E36-13E0-49BF-9E8F-99BA6F0D79C4}"/>
                </a:ext>
              </a:extLst>
            </p:cNvPr>
            <p:cNvSpPr/>
            <p:nvPr/>
          </p:nvSpPr>
          <p:spPr>
            <a:xfrm flipH="1" flipV="1">
              <a:off x="351674" y="5389660"/>
              <a:ext cx="102485" cy="102485"/>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4" name="Freeform: Shape 453">
              <a:extLst>
                <a:ext uri="{FF2B5EF4-FFF2-40B4-BE49-F238E27FC236}">
                  <a16:creationId xmlns:a16="http://schemas.microsoft.com/office/drawing/2014/main" id="{3D86812D-B40E-4A3A-B13D-890B13453A21}"/>
                </a:ext>
              </a:extLst>
            </p:cNvPr>
            <p:cNvSpPr/>
            <p:nvPr/>
          </p:nvSpPr>
          <p:spPr>
            <a:xfrm flipH="1" flipV="1">
              <a:off x="2259715" y="6002800"/>
              <a:ext cx="102485" cy="102485"/>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5" name="Freeform: Shape 454">
              <a:extLst>
                <a:ext uri="{FF2B5EF4-FFF2-40B4-BE49-F238E27FC236}">
                  <a16:creationId xmlns:a16="http://schemas.microsoft.com/office/drawing/2014/main" id="{95811A06-C330-4DCB-A18B-DB4267A998EC}"/>
                </a:ext>
              </a:extLst>
            </p:cNvPr>
            <p:cNvSpPr/>
            <p:nvPr/>
          </p:nvSpPr>
          <p:spPr>
            <a:xfrm flipH="1" flipV="1">
              <a:off x="828401" y="6297595"/>
              <a:ext cx="102485" cy="102485"/>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6" name="Freeform: Shape 455">
              <a:extLst>
                <a:ext uri="{FF2B5EF4-FFF2-40B4-BE49-F238E27FC236}">
                  <a16:creationId xmlns:a16="http://schemas.microsoft.com/office/drawing/2014/main" id="{A85EE8B6-01A6-46CB-A497-5C65A718FEA2}"/>
                </a:ext>
              </a:extLst>
            </p:cNvPr>
            <p:cNvSpPr/>
            <p:nvPr/>
          </p:nvSpPr>
          <p:spPr>
            <a:xfrm flipH="1" flipV="1">
              <a:off x="1892463" y="6548131"/>
              <a:ext cx="56694" cy="284118"/>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7" name="Freeform: Shape 456">
              <a:extLst>
                <a:ext uri="{FF2B5EF4-FFF2-40B4-BE49-F238E27FC236}">
                  <a16:creationId xmlns:a16="http://schemas.microsoft.com/office/drawing/2014/main" id="{40C86AD7-7590-49E1-BAB4-6E3A20572C26}"/>
                </a:ext>
              </a:extLst>
            </p:cNvPr>
            <p:cNvSpPr/>
            <p:nvPr/>
          </p:nvSpPr>
          <p:spPr>
            <a:xfrm flipH="1" flipV="1">
              <a:off x="1892390" y="6547766"/>
              <a:ext cx="73" cy="364"/>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8" name="Freeform: Shape 457">
              <a:extLst>
                <a:ext uri="{FF2B5EF4-FFF2-40B4-BE49-F238E27FC236}">
                  <a16:creationId xmlns:a16="http://schemas.microsoft.com/office/drawing/2014/main" id="{05D61590-8F32-4425-A2F0-CBBCEF0A126B}"/>
                </a:ext>
              </a:extLst>
            </p:cNvPr>
            <p:cNvSpPr/>
            <p:nvPr/>
          </p:nvSpPr>
          <p:spPr>
            <a:xfrm flipH="1" flipV="1">
              <a:off x="1892391" y="6547766"/>
              <a:ext cx="407805" cy="284482"/>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9" name="Freeform: Shape 458">
              <a:extLst>
                <a:ext uri="{FF2B5EF4-FFF2-40B4-BE49-F238E27FC236}">
                  <a16:creationId xmlns:a16="http://schemas.microsoft.com/office/drawing/2014/main" id="{2B8522D7-AAE5-4079-8552-E082C7398E62}"/>
                </a:ext>
              </a:extLst>
            </p:cNvPr>
            <p:cNvSpPr/>
            <p:nvPr/>
          </p:nvSpPr>
          <p:spPr>
            <a:xfrm flipH="1" flipV="1">
              <a:off x="1336238" y="6547766"/>
              <a:ext cx="612470" cy="284482"/>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60" name="Freeform: Shape 459">
              <a:extLst>
                <a:ext uri="{FF2B5EF4-FFF2-40B4-BE49-F238E27FC236}">
                  <a16:creationId xmlns:a16="http://schemas.microsoft.com/office/drawing/2014/main" id="{75855995-316B-4940-AD56-9DE3569549C5}"/>
                </a:ext>
              </a:extLst>
            </p:cNvPr>
            <p:cNvSpPr/>
            <p:nvPr/>
          </p:nvSpPr>
          <p:spPr>
            <a:xfrm flipH="1" flipV="1">
              <a:off x="1024162" y="6663490"/>
              <a:ext cx="430128" cy="168759"/>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25400" cap="flat">
              <a:solidFill>
                <a:schemeClr val="accent1">
                  <a:alpha val="10000"/>
                </a:schemeClr>
              </a:solidFill>
              <a:prstDash val="solid"/>
              <a:miter/>
            </a:ln>
          </p:spPr>
          <p:txBody>
            <a:bodyPr rtlCol="1" anchor="ctr"/>
            <a:lstStyle/>
            <a:p>
              <a:endParaRPr lang="ar-LY"/>
            </a:p>
          </p:txBody>
        </p:sp>
        <p:cxnSp>
          <p:nvCxnSpPr>
            <p:cNvPr id="461" name="Straight Connector 460">
              <a:extLst>
                <a:ext uri="{FF2B5EF4-FFF2-40B4-BE49-F238E27FC236}">
                  <a16:creationId xmlns:a16="http://schemas.microsoft.com/office/drawing/2014/main" id="{7DF5540B-9671-4FF2-A550-DF6A34B616AF}"/>
                </a:ext>
              </a:extLst>
            </p:cNvPr>
            <p:cNvCxnSpPr>
              <a:cxnSpLocks/>
              <a:stCxn id="434" idx="0"/>
              <a:endCxn id="437" idx="0"/>
            </p:cNvCxnSpPr>
            <p:nvPr/>
          </p:nvCxnSpPr>
          <p:spPr>
            <a:xfrm>
              <a:off x="539499" y="4868032"/>
              <a:ext cx="653344" cy="29123"/>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pic>
        <p:nvPicPr>
          <p:cNvPr id="17" name="Graphic 16">
            <a:extLst>
              <a:ext uri="{FF2B5EF4-FFF2-40B4-BE49-F238E27FC236}">
                <a16:creationId xmlns:a16="http://schemas.microsoft.com/office/drawing/2014/main" id="{E2F6A26E-E6F5-5D4C-BC24-7FA44DBF668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19338" y="2497257"/>
            <a:ext cx="1602441" cy="1612153"/>
          </a:xfrm>
          <a:prstGeom prst="rect">
            <a:avLst/>
          </a:prstGeom>
        </p:spPr>
      </p:pic>
    </p:spTree>
    <p:extLst>
      <p:ext uri="{BB962C8B-B14F-4D97-AF65-F5344CB8AC3E}">
        <p14:creationId xmlns:p14="http://schemas.microsoft.com/office/powerpoint/2010/main" val="[redacted]"/>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A29398BB-6F62-472B-88B2-8D942FEBFB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Climate change is turning cities into harsh, sweltering hotspots">
            <a:extLst>
              <a:ext uri="{FF2B5EF4-FFF2-40B4-BE49-F238E27FC236}">
                <a16:creationId xmlns:a16="http://schemas.microsoft.com/office/drawing/2014/main" id="{BB9886C1-B585-C542-BEA5-4433035C5BCF}"/>
              </a:ext>
            </a:extLst>
          </p:cNvPr>
          <p:cNvPicPr>
            <a:picLocks noChangeAspect="1" noChangeArrowheads="1"/>
          </p:cNvPicPr>
          <p:nvPr/>
        </p:nvPicPr>
        <p:blipFill rotWithShape="1">
          <a:blip r:embed="rId3">
            <a:extLst>
              <a:ext uri="{28A0092B-C50C-407E-A947-70E740481C1C}">
                <a14:useLocalDpi xmlns:a14="http://schemas.microsoft.com/office/drawing/2010/main"/>
              </a:ext>
            </a:extLst>
          </a:blip>
          <a:srcRect/>
          <a:stretch/>
        </p:blipFill>
        <p:spPr bwMode="auto">
          <a:xfrm>
            <a:off x="-1" y="10"/>
            <a:ext cx="12192018" cy="6858000"/>
          </a:xfrm>
          <a:prstGeom prst="rect">
            <a:avLst/>
          </a:prstGeom>
          <a:noFill/>
          <a:extLst>
            <a:ext uri="{909E8E84-426E-40DD-AFC4-6F175D3DCCD1}">
              <a14:hiddenFill xmlns:a14="http://schemas.microsoft.com/office/drawing/2010/main">
                <a:solidFill>
                  <a:srgbClr val="FFFFFF"/>
                </a:solidFill>
              </a14:hiddenFill>
            </a:ext>
          </a:extLst>
        </p:spPr>
      </p:pic>
      <p:sp>
        <p:nvSpPr>
          <p:cNvPr id="76" name="Freeform: Shape 75">
            <a:extLst>
              <a:ext uri="{FF2B5EF4-FFF2-40B4-BE49-F238E27FC236}">
                <a16:creationId xmlns:a16="http://schemas.microsoft.com/office/drawing/2014/main" id="{615A59BC-530D-4881-A29E-CB9EE2D492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55499" y="1073777"/>
            <a:ext cx="4994062" cy="4412648"/>
          </a:xfrm>
          <a:custGeom>
            <a:avLst/>
            <a:gdLst>
              <a:gd name="connsiteX0" fmla="*/ 1437823 w 4994062"/>
              <a:gd name="connsiteY0" fmla="*/ 0 h 4412648"/>
              <a:gd name="connsiteX1" fmla="*/ 3556238 w 4994062"/>
              <a:gd name="connsiteY1" fmla="*/ 0 h 4412648"/>
              <a:gd name="connsiteX2" fmla="*/ 3885668 w 4994062"/>
              <a:gd name="connsiteY2" fmla="*/ 191458 h 4412648"/>
              <a:gd name="connsiteX3" fmla="*/ 4942588 w 4994062"/>
              <a:gd name="connsiteY3" fmla="*/ 2019425 h 4412648"/>
              <a:gd name="connsiteX4" fmla="*/ 4942588 w 4994062"/>
              <a:gd name="connsiteY4" fmla="*/ 2393224 h 4412648"/>
              <a:gd name="connsiteX5" fmla="*/ 4550147 w 4994062"/>
              <a:gd name="connsiteY5" fmla="*/ 3071961 h 4412648"/>
              <a:gd name="connsiteX6" fmla="*/ 4549818 w 4994062"/>
              <a:gd name="connsiteY6" fmla="*/ 3072530 h 4412648"/>
              <a:gd name="connsiteX7" fmla="*/ 4539741 w 4994062"/>
              <a:gd name="connsiteY7" fmla="*/ 3072530 h 4412648"/>
              <a:gd name="connsiteX8" fmla="*/ 3588169 w 4994062"/>
              <a:gd name="connsiteY8" fmla="*/ 3072530 h 4412648"/>
              <a:gd name="connsiteX9" fmla="*/ 3432811 w 4994062"/>
              <a:gd name="connsiteY9" fmla="*/ 3158889 h 4412648"/>
              <a:gd name="connsiteX10" fmla="*/ 2889055 w 4994062"/>
              <a:gd name="connsiteY10" fmla="*/ 4089642 h 4412648"/>
              <a:gd name="connsiteX11" fmla="*/ 2889055 w 4994062"/>
              <a:gd name="connsiteY11" fmla="*/ 4268756 h 4412648"/>
              <a:gd name="connsiteX12" fmla="*/ 2957025 w 4994062"/>
              <a:gd name="connsiteY12" fmla="*/ 4385100 h 4412648"/>
              <a:gd name="connsiteX13" fmla="*/ 2973119 w 4994062"/>
              <a:gd name="connsiteY13" fmla="*/ 4412648 h 4412648"/>
              <a:gd name="connsiteX14" fmla="*/ 2913734 w 4994062"/>
              <a:gd name="connsiteY14" fmla="*/ 4412648 h 4412648"/>
              <a:gd name="connsiteX15" fmla="*/ 1437823 w 4994062"/>
              <a:gd name="connsiteY15" fmla="*/ 4412648 h 4412648"/>
              <a:gd name="connsiteX16" fmla="*/ 1112968 w 4994062"/>
              <a:gd name="connsiteY16" fmla="*/ 4221190 h 4412648"/>
              <a:gd name="connsiteX17" fmla="*/ 51474 w 4994062"/>
              <a:gd name="connsiteY17" fmla="*/ 2393224 h 4412648"/>
              <a:gd name="connsiteX18" fmla="*/ 51474 w 4994062"/>
              <a:gd name="connsiteY18" fmla="*/ 2019425 h 4412648"/>
              <a:gd name="connsiteX19" fmla="*/ 1112968 w 4994062"/>
              <a:gd name="connsiteY19" fmla="*/ 191458 h 4412648"/>
              <a:gd name="connsiteX20" fmla="*/ 1437823 w 4994062"/>
              <a:gd name="connsiteY20" fmla="*/ 0 h 441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94062" h="4412648">
                <a:moveTo>
                  <a:pt x="1437823" y="0"/>
                </a:moveTo>
                <a:cubicBezTo>
                  <a:pt x="1437823" y="0"/>
                  <a:pt x="1437823" y="0"/>
                  <a:pt x="3556238" y="0"/>
                </a:cubicBezTo>
                <a:cubicBezTo>
                  <a:pt x="3693500" y="0"/>
                  <a:pt x="3817038" y="72936"/>
                  <a:pt x="3885668" y="191458"/>
                </a:cubicBezTo>
                <a:cubicBezTo>
                  <a:pt x="3885668" y="191458"/>
                  <a:pt x="3885668" y="191458"/>
                  <a:pt x="4942588" y="2019425"/>
                </a:cubicBezTo>
                <a:cubicBezTo>
                  <a:pt x="5011220" y="2133388"/>
                  <a:pt x="5011220" y="2279261"/>
                  <a:pt x="4942588" y="2393224"/>
                </a:cubicBezTo>
                <a:cubicBezTo>
                  <a:pt x="4942588" y="2393224"/>
                  <a:pt x="4942588" y="2393224"/>
                  <a:pt x="4550147" y="3071961"/>
                </a:cubicBezTo>
                <a:lnTo>
                  <a:pt x="4549818" y="3072530"/>
                </a:lnTo>
                <a:lnTo>
                  <a:pt x="4539741" y="3072530"/>
                </a:lnTo>
                <a:cubicBezTo>
                  <a:pt x="4403802" y="3072530"/>
                  <a:pt x="4131924" y="3072530"/>
                  <a:pt x="3588169" y="3072530"/>
                </a:cubicBezTo>
                <a:cubicBezTo>
                  <a:pt x="3529910" y="3072530"/>
                  <a:pt x="3458704" y="3110912"/>
                  <a:pt x="3432811" y="3158889"/>
                </a:cubicBezTo>
                <a:cubicBezTo>
                  <a:pt x="3432811" y="3158889"/>
                  <a:pt x="3432811" y="3158889"/>
                  <a:pt x="2889055" y="4089642"/>
                </a:cubicBezTo>
                <a:cubicBezTo>
                  <a:pt x="2859925" y="4140817"/>
                  <a:pt x="2859925" y="4217580"/>
                  <a:pt x="2889055" y="4268756"/>
                </a:cubicBezTo>
                <a:cubicBezTo>
                  <a:pt x="2889055" y="4268756"/>
                  <a:pt x="2889055" y="4268756"/>
                  <a:pt x="2957025" y="4385100"/>
                </a:cubicBezTo>
                <a:lnTo>
                  <a:pt x="2973119" y="4412648"/>
                </a:lnTo>
                <a:lnTo>
                  <a:pt x="2913734" y="4412648"/>
                </a:lnTo>
                <a:cubicBezTo>
                  <a:pt x="2599952" y="4412648"/>
                  <a:pt x="2132928" y="4412648"/>
                  <a:pt x="1437823" y="4412648"/>
                </a:cubicBezTo>
                <a:cubicBezTo>
                  <a:pt x="1305136" y="4412648"/>
                  <a:pt x="1177025" y="4339712"/>
                  <a:pt x="1112968" y="4221190"/>
                </a:cubicBezTo>
                <a:cubicBezTo>
                  <a:pt x="1112968" y="4221190"/>
                  <a:pt x="1112968" y="4221190"/>
                  <a:pt x="51474" y="2393224"/>
                </a:cubicBezTo>
                <a:cubicBezTo>
                  <a:pt x="-17158" y="2279261"/>
                  <a:pt x="-17158" y="2133388"/>
                  <a:pt x="51474" y="2019425"/>
                </a:cubicBezTo>
                <a:cubicBezTo>
                  <a:pt x="51474" y="2019425"/>
                  <a:pt x="51474" y="2019425"/>
                  <a:pt x="1112968" y="191458"/>
                </a:cubicBezTo>
                <a:cubicBezTo>
                  <a:pt x="1177025" y="72936"/>
                  <a:pt x="1305136" y="0"/>
                  <a:pt x="1437823"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extBox 1">
            <a:extLst>
              <a:ext uri="{FF2B5EF4-FFF2-40B4-BE49-F238E27FC236}">
                <a16:creationId xmlns:a16="http://schemas.microsoft.com/office/drawing/2014/main" id="{5348ABC3-8E8C-4FDD-AA32-797A4908BA56}"/>
              </a:ext>
            </a:extLst>
          </p:cNvPr>
          <p:cNvSpPr txBox="1"/>
          <p:nvPr/>
        </p:nvSpPr>
        <p:spPr>
          <a:xfrm>
            <a:off x="6204097" y="1874520"/>
            <a:ext cx="3447288" cy="1792224"/>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400" b="1" kern="1200" dirty="0">
                <a:solidFill>
                  <a:schemeClr val="bg1"/>
                </a:solidFill>
                <a:latin typeface="+mj-lt"/>
                <a:ea typeface="+mj-ea"/>
                <a:cs typeface="+mj-cs"/>
              </a:rPr>
              <a:t>Modern Buildings</a:t>
            </a:r>
          </a:p>
          <a:p>
            <a:pPr algn="ctr">
              <a:lnSpc>
                <a:spcPct val="90000"/>
              </a:lnSpc>
              <a:spcBef>
                <a:spcPct val="0"/>
              </a:spcBef>
              <a:spcAft>
                <a:spcPts val="600"/>
              </a:spcAft>
            </a:pPr>
            <a:r>
              <a:rPr lang="en-US" sz="3400" b="1" kern="1200" dirty="0">
                <a:solidFill>
                  <a:schemeClr val="bg1"/>
                </a:solidFill>
                <a:latin typeface="+mj-lt"/>
                <a:ea typeface="+mj-ea"/>
                <a:cs typeface="+mj-cs"/>
              </a:rPr>
              <a:t>Face Many Challenges</a:t>
            </a:r>
          </a:p>
        </p:txBody>
      </p:sp>
      <p:sp>
        <p:nvSpPr>
          <p:cNvPr id="78" name="Freeform: Shape 77">
            <a:extLst>
              <a:ext uri="{FF2B5EF4-FFF2-40B4-BE49-F238E27FC236}">
                <a16:creationId xmlns:a16="http://schemas.microsoft.com/office/drawing/2014/main" id="{25E816B0-A826-4F6C-B444-91E42AB2A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08131" y="1127731"/>
            <a:ext cx="2143461" cy="1877400"/>
          </a:xfrm>
          <a:custGeom>
            <a:avLst/>
            <a:gdLst>
              <a:gd name="connsiteX0" fmla="*/ 853538 w 2991693"/>
              <a:gd name="connsiteY0" fmla="*/ 0 h 2651787"/>
              <a:gd name="connsiteX1" fmla="*/ 2141030 w 2991693"/>
              <a:gd name="connsiteY1" fmla="*/ 0 h 2651787"/>
              <a:gd name="connsiteX2" fmla="*/ 2324957 w 2991693"/>
              <a:gd name="connsiteY2" fmla="*/ 103466 h 2651787"/>
              <a:gd name="connsiteX3" fmla="*/ 2968702 w 2991693"/>
              <a:gd name="connsiteY3" fmla="*/ 1218596 h 2651787"/>
              <a:gd name="connsiteX4" fmla="*/ 2968702 w 2991693"/>
              <a:gd name="connsiteY4" fmla="*/ 1433192 h 2651787"/>
              <a:gd name="connsiteX5" fmla="*/ 2324957 w 2991693"/>
              <a:gd name="connsiteY5" fmla="*/ 2548321 h 2651787"/>
              <a:gd name="connsiteX6" fmla="*/ 2141030 w 2991693"/>
              <a:gd name="connsiteY6" fmla="*/ 2651787 h 2651787"/>
              <a:gd name="connsiteX7" fmla="*/ 853538 w 2991693"/>
              <a:gd name="connsiteY7" fmla="*/ 2651787 h 2651787"/>
              <a:gd name="connsiteX8" fmla="*/ 669612 w 2991693"/>
              <a:gd name="connsiteY8" fmla="*/ 2548321 h 2651787"/>
              <a:gd name="connsiteX9" fmla="*/ 25866 w 2991693"/>
              <a:gd name="connsiteY9" fmla="*/ 1433192 h 2651787"/>
              <a:gd name="connsiteX10" fmla="*/ 25866 w 2991693"/>
              <a:gd name="connsiteY10" fmla="*/ 1218596 h 2651787"/>
              <a:gd name="connsiteX11" fmla="*/ 669612 w 2991693"/>
              <a:gd name="connsiteY11" fmla="*/ 103466 h 2651787"/>
              <a:gd name="connsiteX12" fmla="*/ 853538 w 2991693"/>
              <a:gd name="connsiteY12" fmla="*/ 0 h 2651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91693" h="2651787">
                <a:moveTo>
                  <a:pt x="853538" y="0"/>
                </a:moveTo>
                <a:cubicBezTo>
                  <a:pt x="2141030" y="0"/>
                  <a:pt x="2141030" y="0"/>
                  <a:pt x="2141030" y="0"/>
                </a:cubicBezTo>
                <a:cubicBezTo>
                  <a:pt x="2206170" y="0"/>
                  <a:pt x="2290471" y="45985"/>
                  <a:pt x="2324957" y="103466"/>
                </a:cubicBezTo>
                <a:cubicBezTo>
                  <a:pt x="2968702" y="1218596"/>
                  <a:pt x="2968702" y="1218596"/>
                  <a:pt x="2968702" y="1218596"/>
                </a:cubicBezTo>
                <a:cubicBezTo>
                  <a:pt x="2999357" y="1279909"/>
                  <a:pt x="2999357" y="1371878"/>
                  <a:pt x="2968702" y="1433192"/>
                </a:cubicBezTo>
                <a:cubicBezTo>
                  <a:pt x="2324957" y="2548321"/>
                  <a:pt x="2324957" y="2548321"/>
                  <a:pt x="2324957" y="2548321"/>
                </a:cubicBezTo>
                <a:cubicBezTo>
                  <a:pt x="2290471" y="2605803"/>
                  <a:pt x="2206170" y="2651787"/>
                  <a:pt x="2141030" y="2651787"/>
                </a:cubicBezTo>
                <a:lnTo>
                  <a:pt x="853538" y="2651787"/>
                </a:lnTo>
                <a:cubicBezTo>
                  <a:pt x="784566" y="2651787"/>
                  <a:pt x="700266" y="2605803"/>
                  <a:pt x="669612" y="2548321"/>
                </a:cubicBezTo>
                <a:cubicBezTo>
                  <a:pt x="25866" y="1433192"/>
                  <a:pt x="25866" y="1433192"/>
                  <a:pt x="25866" y="1433192"/>
                </a:cubicBezTo>
                <a:cubicBezTo>
                  <a:pt x="-8621" y="1371878"/>
                  <a:pt x="-8621" y="1279909"/>
                  <a:pt x="25866" y="1218596"/>
                </a:cubicBezTo>
                <a:cubicBezTo>
                  <a:pt x="669612" y="103466"/>
                  <a:pt x="669612" y="103466"/>
                  <a:pt x="669612" y="103466"/>
                </a:cubicBezTo>
                <a:cubicBezTo>
                  <a:pt x="700266" y="45985"/>
                  <a:pt x="784566" y="0"/>
                  <a:pt x="853538" y="0"/>
                </a:cubicBezTo>
                <a:close/>
              </a:path>
            </a:pathLst>
          </a:custGeom>
          <a:solidFill>
            <a:srgbClr val="FFFFFF"/>
          </a:solidFill>
          <a:ln w="508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7" name="Picture 3">
            <a:extLst>
              <a:ext uri="{FF2B5EF4-FFF2-40B4-BE49-F238E27FC236}">
                <a16:creationId xmlns:a16="http://schemas.microsoft.com/office/drawing/2014/main" id="{695A43E0-6D70-DC4D-B04B-E0C23115E0B3}"/>
              </a:ext>
            </a:extLst>
          </p:cNvPr>
          <p:cNvPicPr>
            <a:picLocks noChangeAspect="1" noChangeArrowheads="1"/>
          </p:cNvPicPr>
          <p:nvPr/>
        </p:nvPicPr>
        <p:blipFill rotWithShape="1">
          <a:blip r:embed="rId4">
            <a:extLst>
              <a:ext uri="{28A0092B-C50C-407E-A947-70E740481C1C}">
                <a14:useLocalDpi xmlns:a14="http://schemas.microsoft.com/office/drawing/2010/main"/>
              </a:ext>
            </a:extLst>
          </a:blip>
          <a:srcRect r="29091" b="-3"/>
          <a:stretch/>
        </p:blipFill>
        <p:spPr bwMode="auto">
          <a:xfrm>
            <a:off x="9905083" y="1212647"/>
            <a:ext cx="1949559" cy="1707568"/>
          </a:xfrm>
          <a:custGeom>
            <a:avLst/>
            <a:gdLst/>
            <a:ahLst/>
            <a:cxnLst/>
            <a:rect l="l" t="t" r="r" b="b"/>
            <a:pathLst>
              <a:path w="1949559" h="1707568">
                <a:moveTo>
                  <a:pt x="556214" y="0"/>
                </a:moveTo>
                <a:cubicBezTo>
                  <a:pt x="1395218" y="0"/>
                  <a:pt x="1395218" y="0"/>
                  <a:pt x="1395218" y="0"/>
                </a:cubicBezTo>
                <a:cubicBezTo>
                  <a:pt x="1437667" y="0"/>
                  <a:pt x="1492603" y="29611"/>
                  <a:pt x="1515075" y="66625"/>
                </a:cubicBezTo>
                <a:cubicBezTo>
                  <a:pt x="1934577" y="784692"/>
                  <a:pt x="1934577" y="784692"/>
                  <a:pt x="1934577" y="784692"/>
                </a:cubicBezTo>
                <a:cubicBezTo>
                  <a:pt x="1954553" y="824174"/>
                  <a:pt x="1954553" y="883396"/>
                  <a:pt x="1934577" y="922877"/>
                </a:cubicBezTo>
                <a:cubicBezTo>
                  <a:pt x="1515075" y="1640944"/>
                  <a:pt x="1515075" y="1640944"/>
                  <a:pt x="1515075" y="1640944"/>
                </a:cubicBezTo>
                <a:cubicBezTo>
                  <a:pt x="1492603" y="1677958"/>
                  <a:pt x="1437667" y="1707568"/>
                  <a:pt x="1395218" y="1707568"/>
                </a:cubicBezTo>
                <a:lnTo>
                  <a:pt x="556214" y="1707568"/>
                </a:lnTo>
                <a:cubicBezTo>
                  <a:pt x="511268" y="1707568"/>
                  <a:pt x="456334" y="1677958"/>
                  <a:pt x="436357" y="1640944"/>
                </a:cubicBezTo>
                <a:cubicBezTo>
                  <a:pt x="16856" y="922877"/>
                  <a:pt x="16856" y="922877"/>
                  <a:pt x="16856" y="922877"/>
                </a:cubicBezTo>
                <a:cubicBezTo>
                  <a:pt x="-5618" y="883396"/>
                  <a:pt x="-5618" y="824174"/>
                  <a:pt x="16856" y="784692"/>
                </a:cubicBezTo>
                <a:cubicBezTo>
                  <a:pt x="436357" y="66625"/>
                  <a:pt x="436357" y="66625"/>
                  <a:pt x="436357" y="66625"/>
                </a:cubicBezTo>
                <a:cubicBezTo>
                  <a:pt x="456334" y="29611"/>
                  <a:pt x="511268" y="0"/>
                  <a:pt x="556214" y="0"/>
                </a:cubicBezTo>
                <a:close/>
              </a:path>
            </a:pathLst>
          </a:custGeom>
          <a:noFill/>
          <a:extLst>
            <a:ext uri="{909E8E84-426E-40DD-AFC4-6F175D3DCCD1}">
              <a14:hiddenFill xmlns:a14="http://schemas.microsoft.com/office/drawing/2010/main">
                <a:solidFill>
                  <a:srgbClr val="FFFFFF"/>
                </a:solidFill>
              </a14:hiddenFill>
            </a:ext>
          </a:extLst>
        </p:spPr>
      </p:pic>
      <p:sp>
        <p:nvSpPr>
          <p:cNvPr id="80" name="Freeform: Shape 79">
            <a:extLst>
              <a:ext uri="{FF2B5EF4-FFF2-40B4-BE49-F238E27FC236}">
                <a16:creationId xmlns:a16="http://schemas.microsoft.com/office/drawing/2014/main" id="{89E7A3B0-8177-473E-B1D0-59D0661DCB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2706" y="4146804"/>
            <a:ext cx="2527006" cy="2213337"/>
          </a:xfrm>
          <a:custGeom>
            <a:avLst/>
            <a:gdLst>
              <a:gd name="connsiteX0" fmla="*/ 853538 w 2991693"/>
              <a:gd name="connsiteY0" fmla="*/ 0 h 2651787"/>
              <a:gd name="connsiteX1" fmla="*/ 2141030 w 2991693"/>
              <a:gd name="connsiteY1" fmla="*/ 0 h 2651787"/>
              <a:gd name="connsiteX2" fmla="*/ 2324957 w 2991693"/>
              <a:gd name="connsiteY2" fmla="*/ 103466 h 2651787"/>
              <a:gd name="connsiteX3" fmla="*/ 2968702 w 2991693"/>
              <a:gd name="connsiteY3" fmla="*/ 1218596 h 2651787"/>
              <a:gd name="connsiteX4" fmla="*/ 2968702 w 2991693"/>
              <a:gd name="connsiteY4" fmla="*/ 1433192 h 2651787"/>
              <a:gd name="connsiteX5" fmla="*/ 2324957 w 2991693"/>
              <a:gd name="connsiteY5" fmla="*/ 2548321 h 2651787"/>
              <a:gd name="connsiteX6" fmla="*/ 2141030 w 2991693"/>
              <a:gd name="connsiteY6" fmla="*/ 2651787 h 2651787"/>
              <a:gd name="connsiteX7" fmla="*/ 853538 w 2991693"/>
              <a:gd name="connsiteY7" fmla="*/ 2651787 h 2651787"/>
              <a:gd name="connsiteX8" fmla="*/ 669612 w 2991693"/>
              <a:gd name="connsiteY8" fmla="*/ 2548321 h 2651787"/>
              <a:gd name="connsiteX9" fmla="*/ 25866 w 2991693"/>
              <a:gd name="connsiteY9" fmla="*/ 1433192 h 2651787"/>
              <a:gd name="connsiteX10" fmla="*/ 25866 w 2991693"/>
              <a:gd name="connsiteY10" fmla="*/ 1218596 h 2651787"/>
              <a:gd name="connsiteX11" fmla="*/ 669612 w 2991693"/>
              <a:gd name="connsiteY11" fmla="*/ 103466 h 2651787"/>
              <a:gd name="connsiteX12" fmla="*/ 853538 w 2991693"/>
              <a:gd name="connsiteY12" fmla="*/ 0 h 2651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91693" h="2651787">
                <a:moveTo>
                  <a:pt x="853538" y="0"/>
                </a:moveTo>
                <a:cubicBezTo>
                  <a:pt x="2141030" y="0"/>
                  <a:pt x="2141030" y="0"/>
                  <a:pt x="2141030" y="0"/>
                </a:cubicBezTo>
                <a:cubicBezTo>
                  <a:pt x="2206170" y="0"/>
                  <a:pt x="2290471" y="45985"/>
                  <a:pt x="2324957" y="103466"/>
                </a:cubicBezTo>
                <a:cubicBezTo>
                  <a:pt x="2968702" y="1218596"/>
                  <a:pt x="2968702" y="1218596"/>
                  <a:pt x="2968702" y="1218596"/>
                </a:cubicBezTo>
                <a:cubicBezTo>
                  <a:pt x="2999357" y="1279909"/>
                  <a:pt x="2999357" y="1371878"/>
                  <a:pt x="2968702" y="1433192"/>
                </a:cubicBezTo>
                <a:cubicBezTo>
                  <a:pt x="2324957" y="2548321"/>
                  <a:pt x="2324957" y="2548321"/>
                  <a:pt x="2324957" y="2548321"/>
                </a:cubicBezTo>
                <a:cubicBezTo>
                  <a:pt x="2290471" y="2605803"/>
                  <a:pt x="2206170" y="2651787"/>
                  <a:pt x="2141030" y="2651787"/>
                </a:cubicBezTo>
                <a:lnTo>
                  <a:pt x="853538" y="2651787"/>
                </a:lnTo>
                <a:cubicBezTo>
                  <a:pt x="784566" y="2651787"/>
                  <a:pt x="700266" y="2605803"/>
                  <a:pt x="669612" y="2548321"/>
                </a:cubicBezTo>
                <a:cubicBezTo>
                  <a:pt x="25866" y="1433192"/>
                  <a:pt x="25866" y="1433192"/>
                  <a:pt x="25866" y="1433192"/>
                </a:cubicBezTo>
                <a:cubicBezTo>
                  <a:pt x="-8621" y="1371878"/>
                  <a:pt x="-8621" y="1279909"/>
                  <a:pt x="25866" y="1218596"/>
                </a:cubicBezTo>
                <a:cubicBezTo>
                  <a:pt x="669612" y="103466"/>
                  <a:pt x="669612" y="103466"/>
                  <a:pt x="669612" y="103466"/>
                </a:cubicBezTo>
                <a:cubicBezTo>
                  <a:pt x="700266" y="45985"/>
                  <a:pt x="784566" y="0"/>
                  <a:pt x="853538" y="0"/>
                </a:cubicBezTo>
                <a:close/>
              </a:path>
            </a:pathLst>
          </a:custGeom>
          <a:solidFill>
            <a:srgbClr val="FFFFFF"/>
          </a:solidFill>
          <a:ln w="508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9" name="Picture 5">
            <a:extLst>
              <a:ext uri="{FF2B5EF4-FFF2-40B4-BE49-F238E27FC236}">
                <a16:creationId xmlns:a16="http://schemas.microsoft.com/office/drawing/2014/main" id="{F05CB951-D72E-2E4B-ADBA-DCE50F027083}"/>
              </a:ext>
            </a:extLst>
          </p:cNvPr>
          <p:cNvPicPr>
            <a:picLocks noChangeAspect="1" noChangeArrowheads="1"/>
          </p:cNvPicPr>
          <p:nvPr/>
        </p:nvPicPr>
        <p:blipFill rotWithShape="1">
          <a:blip r:embed="rId5">
            <a:extLst>
              <a:ext uri="{28A0092B-C50C-407E-A947-70E740481C1C}">
                <a14:useLocalDpi xmlns:a14="http://schemas.microsoft.com/office/drawing/2010/main"/>
              </a:ext>
            </a:extLst>
          </a:blip>
          <a:srcRect l="16734" r="16243" b="-1"/>
          <a:stretch/>
        </p:blipFill>
        <p:spPr bwMode="auto">
          <a:xfrm>
            <a:off x="8237005" y="4246417"/>
            <a:ext cx="2298408" cy="2013116"/>
          </a:xfrm>
          <a:custGeom>
            <a:avLst/>
            <a:gdLst/>
            <a:ahLst/>
            <a:cxnLst/>
            <a:rect l="l" t="t" r="r" b="b"/>
            <a:pathLst>
              <a:path w="2298408" h="2013116">
                <a:moveTo>
                  <a:pt x="655742" y="0"/>
                </a:moveTo>
                <a:cubicBezTo>
                  <a:pt x="1644875" y="0"/>
                  <a:pt x="1644875" y="0"/>
                  <a:pt x="1644875" y="0"/>
                </a:cubicBezTo>
                <a:cubicBezTo>
                  <a:pt x="1694920" y="0"/>
                  <a:pt x="1759685" y="34910"/>
                  <a:pt x="1786179" y="78547"/>
                </a:cubicBezTo>
                <a:cubicBezTo>
                  <a:pt x="2280745" y="925103"/>
                  <a:pt x="2280745" y="925103"/>
                  <a:pt x="2280745" y="925103"/>
                </a:cubicBezTo>
                <a:cubicBezTo>
                  <a:pt x="2304296" y="971649"/>
                  <a:pt x="2304296" y="1041468"/>
                  <a:pt x="2280745" y="1088014"/>
                </a:cubicBezTo>
                <a:cubicBezTo>
                  <a:pt x="1786179" y="1934570"/>
                  <a:pt x="1786179" y="1934570"/>
                  <a:pt x="1786179" y="1934570"/>
                </a:cubicBezTo>
                <a:cubicBezTo>
                  <a:pt x="1759685" y="1978207"/>
                  <a:pt x="1694920" y="2013116"/>
                  <a:pt x="1644875" y="2013116"/>
                </a:cubicBezTo>
                <a:lnTo>
                  <a:pt x="655742" y="2013116"/>
                </a:lnTo>
                <a:cubicBezTo>
                  <a:pt x="602753" y="2013116"/>
                  <a:pt x="537989" y="1978207"/>
                  <a:pt x="514438" y="1934570"/>
                </a:cubicBezTo>
                <a:cubicBezTo>
                  <a:pt x="19872" y="1088014"/>
                  <a:pt x="19872" y="1088014"/>
                  <a:pt x="19872" y="1088014"/>
                </a:cubicBezTo>
                <a:cubicBezTo>
                  <a:pt x="-6623" y="1041468"/>
                  <a:pt x="-6623" y="971649"/>
                  <a:pt x="19872" y="925103"/>
                </a:cubicBezTo>
                <a:cubicBezTo>
                  <a:pt x="514438" y="78547"/>
                  <a:pt x="514438" y="78547"/>
                  <a:pt x="514438" y="78547"/>
                </a:cubicBezTo>
                <a:cubicBezTo>
                  <a:pt x="537989" y="34910"/>
                  <a:pt x="602753" y="0"/>
                  <a:pt x="655742" y="0"/>
                </a:cubicBezTo>
                <a:close/>
              </a:path>
            </a:pathLst>
          </a:cu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4FF3C7AF-9892-2C48-9353-A65E0CD34D60}"/>
              </a:ext>
            </a:extLst>
          </p:cNvPr>
          <p:cNvSpPr>
            <a:spLocks noGrp="1"/>
          </p:cNvSpPr>
          <p:nvPr>
            <p:ph type="sldNum" sz="quarter" idx="4"/>
          </p:nvPr>
        </p:nvSpPr>
        <p:spPr>
          <a:xfrm>
            <a:off x="11146536" y="6035040"/>
            <a:ext cx="548640" cy="548640"/>
          </a:xfrm>
          <a:prstGeom prst="ellipse">
            <a:avLst/>
          </a:prstGeom>
          <a:solidFill>
            <a:schemeClr val="tx1">
              <a:alpha val="80000"/>
            </a:schemeClr>
          </a:solidFill>
        </p:spPr>
        <p:txBody>
          <a:bodyPr vert="horz" lIns="91440" tIns="45720" rIns="91440" bIns="45720" rtlCol="0" anchor="ctr">
            <a:normAutofit/>
          </a:bodyPr>
          <a:lstStyle/>
          <a:p>
            <a:pPr algn="ctr">
              <a:spcAft>
                <a:spcPts val="600"/>
              </a:spcAft>
            </a:pPr>
            <a:fld id="{9312FC69-CE3E-4598-98C1-B119891192DE}" type="slidenum">
              <a:rPr lang="en-US" sz="1200"/>
              <a:pPr algn="ctr">
                <a:spcAft>
                  <a:spcPts val="600"/>
                </a:spcAft>
              </a:pPr>
              <a:t>1</a:t>
            </a:fld>
            <a:endParaRPr lang="en-US" sz="1200"/>
          </a:p>
        </p:txBody>
      </p:sp>
      <p:sp>
        <p:nvSpPr>
          <p:cNvPr id="6" name="TextBox 5">
            <a:extLst>
              <a:ext uri="{FF2B5EF4-FFF2-40B4-BE49-F238E27FC236}">
                <a16:creationId xmlns:a16="http://schemas.microsoft.com/office/drawing/2014/main" id="{48B38AC8-6A13-48D8-A3E9-1B663F3239DA}"/>
              </a:ext>
            </a:extLst>
          </p:cNvPr>
          <p:cNvSpPr txBox="1"/>
          <p:nvPr/>
        </p:nvSpPr>
        <p:spPr>
          <a:xfrm>
            <a:off x="651023" y="3123032"/>
            <a:ext cx="5152923" cy="2246769"/>
          </a:xfrm>
          <a:prstGeom prst="rect">
            <a:avLst/>
          </a:prstGeom>
          <a:noFill/>
        </p:spPr>
        <p:txBody>
          <a:bodyPr wrap="square" rtlCol="1">
            <a:spAutoFit/>
          </a:bodyPr>
          <a:lstStyle/>
          <a:p>
            <a:pPr marL="228594" indent="-228594">
              <a:spcAft>
                <a:spcPts val="600"/>
              </a:spcAft>
              <a:buFont typeface="+mj-lt"/>
              <a:buAutoNum type="arabicPeriod"/>
            </a:pPr>
            <a:r>
              <a:rPr lang="en-CA" sz="2400" dirty="0">
                <a:solidFill>
                  <a:schemeClr val="bg1"/>
                </a:solidFill>
                <a:latin typeface="Cantarell bold" panose="02000803000000000000" pitchFamily="2" charset="0"/>
              </a:rPr>
              <a:t>Climate Change</a:t>
            </a:r>
          </a:p>
          <a:p>
            <a:pPr marL="228594" indent="-228594">
              <a:spcAft>
                <a:spcPts val="600"/>
              </a:spcAft>
              <a:buFont typeface="+mj-lt"/>
              <a:buAutoNum type="arabicPeriod"/>
            </a:pPr>
            <a:r>
              <a:rPr lang="en-CA" sz="2400" dirty="0">
                <a:solidFill>
                  <a:schemeClr val="bg1"/>
                </a:solidFill>
                <a:latin typeface="Cantarell bold" panose="02000803000000000000" pitchFamily="2" charset="0"/>
              </a:rPr>
              <a:t>Urban Pollution</a:t>
            </a:r>
          </a:p>
          <a:p>
            <a:pPr marL="228594" indent="-228594">
              <a:spcAft>
                <a:spcPts val="600"/>
              </a:spcAft>
              <a:buFont typeface="+mj-lt"/>
              <a:buAutoNum type="arabicPeriod"/>
            </a:pPr>
            <a:r>
              <a:rPr lang="en-CA" sz="2400" dirty="0">
                <a:solidFill>
                  <a:schemeClr val="bg1"/>
                </a:solidFill>
                <a:latin typeface="Cantarell bold" panose="02000803000000000000" pitchFamily="2" charset="0"/>
              </a:rPr>
              <a:t>Indoor Contaminants</a:t>
            </a:r>
          </a:p>
          <a:p>
            <a:pPr marL="228594" indent="-228594">
              <a:spcAft>
                <a:spcPts val="600"/>
              </a:spcAft>
              <a:buFont typeface="+mj-lt"/>
              <a:buAutoNum type="arabicPeriod"/>
            </a:pPr>
            <a:r>
              <a:rPr lang="en-CA" sz="2400" dirty="0">
                <a:solidFill>
                  <a:schemeClr val="bg1"/>
                </a:solidFill>
                <a:latin typeface="Cantarell bold" panose="02000803000000000000" pitchFamily="2" charset="0"/>
              </a:rPr>
              <a:t>Rising Energy Costs</a:t>
            </a:r>
          </a:p>
          <a:p>
            <a:pPr marL="228594" indent="-228594">
              <a:spcAft>
                <a:spcPts val="600"/>
              </a:spcAft>
              <a:buFont typeface="+mj-lt"/>
              <a:buAutoNum type="arabicPeriod"/>
            </a:pPr>
            <a:r>
              <a:rPr lang="en-CA" sz="2400" dirty="0">
                <a:solidFill>
                  <a:schemeClr val="bg1"/>
                </a:solidFill>
                <a:latin typeface="Cantarell bold" panose="02000803000000000000" pitchFamily="2" charset="0"/>
              </a:rPr>
              <a:t>Increasing Technological Complexity</a:t>
            </a:r>
          </a:p>
        </p:txBody>
      </p:sp>
    </p:spTree>
    <p:extLst>
      <p:ext uri="{BB962C8B-B14F-4D97-AF65-F5344CB8AC3E}">
        <p14:creationId xmlns:p14="http://schemas.microsoft.com/office/powerpoint/2010/main" val="[redacted]"/>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4"/>
          <p:cNvSpPr txBox="1">
            <a:spLocks noGrp="1"/>
          </p:cNvSpPr>
          <p:nvPr>
            <p:ph type="title"/>
          </p:nvPr>
        </p:nvSpPr>
        <p:spPr>
          <a:prstGeom prst="rect">
            <a:avLst/>
          </a:prstGeom>
        </p:spPr>
        <p:txBody>
          <a:bodyPr spcFirstLastPara="1" vert="horz" wrap="square" lIns="121900" tIns="121900" rIns="121900" bIns="121900" rtlCol="0" anchor="ctr" anchorCtr="0">
            <a:noAutofit/>
          </a:bodyPr>
          <a:lstStyle/>
          <a:p>
            <a:r>
              <a:rPr lang="en-CA" b="1" dirty="0">
                <a:solidFill>
                  <a:schemeClr val="bg1"/>
                </a:solidFill>
              </a:rPr>
              <a:t>New building type with few existing solutions</a:t>
            </a:r>
            <a:endParaRPr lang="en-CA" b="1" dirty="0">
              <a:solidFill>
                <a:schemeClr val="bg2"/>
              </a:solidFill>
            </a:endParaRPr>
          </a:p>
        </p:txBody>
      </p:sp>
      <p:sp>
        <p:nvSpPr>
          <p:cNvPr id="7" name="Text Placeholder 6">
            <a:extLst>
              <a:ext uri="{FF2B5EF4-FFF2-40B4-BE49-F238E27FC236}">
                <a16:creationId xmlns:a16="http://schemas.microsoft.com/office/drawing/2014/main" id="{2B867198-4AC4-FA4C-9AC6-674B4942416C}"/>
              </a:ext>
            </a:extLst>
          </p:cNvPr>
          <p:cNvSpPr>
            <a:spLocks noGrp="1"/>
          </p:cNvSpPr>
          <p:nvPr>
            <p:ph type="body" idx="1"/>
          </p:nvPr>
        </p:nvSpPr>
        <p:spPr>
          <a:xfrm>
            <a:off x="257104" y="1944375"/>
            <a:ext cx="6143696" cy="3657600"/>
          </a:xfrm>
        </p:spPr>
        <p:txBody>
          <a:bodyPr/>
          <a:lstStyle/>
          <a:p>
            <a:pPr marL="615946" indent="-514350">
              <a:buSzPts val="2400"/>
              <a:buFont typeface="+mj-lt"/>
              <a:buAutoNum type="arabicPeriod"/>
            </a:pPr>
            <a:r>
              <a:rPr lang="en-CA" dirty="0">
                <a:solidFill>
                  <a:schemeClr val="bg1"/>
                </a:solidFill>
              </a:rPr>
              <a:t>Indoor farming is a rapidly growing industry with 24% CAGR*.</a:t>
            </a:r>
            <a:br>
              <a:rPr lang="en-CA" dirty="0">
                <a:solidFill>
                  <a:schemeClr val="bg1"/>
                </a:solidFill>
              </a:rPr>
            </a:br>
            <a:endParaRPr lang="en-CA" dirty="0">
              <a:solidFill>
                <a:schemeClr val="bg1"/>
              </a:solidFill>
            </a:endParaRPr>
          </a:p>
          <a:p>
            <a:pPr indent="-507974">
              <a:buSzPts val="2400"/>
              <a:buAutoNum type="arabicPeriod"/>
            </a:pPr>
            <a:r>
              <a:rPr lang="en-CA" dirty="0">
                <a:solidFill>
                  <a:schemeClr val="bg1"/>
                </a:solidFill>
              </a:rPr>
              <a:t>Asia-Pacific is a global leader in indoor farming with a market value of &gt;$350M.</a:t>
            </a:r>
          </a:p>
          <a:p>
            <a:pPr marL="1123907" indent="-514338">
              <a:buFont typeface="+mj-lt"/>
              <a:buAutoNum type="arabicPeriod"/>
            </a:pPr>
            <a:endParaRPr lang="en-CA" dirty="0">
              <a:solidFill>
                <a:schemeClr val="bg2"/>
              </a:solidFill>
            </a:endParaRPr>
          </a:p>
          <a:p>
            <a:pPr indent="-507974">
              <a:buSzPts val="2400"/>
              <a:buAutoNum type="arabicPeriod"/>
            </a:pPr>
            <a:r>
              <a:rPr lang="en-CA" dirty="0">
                <a:solidFill>
                  <a:schemeClr val="bg2"/>
                </a:solidFill>
              </a:rPr>
              <a:t>Clear need from several farm operators in Singapore.</a:t>
            </a:r>
            <a:endParaRPr lang="en-US" dirty="0"/>
          </a:p>
        </p:txBody>
      </p:sp>
      <p:sp>
        <p:nvSpPr>
          <p:cNvPr id="4" name="Slide Number Placeholder 4">
            <a:extLst>
              <a:ext uri="{FF2B5EF4-FFF2-40B4-BE49-F238E27FC236}">
                <a16:creationId xmlns:a16="http://schemas.microsoft.com/office/drawing/2014/main" id="{F6FAF644-EC05-FE4D-ACA6-4701F3418458}"/>
              </a:ext>
            </a:extLst>
          </p:cNvPr>
          <p:cNvSpPr>
            <a:spLocks noGrp="1"/>
          </p:cNvSpPr>
          <p:nvPr>
            <p:ph type="sldNum" sz="quarter" idx="4"/>
          </p:nvPr>
        </p:nvSpPr>
        <p:spPr/>
        <p:txBody>
          <a:bodyPr/>
          <a:lstStyle/>
          <a:p>
            <a:fld id="{9312FC69-CE3E-4598-98C1-B119891192DE}" type="slidenum">
              <a:rPr lang="ar-LY" smtClean="0"/>
              <a:t>2</a:t>
            </a:fld>
            <a:endParaRPr lang="ar-LY" dirty="0"/>
          </a:p>
        </p:txBody>
      </p:sp>
      <p:sp>
        <p:nvSpPr>
          <p:cNvPr id="3" name="Google Shape;145;p21">
            <a:extLst>
              <a:ext uri="{FF2B5EF4-FFF2-40B4-BE49-F238E27FC236}">
                <a16:creationId xmlns:a16="http://schemas.microsoft.com/office/drawing/2014/main" id="{96C91798-36A7-A745-AFAE-0D471968FB21}"/>
              </a:ext>
            </a:extLst>
          </p:cNvPr>
          <p:cNvSpPr txBox="1"/>
          <p:nvPr/>
        </p:nvSpPr>
        <p:spPr>
          <a:xfrm>
            <a:off x="668740" y="6121785"/>
            <a:ext cx="3412800" cy="435200"/>
          </a:xfrm>
          <a:prstGeom prst="rect">
            <a:avLst/>
          </a:prstGeom>
          <a:noFill/>
          <a:ln>
            <a:noFill/>
          </a:ln>
        </p:spPr>
        <p:txBody>
          <a:bodyPr spcFirstLastPara="1" wrap="square" lIns="121900" tIns="121900" rIns="121900" bIns="121900" anchor="ctr" anchorCtr="0">
            <a:noAutofit/>
          </a:bodyPr>
          <a:lstStyle/>
          <a:p>
            <a:r>
              <a:rPr lang="en-GB" dirty="0">
                <a:solidFill>
                  <a:schemeClr val="bg1"/>
                </a:solidFill>
                <a:latin typeface="Source Sans Pro"/>
                <a:ea typeface="Source Sans Pro"/>
                <a:cs typeface="Source Sans Pro"/>
                <a:sym typeface="Source Sans Pro"/>
              </a:rPr>
              <a:t>*Source: Statista</a:t>
            </a:r>
          </a:p>
        </p:txBody>
      </p:sp>
      <p:pic>
        <p:nvPicPr>
          <p:cNvPr id="8" name="Picture 4" descr="Association for Vertical Farming to Reveal Sustainability Certification  Scheme at Summit - AgFunderNews">
            <a:extLst>
              <a:ext uri="{FF2B5EF4-FFF2-40B4-BE49-F238E27FC236}">
                <a16:creationId xmlns:a16="http://schemas.microsoft.com/office/drawing/2014/main" id="{E20F569A-6E25-D440-A2CB-AA3256C5A0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9343" y="1944375"/>
            <a:ext cx="5485553"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redacted]"/>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EC52A0-B39B-CD41-8A84-7440DE4707A2}"/>
              </a:ext>
            </a:extLst>
          </p:cNvPr>
          <p:cNvSpPr>
            <a:spLocks noGrp="1"/>
          </p:cNvSpPr>
          <p:nvPr>
            <p:ph type="title"/>
          </p:nvPr>
        </p:nvSpPr>
        <p:spPr/>
        <p:txBody>
          <a:bodyPr/>
          <a:lstStyle/>
          <a:p>
            <a:pPr algn="ctr"/>
            <a:r>
              <a:rPr lang="en-US" dirty="0"/>
              <a:t>The Urban Farmer’s Dilemma</a:t>
            </a:r>
          </a:p>
        </p:txBody>
      </p:sp>
      <p:sp>
        <p:nvSpPr>
          <p:cNvPr id="2" name="Slide Number Placeholder 1">
            <a:extLst>
              <a:ext uri="{FF2B5EF4-FFF2-40B4-BE49-F238E27FC236}">
                <a16:creationId xmlns:a16="http://schemas.microsoft.com/office/drawing/2014/main" id="{EE393505-CDE9-DC4C-97B1-4573CEF7E796}"/>
              </a:ext>
            </a:extLst>
          </p:cNvPr>
          <p:cNvSpPr>
            <a:spLocks noGrp="1"/>
          </p:cNvSpPr>
          <p:nvPr>
            <p:ph type="sldNum" sz="quarter" idx="4"/>
          </p:nvPr>
        </p:nvSpPr>
        <p:spPr/>
        <p:txBody>
          <a:bodyPr/>
          <a:lstStyle/>
          <a:p>
            <a:fld id="{9312FC69-CE3E-4598-98C1-B119891192DE}" type="slidenum">
              <a:rPr lang="ar-LY" smtClean="0"/>
              <a:pPr/>
              <a:t>3</a:t>
            </a:fld>
            <a:endParaRPr lang="ar-LY" b="1" dirty="0"/>
          </a:p>
        </p:txBody>
      </p:sp>
      <p:pic>
        <p:nvPicPr>
          <p:cNvPr id="5" name="Graphic 4" descr="Confused person">
            <a:extLst>
              <a:ext uri="{FF2B5EF4-FFF2-40B4-BE49-F238E27FC236}">
                <a16:creationId xmlns:a16="http://schemas.microsoft.com/office/drawing/2014/main" id="{0254257A-8845-0E42-9651-37F42D1BBD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68532" y="3669873"/>
            <a:ext cx="2454936" cy="2454936"/>
          </a:xfrm>
          <a:prstGeom prst="rect">
            <a:avLst/>
          </a:prstGeom>
        </p:spPr>
      </p:pic>
      <p:sp>
        <p:nvSpPr>
          <p:cNvPr id="14" name="Cloud Callout 13">
            <a:extLst>
              <a:ext uri="{FF2B5EF4-FFF2-40B4-BE49-F238E27FC236}">
                <a16:creationId xmlns:a16="http://schemas.microsoft.com/office/drawing/2014/main" id="{0FBA1071-FD05-C542-9CEB-22C4E71E66FE}"/>
              </a:ext>
            </a:extLst>
          </p:cNvPr>
          <p:cNvSpPr/>
          <p:nvPr/>
        </p:nvSpPr>
        <p:spPr>
          <a:xfrm>
            <a:off x="8135671" y="2207762"/>
            <a:ext cx="3218129" cy="1199278"/>
          </a:xfrm>
          <a:prstGeom prst="cloudCallout">
            <a:avLst>
              <a:gd name="adj1" fmla="val -66085"/>
              <a:gd name="adj2" fmla="val 72384"/>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Building environmental data stored on-site</a:t>
            </a:r>
          </a:p>
        </p:txBody>
      </p:sp>
      <p:sp>
        <p:nvSpPr>
          <p:cNvPr id="15" name="Cloud Callout 14">
            <a:extLst>
              <a:ext uri="{FF2B5EF4-FFF2-40B4-BE49-F238E27FC236}">
                <a16:creationId xmlns:a16="http://schemas.microsoft.com/office/drawing/2014/main" id="{AB285D44-9850-0548-8B10-045650F0BC08}"/>
              </a:ext>
            </a:extLst>
          </p:cNvPr>
          <p:cNvSpPr/>
          <p:nvPr/>
        </p:nvSpPr>
        <p:spPr>
          <a:xfrm>
            <a:off x="387747" y="2553661"/>
            <a:ext cx="3661833" cy="1116212"/>
          </a:xfrm>
          <a:prstGeom prst="cloudCallout">
            <a:avLst>
              <a:gd name="adj1" fmla="val 55990"/>
              <a:gd name="adj2" fmla="val 76620"/>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Need to make complex building optimization trade-offs </a:t>
            </a:r>
          </a:p>
        </p:txBody>
      </p:sp>
      <p:sp>
        <p:nvSpPr>
          <p:cNvPr id="16" name="Cloud Callout 15">
            <a:extLst>
              <a:ext uri="{FF2B5EF4-FFF2-40B4-BE49-F238E27FC236}">
                <a16:creationId xmlns:a16="http://schemas.microsoft.com/office/drawing/2014/main" id="{2E8D30B6-C499-2440-A763-60979156EB24}"/>
              </a:ext>
            </a:extLst>
          </p:cNvPr>
          <p:cNvSpPr/>
          <p:nvPr/>
        </p:nvSpPr>
        <p:spPr>
          <a:xfrm>
            <a:off x="7919771" y="4220479"/>
            <a:ext cx="3434029" cy="1188070"/>
          </a:xfrm>
          <a:prstGeom prst="cloudCallout">
            <a:avLst>
              <a:gd name="adj1" fmla="val -68190"/>
              <a:gd name="adj2" fmla="val -30689"/>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Equipment runs only on pre-determined schedules</a:t>
            </a:r>
          </a:p>
        </p:txBody>
      </p:sp>
      <p:sp>
        <p:nvSpPr>
          <p:cNvPr id="17" name="Cloud Callout 16">
            <a:extLst>
              <a:ext uri="{FF2B5EF4-FFF2-40B4-BE49-F238E27FC236}">
                <a16:creationId xmlns:a16="http://schemas.microsoft.com/office/drawing/2014/main" id="{0B09FD90-7FE9-0B44-B48C-BDE645DDFDCD}"/>
              </a:ext>
            </a:extLst>
          </p:cNvPr>
          <p:cNvSpPr/>
          <p:nvPr/>
        </p:nvSpPr>
        <p:spPr>
          <a:xfrm>
            <a:off x="831451" y="4636287"/>
            <a:ext cx="3218129" cy="1199278"/>
          </a:xfrm>
          <a:prstGeom prst="cloudCallout">
            <a:avLst>
              <a:gd name="adj1" fmla="val 80721"/>
              <a:gd name="adj2" fmla="val -19393"/>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Must manually combine many sensor readings</a:t>
            </a:r>
          </a:p>
        </p:txBody>
      </p:sp>
      <p:sp>
        <p:nvSpPr>
          <p:cNvPr id="18" name="Cloud Callout 17">
            <a:extLst>
              <a:ext uri="{FF2B5EF4-FFF2-40B4-BE49-F238E27FC236}">
                <a16:creationId xmlns:a16="http://schemas.microsoft.com/office/drawing/2014/main" id="{3407B411-3530-DD47-B5F2-A9B7E2FE5F81}"/>
              </a:ext>
            </a:extLst>
          </p:cNvPr>
          <p:cNvSpPr/>
          <p:nvPr/>
        </p:nvSpPr>
        <p:spPr>
          <a:xfrm>
            <a:off x="4372238" y="1608123"/>
            <a:ext cx="3218129" cy="1199278"/>
          </a:xfrm>
          <a:prstGeom prst="cloudCallout">
            <a:avLst>
              <a:gd name="adj1" fmla="val 3372"/>
              <a:gd name="adj2" fmla="val 104859"/>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Can’t input climate preferences into building system</a:t>
            </a:r>
          </a:p>
        </p:txBody>
      </p:sp>
    </p:spTree>
    <p:extLst>
      <p:ext uri="{BB962C8B-B14F-4D97-AF65-F5344CB8AC3E}">
        <p14:creationId xmlns:p14="http://schemas.microsoft.com/office/powerpoint/2010/main" val="[redacted]"/>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16D46A63-4E94-4AE9-9D95-AD4304F2FC10}"/>
              </a:ext>
            </a:extLst>
          </p:cNvPr>
          <p:cNvSpPr/>
          <p:nvPr/>
        </p:nvSpPr>
        <p:spPr>
          <a:xfrm>
            <a:off x="230982" y="364010"/>
            <a:ext cx="11730039" cy="4457700"/>
          </a:xfrm>
          <a:prstGeom prst="roundRect">
            <a:avLst>
              <a:gd name="adj" fmla="val 3782"/>
            </a:avLst>
          </a:prstGeom>
          <a:gradFill flip="none" rotWithShape="1">
            <a:gsLst>
              <a:gs pos="0">
                <a:schemeClr val="accent1">
                  <a:alpha val="70000"/>
                </a:schemeClr>
              </a:gs>
              <a:gs pos="100000">
                <a:schemeClr val="accent4">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nvGrpSpPr>
          <p:cNvPr id="27" name="Group 26">
            <a:extLst>
              <a:ext uri="{FF2B5EF4-FFF2-40B4-BE49-F238E27FC236}">
                <a16:creationId xmlns:a16="http://schemas.microsoft.com/office/drawing/2014/main" id="{11222F9B-7526-42EA-B115-B2ACC83773A1}"/>
              </a:ext>
            </a:extLst>
          </p:cNvPr>
          <p:cNvGrpSpPr/>
          <p:nvPr/>
        </p:nvGrpSpPr>
        <p:grpSpPr>
          <a:xfrm>
            <a:off x="7591721" y="1874408"/>
            <a:ext cx="4153407" cy="2095173"/>
            <a:chOff x="700948" y="1573522"/>
            <a:chExt cx="5074819" cy="2095172"/>
          </a:xfrm>
        </p:grpSpPr>
        <p:sp>
          <p:nvSpPr>
            <p:cNvPr id="32" name="TextBox 31">
              <a:extLst>
                <a:ext uri="{FF2B5EF4-FFF2-40B4-BE49-F238E27FC236}">
                  <a16:creationId xmlns:a16="http://schemas.microsoft.com/office/drawing/2014/main" id="{D459B1F3-1225-49D5-8231-1313FEBB7008}"/>
                </a:ext>
              </a:extLst>
            </p:cNvPr>
            <p:cNvSpPr txBox="1"/>
            <p:nvPr/>
          </p:nvSpPr>
          <p:spPr>
            <a:xfrm>
              <a:off x="700948" y="1573522"/>
              <a:ext cx="5074819" cy="584775"/>
            </a:xfrm>
            <a:prstGeom prst="rect">
              <a:avLst/>
            </a:prstGeom>
            <a:noFill/>
          </p:spPr>
          <p:txBody>
            <a:bodyPr wrap="square" rtlCol="1">
              <a:spAutoFit/>
            </a:bodyPr>
            <a:lstStyle/>
            <a:p>
              <a:r>
                <a:rPr lang="en-US" sz="3200" b="1" dirty="0">
                  <a:solidFill>
                    <a:schemeClr val="bg1"/>
                  </a:solidFill>
                  <a:latin typeface="Cantarell" panose="02000603000000000000" pitchFamily="2" charset="0"/>
                  <a:cs typeface="Poppins Black" panose="00000A00000000000000" pitchFamily="2" charset="0"/>
                </a:rPr>
                <a:t>Ambient Platform</a:t>
              </a:r>
              <a:endParaRPr lang="ar-LY" sz="3200" b="1" dirty="0">
                <a:solidFill>
                  <a:schemeClr val="bg1"/>
                </a:solidFill>
                <a:latin typeface="Cantarell bold" panose="02000803000000000000" pitchFamily="2" charset="0"/>
              </a:endParaRPr>
            </a:p>
          </p:txBody>
        </p:sp>
        <p:sp>
          <p:nvSpPr>
            <p:cNvPr id="33" name="TextBox 32">
              <a:extLst>
                <a:ext uri="{FF2B5EF4-FFF2-40B4-BE49-F238E27FC236}">
                  <a16:creationId xmlns:a16="http://schemas.microsoft.com/office/drawing/2014/main" id="{5979E82E-E95E-4116-B566-4CD31FFF63B4}"/>
                </a:ext>
              </a:extLst>
            </p:cNvPr>
            <p:cNvSpPr txBox="1"/>
            <p:nvPr/>
          </p:nvSpPr>
          <p:spPr>
            <a:xfrm>
              <a:off x="700949" y="2678883"/>
              <a:ext cx="4765840" cy="989811"/>
            </a:xfrm>
            <a:prstGeom prst="rect">
              <a:avLst/>
            </a:prstGeom>
            <a:noFill/>
          </p:spPr>
          <p:txBody>
            <a:bodyPr wrap="square" rtlCol="1">
              <a:spAutoFit/>
            </a:bodyPr>
            <a:lstStyle/>
            <a:p>
              <a:r>
                <a:rPr lang="en-US" sz="1400" dirty="0">
                  <a:solidFill>
                    <a:schemeClr val="bg1"/>
                  </a:solidFill>
                  <a:latin typeface="Cantarell" panose="02000603000000000000" pitchFamily="2" charset="0"/>
                  <a:cs typeface="Poppins Black" panose="00000A00000000000000" pitchFamily="2" charset="0"/>
                </a:rPr>
                <a:t>Comprehensive climate management solution that combines state-of-the-art hardware and web technologies to deliver real-time insights to the farm operator.</a:t>
              </a:r>
              <a:endParaRPr lang="ar-LY" sz="1400" dirty="0">
                <a:solidFill>
                  <a:schemeClr val="bg1"/>
                </a:solidFill>
                <a:latin typeface="Cantarell bold" panose="02000803000000000000" pitchFamily="2" charset="0"/>
              </a:endParaRPr>
            </a:p>
          </p:txBody>
        </p:sp>
      </p:grpSp>
      <p:pic>
        <p:nvPicPr>
          <p:cNvPr id="59" name="Picture 58">
            <a:extLst>
              <a:ext uri="{FF2B5EF4-FFF2-40B4-BE49-F238E27FC236}">
                <a16:creationId xmlns:a16="http://schemas.microsoft.com/office/drawing/2014/main" id="{44557717-AA78-481E-897A-EBD811D4435D}"/>
              </a:ext>
            </a:extLst>
          </p:cNvPr>
          <p:cNvPicPr>
            <a:picLocks noChangeAspect="1"/>
          </p:cNvPicPr>
          <p:nvPr/>
        </p:nvPicPr>
        <p:blipFill>
          <a:blip r:embed="rId3"/>
          <a:srcRect/>
          <a:stretch>
            <a:fillRect/>
          </a:stretch>
        </p:blipFill>
        <p:spPr>
          <a:xfrm>
            <a:off x="615200" y="872151"/>
            <a:ext cx="7192413" cy="4136803"/>
          </a:xfrm>
          <a:custGeom>
            <a:avLst/>
            <a:gdLst>
              <a:gd name="connsiteX0" fmla="*/ 0 w 6217918"/>
              <a:gd name="connsiteY0" fmla="*/ 0 h 3618626"/>
              <a:gd name="connsiteX1" fmla="*/ 6217918 w 6217918"/>
              <a:gd name="connsiteY1" fmla="*/ 0 h 3618626"/>
              <a:gd name="connsiteX2" fmla="*/ 6217918 w 6217918"/>
              <a:gd name="connsiteY2" fmla="*/ 3618626 h 3618626"/>
              <a:gd name="connsiteX3" fmla="*/ 0 w 6217918"/>
              <a:gd name="connsiteY3" fmla="*/ 3618626 h 3618626"/>
              <a:gd name="connsiteX4" fmla="*/ 0 w 6217918"/>
              <a:gd name="connsiteY4" fmla="*/ 0 h 3618626"/>
              <a:gd name="connsiteX5" fmla="*/ 810767 w 6217918"/>
              <a:gd name="connsiteY5" fmla="*/ 259070 h 3618626"/>
              <a:gd name="connsiteX6" fmla="*/ 810767 w 6217918"/>
              <a:gd name="connsiteY6" fmla="*/ 3036261 h 3618626"/>
              <a:gd name="connsiteX7" fmla="*/ 5401055 w 6217918"/>
              <a:gd name="connsiteY7" fmla="*/ 3036261 h 3618626"/>
              <a:gd name="connsiteX8" fmla="*/ 5401055 w 6217918"/>
              <a:gd name="connsiteY8" fmla="*/ 259070 h 3618626"/>
              <a:gd name="connsiteX9" fmla="*/ 810767 w 6217918"/>
              <a:gd name="connsiteY9" fmla="*/ 259070 h 361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17918" h="3618626">
                <a:moveTo>
                  <a:pt x="0" y="0"/>
                </a:moveTo>
                <a:lnTo>
                  <a:pt x="6217918" y="0"/>
                </a:lnTo>
                <a:lnTo>
                  <a:pt x="6217918" y="3618626"/>
                </a:lnTo>
                <a:lnTo>
                  <a:pt x="0" y="3618626"/>
                </a:lnTo>
                <a:lnTo>
                  <a:pt x="0" y="0"/>
                </a:lnTo>
                <a:close/>
                <a:moveTo>
                  <a:pt x="810767" y="259070"/>
                </a:moveTo>
                <a:lnTo>
                  <a:pt x="810767" y="3036261"/>
                </a:lnTo>
                <a:lnTo>
                  <a:pt x="5401055" y="3036261"/>
                </a:lnTo>
                <a:lnTo>
                  <a:pt x="5401055" y="259070"/>
                </a:lnTo>
                <a:lnTo>
                  <a:pt x="810767" y="259070"/>
                </a:lnTo>
                <a:close/>
              </a:path>
            </a:pathLst>
          </a:custGeom>
        </p:spPr>
      </p:pic>
      <p:grpSp>
        <p:nvGrpSpPr>
          <p:cNvPr id="46" name="Group 45">
            <a:extLst>
              <a:ext uri="{FF2B5EF4-FFF2-40B4-BE49-F238E27FC236}">
                <a16:creationId xmlns:a16="http://schemas.microsoft.com/office/drawing/2014/main" id="{A3A9B559-AC8A-4B7C-A91D-E0F7678050B0}"/>
              </a:ext>
            </a:extLst>
          </p:cNvPr>
          <p:cNvGrpSpPr/>
          <p:nvPr/>
        </p:nvGrpSpPr>
        <p:grpSpPr>
          <a:xfrm>
            <a:off x="699754" y="5218165"/>
            <a:ext cx="3406175" cy="1107996"/>
            <a:chOff x="785709" y="5621864"/>
            <a:chExt cx="3406175" cy="1107996"/>
          </a:xfrm>
        </p:grpSpPr>
        <p:sp>
          <p:nvSpPr>
            <p:cNvPr id="63" name="TextBox 62">
              <a:extLst>
                <a:ext uri="{FF2B5EF4-FFF2-40B4-BE49-F238E27FC236}">
                  <a16:creationId xmlns:a16="http://schemas.microsoft.com/office/drawing/2014/main" id="{B689AC35-AF76-46C2-AAF1-1C309FACC2C9}"/>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1">
                      <a:alpha val="88000"/>
                    </a:schemeClr>
                  </a:solidFill>
                </a:rPr>
                <a:t>01</a:t>
              </a:r>
              <a:endParaRPr lang="ar-LY" sz="6600" dirty="0">
                <a:solidFill>
                  <a:schemeClr val="accent1">
                    <a:alpha val="88000"/>
                  </a:schemeClr>
                </a:solidFill>
              </a:endParaRPr>
            </a:p>
          </p:txBody>
        </p:sp>
        <p:grpSp>
          <p:nvGrpSpPr>
            <p:cNvPr id="45" name="Group 44">
              <a:extLst>
                <a:ext uri="{FF2B5EF4-FFF2-40B4-BE49-F238E27FC236}">
                  <a16:creationId xmlns:a16="http://schemas.microsoft.com/office/drawing/2014/main" id="{A54D7476-AAD8-4DA4-BFBF-076A3516ECB3}"/>
                </a:ext>
              </a:extLst>
            </p:cNvPr>
            <p:cNvGrpSpPr/>
            <p:nvPr/>
          </p:nvGrpSpPr>
          <p:grpSpPr>
            <a:xfrm>
              <a:off x="2245362" y="5770830"/>
              <a:ext cx="1946522" cy="902396"/>
              <a:chOff x="2245362" y="5884613"/>
              <a:chExt cx="1946522" cy="902396"/>
            </a:xfrm>
          </p:grpSpPr>
          <p:sp>
            <p:nvSpPr>
              <p:cNvPr id="64" name="TextBox 63">
                <a:extLst>
                  <a:ext uri="{FF2B5EF4-FFF2-40B4-BE49-F238E27FC236}">
                    <a16:creationId xmlns:a16="http://schemas.microsoft.com/office/drawing/2014/main" id="{AC30A684-4120-4B77-B255-925341D4D896}"/>
                  </a:ext>
                </a:extLst>
              </p:cNvPr>
              <p:cNvSpPr txBox="1"/>
              <p:nvPr/>
            </p:nvSpPr>
            <p:spPr>
              <a:xfrm>
                <a:off x="2245362" y="6186845"/>
                <a:ext cx="1946522" cy="600164"/>
              </a:xfrm>
              <a:prstGeom prst="rect">
                <a:avLst/>
              </a:prstGeom>
              <a:noFill/>
            </p:spPr>
            <p:txBody>
              <a:bodyPr wrap="square" rtlCol="1">
                <a:spAutoFit/>
              </a:bodyPr>
              <a:lstStyle/>
              <a:p>
                <a:r>
                  <a:rPr lang="en-US" sz="1100" dirty="0">
                    <a:solidFill>
                      <a:schemeClr val="bg1"/>
                    </a:solidFill>
                    <a:latin typeface="Cantarell" panose="02000603000000000000" pitchFamily="2" charset="0"/>
                  </a:rPr>
                  <a:t>Integrated with essential equipment and control systems</a:t>
                </a:r>
                <a:endParaRPr lang="ar-LY" sz="1100" dirty="0">
                  <a:solidFill>
                    <a:schemeClr val="bg1"/>
                  </a:solidFill>
                  <a:latin typeface="Cantarell bold" panose="02000803000000000000" pitchFamily="2" charset="0"/>
                </a:endParaRPr>
              </a:p>
            </p:txBody>
          </p:sp>
          <p:sp>
            <p:nvSpPr>
              <p:cNvPr id="65" name="TextBox 64">
                <a:extLst>
                  <a:ext uri="{FF2B5EF4-FFF2-40B4-BE49-F238E27FC236}">
                    <a16:creationId xmlns:a16="http://schemas.microsoft.com/office/drawing/2014/main" id="{3F733AF1-878E-417C-88E3-AAB2BFA38B1F}"/>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Connected</a:t>
                </a:r>
              </a:p>
            </p:txBody>
          </p:sp>
        </p:grpSp>
      </p:grpSp>
      <p:grpSp>
        <p:nvGrpSpPr>
          <p:cNvPr id="67" name="Group 66">
            <a:extLst>
              <a:ext uri="{FF2B5EF4-FFF2-40B4-BE49-F238E27FC236}">
                <a16:creationId xmlns:a16="http://schemas.microsoft.com/office/drawing/2014/main" id="{6220EA56-16BF-4049-85FA-D7583AD17405}"/>
              </a:ext>
            </a:extLst>
          </p:cNvPr>
          <p:cNvGrpSpPr/>
          <p:nvPr/>
        </p:nvGrpSpPr>
        <p:grpSpPr>
          <a:xfrm>
            <a:off x="4392914" y="5218165"/>
            <a:ext cx="3406175" cy="1107996"/>
            <a:chOff x="785709" y="5621864"/>
            <a:chExt cx="3406175" cy="1107996"/>
          </a:xfrm>
        </p:grpSpPr>
        <p:sp>
          <p:nvSpPr>
            <p:cNvPr id="68" name="TextBox 67">
              <a:extLst>
                <a:ext uri="{FF2B5EF4-FFF2-40B4-BE49-F238E27FC236}">
                  <a16:creationId xmlns:a16="http://schemas.microsoft.com/office/drawing/2014/main" id="{7451B2B2-09D9-4603-8AA8-655A661512D6}"/>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2">
                      <a:alpha val="88000"/>
                    </a:schemeClr>
                  </a:solidFill>
                </a:rPr>
                <a:t>02</a:t>
              </a:r>
              <a:endParaRPr lang="ar-LY" sz="6600" dirty="0">
                <a:solidFill>
                  <a:schemeClr val="accent2">
                    <a:alpha val="88000"/>
                  </a:schemeClr>
                </a:solidFill>
              </a:endParaRPr>
            </a:p>
          </p:txBody>
        </p:sp>
        <p:grpSp>
          <p:nvGrpSpPr>
            <p:cNvPr id="69" name="Group 68">
              <a:extLst>
                <a:ext uri="{FF2B5EF4-FFF2-40B4-BE49-F238E27FC236}">
                  <a16:creationId xmlns:a16="http://schemas.microsoft.com/office/drawing/2014/main" id="{62E8A053-DA03-4F6C-8902-9EF6BCE4B2A2}"/>
                </a:ext>
              </a:extLst>
            </p:cNvPr>
            <p:cNvGrpSpPr/>
            <p:nvPr/>
          </p:nvGrpSpPr>
          <p:grpSpPr>
            <a:xfrm>
              <a:off x="2245362" y="5770830"/>
              <a:ext cx="1946522" cy="733119"/>
              <a:chOff x="2245362" y="5884613"/>
              <a:chExt cx="1946522" cy="733119"/>
            </a:xfrm>
          </p:grpSpPr>
          <p:sp>
            <p:nvSpPr>
              <p:cNvPr id="70" name="TextBox 69">
                <a:extLst>
                  <a:ext uri="{FF2B5EF4-FFF2-40B4-BE49-F238E27FC236}">
                    <a16:creationId xmlns:a16="http://schemas.microsoft.com/office/drawing/2014/main" id="{3D6291DF-2C2A-4C4E-8869-E6A652CB54C1}"/>
                  </a:ext>
                </a:extLst>
              </p:cNvPr>
              <p:cNvSpPr txBox="1"/>
              <p:nvPr/>
            </p:nvSpPr>
            <p:spPr>
              <a:xfrm>
                <a:off x="2245362" y="6186845"/>
                <a:ext cx="1946522" cy="430887"/>
              </a:xfrm>
              <a:prstGeom prst="rect">
                <a:avLst/>
              </a:prstGeom>
              <a:noFill/>
            </p:spPr>
            <p:txBody>
              <a:bodyPr wrap="square" rtlCol="1">
                <a:spAutoFit/>
              </a:bodyPr>
              <a:lstStyle/>
              <a:p>
                <a:r>
                  <a:rPr lang="en-US" sz="1100" dirty="0">
                    <a:solidFill>
                      <a:schemeClr val="bg1"/>
                    </a:solidFill>
                    <a:latin typeface="Cantarell" panose="02000603000000000000" pitchFamily="2" charset="0"/>
                    <a:cs typeface="Poppins Black" panose="00000A00000000000000" pitchFamily="2" charset="0"/>
                  </a:rPr>
                  <a:t>Important data in one easy-to-access place</a:t>
                </a:r>
                <a:endParaRPr lang="ar-LY" sz="1100" dirty="0">
                  <a:solidFill>
                    <a:schemeClr val="bg1"/>
                  </a:solidFill>
                  <a:latin typeface="Cantarell bold" panose="02000803000000000000" pitchFamily="2" charset="0"/>
                </a:endParaRPr>
              </a:p>
            </p:txBody>
          </p:sp>
          <p:sp>
            <p:nvSpPr>
              <p:cNvPr id="71" name="TextBox 70">
                <a:extLst>
                  <a:ext uri="{FF2B5EF4-FFF2-40B4-BE49-F238E27FC236}">
                    <a16:creationId xmlns:a16="http://schemas.microsoft.com/office/drawing/2014/main" id="{4160D073-BD79-4D1D-90DA-273DFEDED3CB}"/>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Centralized</a:t>
                </a:r>
              </a:p>
            </p:txBody>
          </p:sp>
        </p:grpSp>
      </p:grpSp>
      <p:grpSp>
        <p:nvGrpSpPr>
          <p:cNvPr id="72" name="Group 71">
            <a:extLst>
              <a:ext uri="{FF2B5EF4-FFF2-40B4-BE49-F238E27FC236}">
                <a16:creationId xmlns:a16="http://schemas.microsoft.com/office/drawing/2014/main" id="{26D63B00-289C-4CD5-89D9-B020C1E8227F}"/>
              </a:ext>
            </a:extLst>
          </p:cNvPr>
          <p:cNvGrpSpPr/>
          <p:nvPr/>
        </p:nvGrpSpPr>
        <p:grpSpPr>
          <a:xfrm>
            <a:off x="8086074" y="5218165"/>
            <a:ext cx="3406175" cy="1107996"/>
            <a:chOff x="785709" y="5621864"/>
            <a:chExt cx="3406175" cy="1107996"/>
          </a:xfrm>
        </p:grpSpPr>
        <p:sp>
          <p:nvSpPr>
            <p:cNvPr id="73" name="TextBox 72">
              <a:extLst>
                <a:ext uri="{FF2B5EF4-FFF2-40B4-BE49-F238E27FC236}">
                  <a16:creationId xmlns:a16="http://schemas.microsoft.com/office/drawing/2014/main" id="{4B89FE6A-AC5A-4511-9DC3-B9D03D4531AA}"/>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3">
                      <a:alpha val="88000"/>
                    </a:schemeClr>
                  </a:solidFill>
                </a:rPr>
                <a:t>03</a:t>
              </a:r>
              <a:endParaRPr lang="ar-LY" sz="6600" dirty="0">
                <a:solidFill>
                  <a:schemeClr val="accent3">
                    <a:alpha val="88000"/>
                  </a:schemeClr>
                </a:solidFill>
              </a:endParaRPr>
            </a:p>
          </p:txBody>
        </p:sp>
        <p:grpSp>
          <p:nvGrpSpPr>
            <p:cNvPr id="74" name="Group 73">
              <a:extLst>
                <a:ext uri="{FF2B5EF4-FFF2-40B4-BE49-F238E27FC236}">
                  <a16:creationId xmlns:a16="http://schemas.microsoft.com/office/drawing/2014/main" id="{44379DEB-F594-47FB-9C50-FF7116C8BF5F}"/>
                </a:ext>
              </a:extLst>
            </p:cNvPr>
            <p:cNvGrpSpPr/>
            <p:nvPr/>
          </p:nvGrpSpPr>
          <p:grpSpPr>
            <a:xfrm>
              <a:off x="2245362" y="5770830"/>
              <a:ext cx="1946522" cy="733119"/>
              <a:chOff x="2245362" y="5884613"/>
              <a:chExt cx="1946522" cy="733119"/>
            </a:xfrm>
          </p:grpSpPr>
          <p:sp>
            <p:nvSpPr>
              <p:cNvPr id="75" name="TextBox 74">
                <a:extLst>
                  <a:ext uri="{FF2B5EF4-FFF2-40B4-BE49-F238E27FC236}">
                    <a16:creationId xmlns:a16="http://schemas.microsoft.com/office/drawing/2014/main" id="{0DE4CA8B-7749-485A-BEE0-22E0E6D771E0}"/>
                  </a:ext>
                </a:extLst>
              </p:cNvPr>
              <p:cNvSpPr txBox="1"/>
              <p:nvPr/>
            </p:nvSpPr>
            <p:spPr>
              <a:xfrm>
                <a:off x="2245362" y="6186845"/>
                <a:ext cx="1946522" cy="430887"/>
              </a:xfrm>
              <a:prstGeom prst="rect">
                <a:avLst/>
              </a:prstGeom>
              <a:noFill/>
            </p:spPr>
            <p:txBody>
              <a:bodyPr wrap="square" rtlCol="1">
                <a:spAutoFit/>
              </a:bodyPr>
              <a:lstStyle/>
              <a:p>
                <a:r>
                  <a:rPr lang="en-US" sz="1100" dirty="0">
                    <a:solidFill>
                      <a:schemeClr val="bg1"/>
                    </a:solidFill>
                    <a:latin typeface="Cantarell" panose="02000603000000000000" pitchFamily="2" charset="0"/>
                  </a:rPr>
                  <a:t>Machine Learning-enabled optimization models</a:t>
                </a:r>
                <a:endParaRPr lang="ar-LY" sz="1100" dirty="0">
                  <a:solidFill>
                    <a:schemeClr val="bg1"/>
                  </a:solidFill>
                  <a:latin typeface="Cantarell bold" panose="02000803000000000000" pitchFamily="2" charset="0"/>
                </a:endParaRPr>
              </a:p>
            </p:txBody>
          </p:sp>
          <p:sp>
            <p:nvSpPr>
              <p:cNvPr id="76" name="TextBox 75">
                <a:extLst>
                  <a:ext uri="{FF2B5EF4-FFF2-40B4-BE49-F238E27FC236}">
                    <a16:creationId xmlns:a16="http://schemas.microsoft.com/office/drawing/2014/main" id="{C36AFE49-2D3D-4BB5-889A-25AD6052FF38}"/>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Automated</a:t>
                </a:r>
              </a:p>
            </p:txBody>
          </p:sp>
        </p:grpSp>
      </p:grpSp>
      <p:cxnSp>
        <p:nvCxnSpPr>
          <p:cNvPr id="77" name="Straight Connector 76">
            <a:extLst>
              <a:ext uri="{FF2B5EF4-FFF2-40B4-BE49-F238E27FC236}">
                <a16:creationId xmlns:a16="http://schemas.microsoft.com/office/drawing/2014/main" id="{B7D1EC07-2D4C-4801-BE71-1440CE669CFD}"/>
              </a:ext>
            </a:extLst>
          </p:cNvPr>
          <p:cNvCxnSpPr>
            <a:cxnSpLocks/>
          </p:cNvCxnSpPr>
          <p:nvPr/>
        </p:nvCxnSpPr>
        <p:spPr>
          <a:xfrm flipV="1">
            <a:off x="4249420" y="5344727"/>
            <a:ext cx="0" cy="762541"/>
          </a:xfrm>
          <a:prstGeom prst="line">
            <a:avLst/>
          </a:prstGeom>
          <a:ln w="50800">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2F0BBBE-50A4-45C2-A9C8-1F605C379C37}"/>
              </a:ext>
            </a:extLst>
          </p:cNvPr>
          <p:cNvCxnSpPr>
            <a:cxnSpLocks/>
          </p:cNvCxnSpPr>
          <p:nvPr/>
        </p:nvCxnSpPr>
        <p:spPr>
          <a:xfrm flipV="1">
            <a:off x="7942581" y="5344727"/>
            <a:ext cx="0" cy="762541"/>
          </a:xfrm>
          <a:prstGeom prst="line">
            <a:avLst/>
          </a:prstGeom>
          <a:ln w="50800">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240B5048-FF8E-6A47-A1FA-144FCF86A749}"/>
              </a:ext>
            </a:extLst>
          </p:cNvPr>
          <p:cNvSpPr>
            <a:spLocks noGrp="1"/>
          </p:cNvSpPr>
          <p:nvPr>
            <p:ph type="sldNum" sz="quarter" idx="4"/>
          </p:nvPr>
        </p:nvSpPr>
        <p:spPr>
          <a:xfrm>
            <a:off x="8610600" y="6356351"/>
            <a:ext cx="2743200" cy="365125"/>
          </a:xfrm>
        </p:spPr>
        <p:txBody>
          <a:bodyPr/>
          <a:lstStyle/>
          <a:p>
            <a:fld id="{E977B4EF-27B9-4B65-8823-058A934F584F}" type="slidenum">
              <a:rPr lang="ar-LY" smtClean="0"/>
              <a:t>4</a:t>
            </a:fld>
            <a:endParaRPr lang="ar-LY"/>
          </a:p>
        </p:txBody>
      </p:sp>
      <p:pic>
        <p:nvPicPr>
          <p:cNvPr id="7" name="Picture Placeholder 6" descr="Graphical user interface, application&#10;&#10;Description automatically generated">
            <a:extLst>
              <a:ext uri="{FF2B5EF4-FFF2-40B4-BE49-F238E27FC236}">
                <a16:creationId xmlns:a16="http://schemas.microsoft.com/office/drawing/2014/main" id="{3C36FFD3-D6B4-7C4C-8F57-D361D029FEA9}"/>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Lst>
          </a:blip>
          <a:srcRect l="509" t="-4912" r="1766"/>
          <a:stretch/>
        </p:blipFill>
        <p:spPr>
          <a:xfrm>
            <a:off x="1455421" y="872151"/>
            <a:ext cx="5534315" cy="3724487"/>
          </a:xfrm>
        </p:spPr>
      </p:pic>
    </p:spTree>
    <p:extLst>
      <p:ext uri="{BB962C8B-B14F-4D97-AF65-F5344CB8AC3E}">
        <p14:creationId xmlns:p14="http://schemas.microsoft.com/office/powerpoint/2010/main" val="1198535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65B55F-DBAC-324B-954E-694439E5C954}"/>
              </a:ext>
            </a:extLst>
          </p:cNvPr>
          <p:cNvSpPr>
            <a:spLocks noGrp="1"/>
          </p:cNvSpPr>
          <p:nvPr>
            <p:ph type="title"/>
          </p:nvPr>
        </p:nvSpPr>
        <p:spPr/>
        <p:txBody>
          <a:bodyPr/>
          <a:lstStyle/>
          <a:p>
            <a:r>
              <a:rPr lang="en-US" dirty="0"/>
              <a:t>IP-enabled competitive advantage</a:t>
            </a:r>
          </a:p>
        </p:txBody>
      </p:sp>
      <p:sp>
        <p:nvSpPr>
          <p:cNvPr id="2" name="Slide Number Placeholder 1">
            <a:extLst>
              <a:ext uri="{FF2B5EF4-FFF2-40B4-BE49-F238E27FC236}">
                <a16:creationId xmlns:a16="http://schemas.microsoft.com/office/drawing/2014/main" id="{0F664135-A44E-024B-83E9-77D7395DAFF3}"/>
              </a:ext>
            </a:extLst>
          </p:cNvPr>
          <p:cNvSpPr>
            <a:spLocks noGrp="1"/>
          </p:cNvSpPr>
          <p:nvPr>
            <p:ph type="sldNum" sz="quarter" idx="4"/>
          </p:nvPr>
        </p:nvSpPr>
        <p:spPr/>
        <p:txBody>
          <a:bodyPr/>
          <a:lstStyle/>
          <a:p>
            <a:fld id="{9312FC69-CE3E-4598-98C1-B119891192DE}" type="slidenum">
              <a:rPr lang="ar-LY" smtClean="0"/>
              <a:pPr/>
              <a:t>5</a:t>
            </a:fld>
            <a:endParaRPr lang="ar-LY" b="1" dirty="0"/>
          </a:p>
        </p:txBody>
      </p:sp>
      <p:sp>
        <p:nvSpPr>
          <p:cNvPr id="4" name="TextBox 3">
            <a:extLst>
              <a:ext uri="{FF2B5EF4-FFF2-40B4-BE49-F238E27FC236}">
                <a16:creationId xmlns:a16="http://schemas.microsoft.com/office/drawing/2014/main" id="{07864128-00D5-6443-9835-28197C0B596C}"/>
              </a:ext>
            </a:extLst>
          </p:cNvPr>
          <p:cNvSpPr txBox="1"/>
          <p:nvPr/>
        </p:nvSpPr>
        <p:spPr>
          <a:xfrm>
            <a:off x="838200" y="1996440"/>
            <a:ext cx="10515600" cy="4031873"/>
          </a:xfrm>
          <a:prstGeom prst="rect">
            <a:avLst/>
          </a:prstGeom>
          <a:noFill/>
        </p:spPr>
        <p:txBody>
          <a:bodyPr wrap="square" rtlCol="0">
            <a:spAutoFit/>
          </a:bodyPr>
          <a:lstStyle/>
          <a:p>
            <a:pPr marL="457200" indent="-457200">
              <a:buAutoNum type="arabicPeriod"/>
            </a:pPr>
            <a:r>
              <a:rPr lang="en-US" sz="3200" dirty="0">
                <a:solidFill>
                  <a:schemeClr val="bg1"/>
                </a:solidFill>
              </a:rPr>
              <a:t>Patent: </a:t>
            </a:r>
            <a:r>
              <a:rPr lang="en-CA" sz="3200" dirty="0">
                <a:solidFill>
                  <a:schemeClr val="bg1"/>
                </a:solidFill>
              </a:rPr>
              <a:t>Automated Climate Management for Indoor Farming Facilities</a:t>
            </a:r>
          </a:p>
          <a:p>
            <a:pPr marL="457200" indent="-457200">
              <a:buAutoNum type="arabicPeriod"/>
            </a:pPr>
            <a:endParaRPr lang="en-CA" sz="3200" dirty="0">
              <a:solidFill>
                <a:schemeClr val="bg1"/>
              </a:solidFill>
            </a:endParaRPr>
          </a:p>
          <a:p>
            <a:pPr marL="457200" indent="-457200">
              <a:buAutoNum type="arabicPeriod"/>
            </a:pPr>
            <a:r>
              <a:rPr lang="en-CA" sz="3200" dirty="0">
                <a:solidFill>
                  <a:schemeClr val="bg1"/>
                </a:solidFill>
              </a:rPr>
              <a:t>Copyright: Proprietary Database Design and Algorithms for the Automation Engine</a:t>
            </a:r>
          </a:p>
          <a:p>
            <a:pPr marL="457200" indent="-457200">
              <a:buAutoNum type="arabicPeriod"/>
            </a:pPr>
            <a:endParaRPr lang="en-CA" sz="3200" dirty="0">
              <a:solidFill>
                <a:schemeClr val="bg1"/>
              </a:solidFill>
            </a:endParaRPr>
          </a:p>
          <a:p>
            <a:pPr marL="457200" indent="-457200">
              <a:buFontTx/>
              <a:buAutoNum type="arabicPeriod"/>
            </a:pPr>
            <a:r>
              <a:rPr lang="en-CA" sz="3200" dirty="0">
                <a:solidFill>
                  <a:schemeClr val="bg1"/>
                </a:solidFill>
              </a:rPr>
              <a:t>Trade Secret: Operational Data on Creating an Optimal Indoor Climate</a:t>
            </a:r>
          </a:p>
        </p:txBody>
      </p:sp>
    </p:spTree>
    <p:extLst>
      <p:ext uri="{BB962C8B-B14F-4D97-AF65-F5344CB8AC3E}">
        <p14:creationId xmlns:p14="http://schemas.microsoft.com/office/powerpoint/2010/main" val="[redacted]"/>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46D62-8B26-464B-98A4-A9F1724CA334}"/>
              </a:ext>
            </a:extLst>
          </p:cNvPr>
          <p:cNvSpPr>
            <a:spLocks noGrp="1"/>
          </p:cNvSpPr>
          <p:nvPr>
            <p:ph type="title"/>
          </p:nvPr>
        </p:nvSpPr>
        <p:spPr/>
        <p:txBody>
          <a:bodyPr/>
          <a:lstStyle/>
          <a:p>
            <a:r>
              <a:rPr lang="en-US">
                <a:solidFill>
                  <a:schemeClr val="bg1"/>
                </a:solidFill>
              </a:rPr>
              <a:t>Competitive Landscape</a:t>
            </a:r>
            <a:endParaRPr lang="en-US" dirty="0">
              <a:solidFill>
                <a:schemeClr val="bg1"/>
              </a:solidFill>
            </a:endParaRPr>
          </a:p>
        </p:txBody>
      </p:sp>
      <p:sp>
        <p:nvSpPr>
          <p:cNvPr id="3" name="Rectangle 1">
            <a:extLst>
              <a:ext uri="{FF2B5EF4-FFF2-40B4-BE49-F238E27FC236}">
                <a16:creationId xmlns:a16="http://schemas.microsoft.com/office/drawing/2014/main" id="{2B3B5D68-9935-9D4F-97D5-E1AF4F19321A}"/>
              </a:ext>
            </a:extLst>
          </p:cNvPr>
          <p:cNvSpPr>
            <a:spLocks noChangeArrowheads="1"/>
          </p:cNvSpPr>
          <p:nvPr/>
        </p:nvSpPr>
        <p:spPr bwMode="auto">
          <a:xfrm>
            <a:off x="367862" y="2927995"/>
            <a:ext cx="534976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redacted]-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US" altLang="en-US" sz="2800" dirty="0">
                <a:solidFill>
                  <a:schemeClr val="bg1"/>
                </a:solidFill>
                <a:latin typeface="Garamond" panose="02020404030301010803" pitchFamily="18" charset="0"/>
              </a:rPr>
              <a:t>Ambient provides a tailored solution for the indoor farming beachhead market by positioning itself at the intersection of multiple segments</a:t>
            </a:r>
            <a:r>
              <a:rPr lang="en-US" altLang="en-US" sz="2800" dirty="0">
                <a:solidFill>
                  <a:schemeClr val="bg1"/>
                </a:solidFill>
              </a:rPr>
              <a:t>.</a:t>
            </a:r>
            <a:r>
              <a:rPr lang="en-US" altLang="en-US" sz="2800" dirty="0">
                <a:solidFill>
                  <a:schemeClr val="bg1"/>
                </a:solidFill>
                <a:latin typeface="Arial" panose="020B0604020202020204" pitchFamily="34" charset="0"/>
              </a:rPr>
              <a:t>        </a:t>
            </a:r>
          </a:p>
        </p:txBody>
      </p:sp>
      <p:pic>
        <p:nvPicPr>
          <p:cNvPr id="9" name="Picture 8" descr="Chart&#10;&#10;Description automatically generated">
            <a:extLst>
              <a:ext uri="{FF2B5EF4-FFF2-40B4-BE49-F238E27FC236}">
                <a16:creationId xmlns:a16="http://schemas.microsoft.com/office/drawing/2014/main" id="{ED90C94B-CCD0-0845-967A-5AAF28DE7CCE}"/>
              </a:ext>
            </a:extLst>
          </p:cNvPr>
          <p:cNvPicPr>
            <a:picLocks noChangeAspect="1"/>
          </p:cNvPicPr>
          <p:nvPr/>
        </p:nvPicPr>
        <p:blipFill rotWithShape="1">
          <a:blip r:embed="rId3">
            <a:extLst>
              <a:ext uri="{28A0092B-C50C-407E-A947-70E740481C1C}">
                <a14:useLocalDpi xmlns:a14="http://schemas.microsoft.com/office/drawing/2010/main" val="0"/>
              </a:ext>
            </a:extLst>
          </a:blip>
          <a:srcRect t="894"/>
          <a:stretch/>
        </p:blipFill>
        <p:spPr>
          <a:xfrm>
            <a:off x="5052647" y="365126"/>
            <a:ext cx="7543800" cy="6672753"/>
          </a:xfrm>
          <a:prstGeom prst="rect">
            <a:avLst/>
          </a:prstGeom>
        </p:spPr>
      </p:pic>
      <p:sp>
        <p:nvSpPr>
          <p:cNvPr id="5" name="Slide Number Placeholder 1">
            <a:extLst>
              <a:ext uri="{FF2B5EF4-FFF2-40B4-BE49-F238E27FC236}">
                <a16:creationId xmlns:a16="http://schemas.microsoft.com/office/drawing/2014/main" id="{023CC952-DA77-1B4A-AB42-EFBAC6A55B57}"/>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pPr/>
              <a:t>6</a:t>
            </a:fld>
            <a:endParaRPr lang="ar-LY" b="1" dirty="0"/>
          </a:p>
        </p:txBody>
      </p:sp>
    </p:spTree>
    <p:extLst>
      <p:ext uri="{BB962C8B-B14F-4D97-AF65-F5344CB8AC3E}">
        <p14:creationId xmlns:p14="http://schemas.microsoft.com/office/powerpoint/2010/main" val="1106804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7C4BC-0097-9F40-B994-EDD59FEAF7BC}"/>
              </a:ext>
            </a:extLst>
          </p:cNvPr>
          <p:cNvSpPr>
            <a:spLocks noGrp="1"/>
          </p:cNvSpPr>
          <p:nvPr>
            <p:ph type="title"/>
          </p:nvPr>
        </p:nvSpPr>
        <p:spPr>
          <a:xfrm>
            <a:off x="752472" y="365127"/>
            <a:ext cx="10853738" cy="1325563"/>
          </a:xfrm>
        </p:spPr>
        <p:txBody>
          <a:bodyPr/>
          <a:lstStyle/>
          <a:p>
            <a:r>
              <a:rPr lang="en-US" dirty="0">
                <a:solidFill>
                  <a:schemeClr val="bg1"/>
                </a:solidFill>
              </a:rPr>
              <a:t>Smart-building technology for indoor farms</a:t>
            </a:r>
          </a:p>
        </p:txBody>
      </p:sp>
      <p:graphicFrame>
        <p:nvGraphicFramePr>
          <p:cNvPr id="3" name="Table 2">
            <a:extLst>
              <a:ext uri="{FF2B5EF4-FFF2-40B4-BE49-F238E27FC236}">
                <a16:creationId xmlns:a16="http://schemas.microsoft.com/office/drawing/2014/main" id="{BE32194B-66F2-9344-9045-71D3F235B2D4}"/>
              </a:ext>
            </a:extLst>
          </p:cNvPr>
          <p:cNvGraphicFramePr>
            <a:graphicFrameLocks noGrp="1"/>
          </p:cNvGraphicFramePr>
          <p:nvPr>
            <p:extLst>
              <p:ext uri="{D42A27DB-BD31-4B8C-83A1-F6EECF244321}">
                <p14:modId xmlns:p14="http://schemas.microsoft.com/office/powerpoint/2010/main" val="[redacted]"/>
              </p:ext>
            </p:extLst>
          </p:nvPr>
        </p:nvGraphicFramePr>
        <p:xfrm>
          <a:off x="752472" y="1626438"/>
          <a:ext cx="10853738" cy="4526295"/>
        </p:xfrm>
        <a:graphic>
          <a:graphicData uri="http://schemas.openxmlformats.org/drawingml/2006/table">
            <a:tbl>
              <a:tblPr/>
              <a:tblGrid>
                <a:gridCol w="2833691">
                  <a:extLst>
                    <a:ext uri="{9D8B030D-6E8A-4147-A177-3AD203B41FA5}">
                      <a16:colId xmlns:a16="http://schemas.microsoft.com/office/drawing/2014/main" val="285793511"/>
                    </a:ext>
                  </a:extLst>
                </a:gridCol>
                <a:gridCol w="2015058">
                  <a:extLst>
                    <a:ext uri="{9D8B030D-6E8A-4147-A177-3AD203B41FA5}">
                      <a16:colId xmlns:a16="http://schemas.microsoft.com/office/drawing/2014/main" val="[redacted]"/>
                    </a:ext>
                  </a:extLst>
                </a:gridCol>
                <a:gridCol w="2001663">
                  <a:extLst>
                    <a:ext uri="{9D8B030D-6E8A-4147-A177-3AD203B41FA5}">
                      <a16:colId xmlns:a16="http://schemas.microsoft.com/office/drawing/2014/main" val="33867107"/>
                    </a:ext>
                  </a:extLst>
                </a:gridCol>
                <a:gridCol w="2001663">
                  <a:extLst>
                    <a:ext uri="{9D8B030D-6E8A-4147-A177-3AD203B41FA5}">
                      <a16:colId xmlns:a16="http://schemas.microsoft.com/office/drawing/2014/main" val="1904074191"/>
                    </a:ext>
                  </a:extLst>
                </a:gridCol>
                <a:gridCol w="2001663">
                  <a:extLst>
                    <a:ext uri="{9D8B030D-6E8A-4147-A177-3AD203B41FA5}">
                      <a16:colId xmlns:a16="http://schemas.microsoft.com/office/drawing/2014/main" val="660484743"/>
                    </a:ext>
                  </a:extLst>
                </a:gridCol>
              </a:tblGrid>
              <a:tr h="678181">
                <a:tc>
                  <a:txBody>
                    <a:bodyPr/>
                    <a:lstStyle/>
                    <a:p>
                      <a:pPr fontAlgn="ctr"/>
                      <a:r>
                        <a:rPr lang="en-CA" sz="1600" dirty="0">
                          <a:solidFill>
                            <a:schemeClr val="bg1"/>
                          </a:solidFill>
                          <a:effectLst/>
                        </a:rPr>
                        <a:t> </a:t>
                      </a: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Ambient</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Autogrow</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75F</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Johnson Controls</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redacted]"/>
                  </a:ext>
                </a:extLst>
              </a:tr>
              <a:tr h="637541">
                <a:tc>
                  <a:txBody>
                    <a:bodyPr/>
                    <a:lstStyle/>
                    <a:p>
                      <a:pPr rtl="0" fontAlgn="ctr">
                        <a:spcBef>
                          <a:spcPts val="0"/>
                        </a:spcBef>
                        <a:spcAft>
                          <a:spcPts val="0"/>
                        </a:spcAft>
                      </a:pPr>
                      <a:r>
                        <a:rPr lang="en-CA" sz="1500" b="1" i="0" u="none" strike="noStrike" dirty="0">
                          <a:solidFill>
                            <a:schemeClr val="bg1"/>
                          </a:solidFill>
                          <a:effectLst/>
                          <a:latin typeface="+mn-lt"/>
                        </a:rPr>
                        <a:t>Segment</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Multiple</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Indoor Farming Controller</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a:solidFill>
                            <a:schemeClr val="bg1"/>
                          </a:solidFill>
                          <a:effectLst/>
                          <a:latin typeface="+mn-lt"/>
                        </a:rPr>
                        <a:t>Smart Buildings</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OEM</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76544193"/>
                  </a:ext>
                </a:extLst>
              </a:tr>
              <a:tr h="637541">
                <a:tc>
                  <a:txBody>
                    <a:bodyPr/>
                    <a:lstStyle/>
                    <a:p>
                      <a:pPr rtl="0" fontAlgn="ctr">
                        <a:spcBef>
                          <a:spcPts val="0"/>
                        </a:spcBef>
                        <a:spcAft>
                          <a:spcPts val="0"/>
                        </a:spcAft>
                      </a:pPr>
                      <a:r>
                        <a:rPr lang="en-CA" sz="1500" b="1" i="0" u="none" strike="noStrike" dirty="0">
                          <a:solidFill>
                            <a:schemeClr val="bg1"/>
                          </a:solidFill>
                          <a:effectLst/>
                          <a:latin typeface="+mn-lt"/>
                        </a:rPr>
                        <a:t>Proximity to Customer</a:t>
                      </a:r>
                      <a:endParaRPr lang="en-CA" sz="1500" dirty="0">
                        <a:solidFill>
                          <a:schemeClr val="bg1"/>
                        </a:solidFill>
                        <a:effectLst/>
                        <a:latin typeface="+mn-lt"/>
                      </a:endParaRPr>
                    </a:p>
                    <a:p>
                      <a:pPr rtl="0" fontAlgn="ctr">
                        <a:spcBef>
                          <a:spcPts val="0"/>
                        </a:spcBef>
                        <a:spcAft>
                          <a:spcPts val="0"/>
                        </a:spcAft>
                      </a:pPr>
                      <a:r>
                        <a:rPr lang="en-CA" sz="1500" b="1" i="0" u="none" strike="noStrike" dirty="0">
                          <a:solidFill>
                            <a:schemeClr val="bg1"/>
                          </a:solidFill>
                          <a:effectLst/>
                          <a:latin typeface="+mn-lt"/>
                        </a:rPr>
                        <a:t>(Low Logistics Cost)</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r h="414021">
                <a:tc>
                  <a:txBody>
                    <a:bodyPr/>
                    <a:lstStyle/>
                    <a:p>
                      <a:pPr rtl="0" fontAlgn="ctr">
                        <a:spcBef>
                          <a:spcPts val="0"/>
                        </a:spcBef>
                        <a:spcAft>
                          <a:spcPts val="0"/>
                        </a:spcAft>
                      </a:pPr>
                      <a:r>
                        <a:rPr lang="en-CA" sz="1500" b="1" i="0" u="none" strike="noStrike" dirty="0">
                          <a:solidFill>
                            <a:schemeClr val="bg1"/>
                          </a:solidFill>
                          <a:effectLst/>
                          <a:latin typeface="+mn-lt"/>
                        </a:rPr>
                        <a:t>Indoor Farming Features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8250515"/>
                  </a:ext>
                </a:extLst>
              </a:tr>
              <a:tr h="414021">
                <a:tc>
                  <a:txBody>
                    <a:bodyPr/>
                    <a:lstStyle/>
                    <a:p>
                      <a:pPr rtl="0" fontAlgn="ctr">
                        <a:spcBef>
                          <a:spcPts val="0"/>
                        </a:spcBef>
                        <a:spcAft>
                          <a:spcPts val="0"/>
                        </a:spcAft>
                      </a:pPr>
                      <a:r>
                        <a:rPr lang="en-CA" sz="1500" b="1" i="0" u="none" strike="noStrike" dirty="0">
                          <a:solidFill>
                            <a:schemeClr val="bg1"/>
                          </a:solidFill>
                          <a:effectLst/>
                          <a:latin typeface="+mn-lt"/>
                        </a:rPr>
                        <a:t>Modern Web-based UI</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a:solidFill>
                            <a:schemeClr val="bg1"/>
                          </a:solidFill>
                          <a:effectLst/>
                          <a:latin typeface="+mn-lt"/>
                        </a:rPr>
                        <a:t>Some</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87870103"/>
                  </a:ext>
                </a:extLst>
              </a:tr>
              <a:tr h="414021">
                <a:tc>
                  <a:txBody>
                    <a:bodyPr/>
                    <a:lstStyle/>
                    <a:p>
                      <a:pPr rtl="0" fontAlgn="ctr">
                        <a:spcBef>
                          <a:spcPts val="0"/>
                        </a:spcBef>
                        <a:spcAft>
                          <a:spcPts val="0"/>
                        </a:spcAft>
                      </a:pPr>
                      <a:r>
                        <a:rPr lang="en-CA" sz="1500" b="1" i="0" u="none" strike="noStrike">
                          <a:solidFill>
                            <a:schemeClr val="bg1"/>
                          </a:solidFill>
                          <a:effectLst/>
                          <a:latin typeface="+mn-lt"/>
                        </a:rPr>
                        <a:t>Wireless IoT Network</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54290102"/>
                  </a:ext>
                </a:extLst>
              </a:tr>
              <a:tr h="637541">
                <a:tc>
                  <a:txBody>
                    <a:bodyPr/>
                    <a:lstStyle/>
                    <a:p>
                      <a:pPr rtl="0" fontAlgn="ctr">
                        <a:spcBef>
                          <a:spcPts val="0"/>
                        </a:spcBef>
                        <a:spcAft>
                          <a:spcPts val="0"/>
                        </a:spcAft>
                      </a:pPr>
                      <a:r>
                        <a:rPr lang="en-CA" sz="1500" b="1" i="0" u="none" strike="noStrike" dirty="0">
                          <a:solidFill>
                            <a:schemeClr val="bg1"/>
                          </a:solidFill>
                          <a:effectLst/>
                          <a:latin typeface="+mn-lt"/>
                        </a:rPr>
                        <a:t>Advanced Optimization Methods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Machine</a:t>
                      </a:r>
                    </a:p>
                    <a:p>
                      <a:pPr algn="ctr" rtl="0" fontAlgn="ctr">
                        <a:spcBef>
                          <a:spcPts val="0"/>
                        </a:spcBef>
                        <a:spcAft>
                          <a:spcPts val="0"/>
                        </a:spcAft>
                      </a:pPr>
                      <a:r>
                        <a:rPr lang="en-CA" sz="1500" b="0" i="0" u="none" strike="noStrike" dirty="0">
                          <a:solidFill>
                            <a:schemeClr val="bg1"/>
                          </a:solidFill>
                          <a:effectLst/>
                          <a:latin typeface="+mn-lt"/>
                        </a:rPr>
                        <a:t>Learning</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a:solidFill>
                            <a:schemeClr val="bg1"/>
                          </a:solidFill>
                          <a:effectLst/>
                          <a:latin typeface="+mn-lt"/>
                        </a:rPr>
                        <a:t>No</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Some</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Some</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r h="637541">
                <a:tc>
                  <a:txBody>
                    <a:bodyPr/>
                    <a:lstStyle/>
                    <a:p>
                      <a:pPr rtl="0" fontAlgn="ctr">
                        <a:spcBef>
                          <a:spcPts val="0"/>
                        </a:spcBef>
                        <a:spcAft>
                          <a:spcPts val="0"/>
                        </a:spcAft>
                      </a:pPr>
                      <a:r>
                        <a:rPr lang="en-CA" sz="1500" b="1" i="0" u="none" strike="noStrike">
                          <a:solidFill>
                            <a:schemeClr val="bg1"/>
                          </a:solidFill>
                          <a:effectLst/>
                          <a:latin typeface="+mn-lt"/>
                        </a:rPr>
                        <a:t>Pricing</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Quotation</a:t>
                      </a:r>
                      <a:endParaRPr lang="en-CA" sz="1500" dirty="0">
                        <a:solidFill>
                          <a:schemeClr val="bg1"/>
                        </a:solidFill>
                        <a:effectLst/>
                        <a:latin typeface="+mn-lt"/>
                      </a:endParaRPr>
                    </a:p>
                    <a:p>
                      <a:pPr algn="ctr" rtl="0" fontAlgn="ctr">
                        <a:spcBef>
                          <a:spcPts val="0"/>
                        </a:spcBef>
                        <a:spcAft>
                          <a:spcPts val="0"/>
                        </a:spcAft>
                      </a:pPr>
                      <a:r>
                        <a:rPr lang="en-CA" sz="1500" b="0" i="0" u="none" strike="noStrike" dirty="0">
                          <a:solidFill>
                            <a:schemeClr val="bg1"/>
                          </a:solidFill>
                          <a:effectLst/>
                          <a:latin typeface="+mn-lt"/>
                        </a:rPr>
                        <a:t>(based on area)</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$3000 for one unit + Installation Fees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Quotation </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Quotation</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bl>
          </a:graphicData>
        </a:graphic>
      </p:graphicFrame>
      <p:pic>
        <p:nvPicPr>
          <p:cNvPr id="4" name="Google Shape;215;p29">
            <a:extLst>
              <a:ext uri="{FF2B5EF4-FFF2-40B4-BE49-F238E27FC236}">
                <a16:creationId xmlns:a16="http://schemas.microsoft.com/office/drawing/2014/main" id="{63E7D9BB-72F5-3641-8F1E-F7AE0FD18F0D}"/>
              </a:ext>
            </a:extLst>
          </p:cNvPr>
          <p:cNvPicPr preferRelativeResize="0"/>
          <p:nvPr/>
        </p:nvPicPr>
        <p:blipFill>
          <a:blip r:embed="rId3">
            <a:alphaModFix/>
            <a:lum bright="70000" contrast="-70000"/>
          </a:blip>
          <a:stretch>
            <a:fillRect/>
          </a:stretch>
        </p:blipFill>
        <p:spPr>
          <a:xfrm>
            <a:off x="3677054" y="3642660"/>
            <a:ext cx="305351" cy="305351"/>
          </a:xfrm>
          <a:prstGeom prst="rect">
            <a:avLst/>
          </a:prstGeom>
          <a:noFill/>
          <a:ln>
            <a:noFill/>
          </a:ln>
        </p:spPr>
      </p:pic>
      <p:pic>
        <p:nvPicPr>
          <p:cNvPr id="5" name="Google Shape;219;p29">
            <a:extLst>
              <a:ext uri="{FF2B5EF4-FFF2-40B4-BE49-F238E27FC236}">
                <a16:creationId xmlns:a16="http://schemas.microsoft.com/office/drawing/2014/main" id="{26FD8721-D7E9-9846-BCF1-577F3733136E}"/>
              </a:ext>
            </a:extLst>
          </p:cNvPr>
          <p:cNvPicPr preferRelativeResize="0"/>
          <p:nvPr/>
        </p:nvPicPr>
        <p:blipFill>
          <a:blip r:embed="rId3">
            <a:alphaModFix/>
            <a:lum bright="70000" contrast="-70000"/>
          </a:blip>
          <a:stretch>
            <a:fillRect/>
          </a:stretch>
        </p:blipFill>
        <p:spPr>
          <a:xfrm>
            <a:off x="3677053" y="3124565"/>
            <a:ext cx="305351" cy="305351"/>
          </a:xfrm>
          <a:prstGeom prst="rect">
            <a:avLst/>
          </a:prstGeom>
          <a:noFill/>
          <a:ln>
            <a:noFill/>
          </a:ln>
        </p:spPr>
      </p:pic>
      <p:pic>
        <p:nvPicPr>
          <p:cNvPr id="6" name="Google Shape;222;p29">
            <a:extLst>
              <a:ext uri="{FF2B5EF4-FFF2-40B4-BE49-F238E27FC236}">
                <a16:creationId xmlns:a16="http://schemas.microsoft.com/office/drawing/2014/main" id="{DBA6DAF4-CB0D-934B-935B-EEE8242964C9}"/>
              </a:ext>
            </a:extLst>
          </p:cNvPr>
          <p:cNvPicPr preferRelativeResize="0"/>
          <p:nvPr/>
        </p:nvPicPr>
        <p:blipFill>
          <a:blip r:embed="rId3">
            <a:alphaModFix/>
            <a:lum bright="70000" contrast="-70000"/>
          </a:blip>
          <a:stretch>
            <a:fillRect/>
          </a:stretch>
        </p:blipFill>
        <p:spPr>
          <a:xfrm>
            <a:off x="3677054" y="4072171"/>
            <a:ext cx="305351" cy="305351"/>
          </a:xfrm>
          <a:prstGeom prst="rect">
            <a:avLst/>
          </a:prstGeom>
          <a:noFill/>
          <a:ln>
            <a:noFill/>
          </a:ln>
        </p:spPr>
      </p:pic>
      <p:pic>
        <p:nvPicPr>
          <p:cNvPr id="7" name="Google Shape;227;p29">
            <a:extLst>
              <a:ext uri="{FF2B5EF4-FFF2-40B4-BE49-F238E27FC236}">
                <a16:creationId xmlns:a16="http://schemas.microsoft.com/office/drawing/2014/main" id="{533F4CF7-9E93-6C48-9384-754D414EEB69}"/>
              </a:ext>
            </a:extLst>
          </p:cNvPr>
          <p:cNvPicPr preferRelativeResize="0"/>
          <p:nvPr/>
        </p:nvPicPr>
        <p:blipFill>
          <a:blip r:embed="rId3">
            <a:alphaModFix/>
            <a:lum bright="70000" contrast="-70000"/>
          </a:blip>
          <a:stretch>
            <a:fillRect/>
          </a:stretch>
        </p:blipFill>
        <p:spPr>
          <a:xfrm>
            <a:off x="3677054" y="4483677"/>
            <a:ext cx="305351" cy="305351"/>
          </a:xfrm>
          <a:prstGeom prst="rect">
            <a:avLst/>
          </a:prstGeom>
          <a:noFill/>
          <a:ln>
            <a:noFill/>
          </a:ln>
        </p:spPr>
      </p:pic>
      <p:pic>
        <p:nvPicPr>
          <p:cNvPr id="8" name="Google Shape;230;p29">
            <a:extLst>
              <a:ext uri="{FF2B5EF4-FFF2-40B4-BE49-F238E27FC236}">
                <a16:creationId xmlns:a16="http://schemas.microsoft.com/office/drawing/2014/main" id="{7A6D2AB9-2C88-884B-8089-B5D365E4C5EE}"/>
              </a:ext>
            </a:extLst>
          </p:cNvPr>
          <p:cNvPicPr preferRelativeResize="0"/>
          <p:nvPr/>
        </p:nvPicPr>
        <p:blipFill>
          <a:blip r:embed="rId3">
            <a:alphaModFix/>
            <a:lum bright="70000" contrast="-70000"/>
          </a:blip>
          <a:stretch>
            <a:fillRect/>
          </a:stretch>
        </p:blipFill>
        <p:spPr>
          <a:xfrm>
            <a:off x="3677054" y="5044557"/>
            <a:ext cx="305351" cy="305351"/>
          </a:xfrm>
          <a:prstGeom prst="rect">
            <a:avLst/>
          </a:prstGeom>
          <a:noFill/>
          <a:ln>
            <a:noFill/>
          </a:ln>
        </p:spPr>
      </p:pic>
      <p:pic>
        <p:nvPicPr>
          <p:cNvPr id="14" name="Google Shape;216;p29">
            <a:extLst>
              <a:ext uri="{FF2B5EF4-FFF2-40B4-BE49-F238E27FC236}">
                <a16:creationId xmlns:a16="http://schemas.microsoft.com/office/drawing/2014/main" id="{C209BF39-F140-944B-9A10-7675C9A93A47}"/>
              </a:ext>
            </a:extLst>
          </p:cNvPr>
          <p:cNvPicPr preferRelativeResize="0"/>
          <p:nvPr/>
        </p:nvPicPr>
        <p:blipFill>
          <a:blip r:embed="rId4">
            <a:alphaModFix/>
            <a:duotone>
              <a:schemeClr val="bg2">
                <a:shade val="45000"/>
                <a:satMod val="135000"/>
              </a:schemeClr>
              <a:prstClr val="white"/>
            </a:duotone>
          </a:blip>
          <a:stretch>
            <a:fillRect/>
          </a:stretch>
        </p:blipFill>
        <p:spPr>
          <a:xfrm>
            <a:off x="5714313" y="3091660"/>
            <a:ext cx="305351" cy="305351"/>
          </a:xfrm>
          <a:prstGeom prst="rect">
            <a:avLst/>
          </a:prstGeom>
          <a:noFill/>
          <a:ln>
            <a:noFill/>
          </a:ln>
        </p:spPr>
      </p:pic>
      <p:pic>
        <p:nvPicPr>
          <p:cNvPr id="15" name="Google Shape;216;p29">
            <a:extLst>
              <a:ext uri="{FF2B5EF4-FFF2-40B4-BE49-F238E27FC236}">
                <a16:creationId xmlns:a16="http://schemas.microsoft.com/office/drawing/2014/main" id="{B7668DFF-EFCE-964C-9725-6E59FF010C17}"/>
              </a:ext>
            </a:extLst>
          </p:cNvPr>
          <p:cNvPicPr preferRelativeResize="0"/>
          <p:nvPr/>
        </p:nvPicPr>
        <p:blipFill>
          <a:blip r:embed="rId4">
            <a:alphaModFix/>
            <a:duotone>
              <a:schemeClr val="bg2">
                <a:shade val="45000"/>
                <a:satMod val="135000"/>
              </a:schemeClr>
              <a:prstClr val="white"/>
            </a:duotone>
          </a:blip>
          <a:stretch>
            <a:fillRect/>
          </a:stretch>
        </p:blipFill>
        <p:spPr>
          <a:xfrm>
            <a:off x="5714313" y="4055238"/>
            <a:ext cx="305351" cy="305351"/>
          </a:xfrm>
          <a:prstGeom prst="rect">
            <a:avLst/>
          </a:prstGeom>
          <a:noFill/>
          <a:ln>
            <a:noFill/>
          </a:ln>
        </p:spPr>
      </p:pic>
      <p:pic>
        <p:nvPicPr>
          <p:cNvPr id="16" name="Google Shape;216;p29">
            <a:extLst>
              <a:ext uri="{FF2B5EF4-FFF2-40B4-BE49-F238E27FC236}">
                <a16:creationId xmlns:a16="http://schemas.microsoft.com/office/drawing/2014/main" id="{4F40A6B9-0732-B242-9985-FDD91B03428C}"/>
              </a:ext>
            </a:extLst>
          </p:cNvPr>
          <p:cNvPicPr preferRelativeResize="0"/>
          <p:nvPr/>
        </p:nvPicPr>
        <p:blipFill>
          <a:blip r:embed="rId4">
            <a:alphaModFix/>
            <a:duotone>
              <a:schemeClr val="bg2">
                <a:shade val="45000"/>
                <a:satMod val="135000"/>
              </a:schemeClr>
              <a:prstClr val="white"/>
            </a:duotone>
          </a:blip>
          <a:stretch>
            <a:fillRect/>
          </a:stretch>
        </p:blipFill>
        <p:spPr>
          <a:xfrm>
            <a:off x="5714313" y="4466744"/>
            <a:ext cx="305351" cy="305351"/>
          </a:xfrm>
          <a:prstGeom prst="rect">
            <a:avLst/>
          </a:prstGeom>
          <a:noFill/>
          <a:ln>
            <a:noFill/>
          </a:ln>
        </p:spPr>
      </p:pic>
      <p:pic>
        <p:nvPicPr>
          <p:cNvPr id="17" name="Google Shape;216;p29">
            <a:extLst>
              <a:ext uri="{FF2B5EF4-FFF2-40B4-BE49-F238E27FC236}">
                <a16:creationId xmlns:a16="http://schemas.microsoft.com/office/drawing/2014/main" id="{F2B4A95F-6EBD-DA41-A5FD-E5ACBB6E4C6D}"/>
              </a:ext>
            </a:extLst>
          </p:cNvPr>
          <p:cNvPicPr preferRelativeResize="0"/>
          <p:nvPr/>
        </p:nvPicPr>
        <p:blipFill>
          <a:blip r:embed="rId4">
            <a:alphaModFix/>
            <a:duotone>
              <a:schemeClr val="bg2">
                <a:shade val="45000"/>
                <a:satMod val="135000"/>
              </a:schemeClr>
              <a:prstClr val="white"/>
            </a:duotone>
          </a:blip>
          <a:stretch>
            <a:fillRect/>
          </a:stretch>
        </p:blipFill>
        <p:spPr>
          <a:xfrm>
            <a:off x="5714313" y="5027624"/>
            <a:ext cx="305351" cy="305351"/>
          </a:xfrm>
          <a:prstGeom prst="rect">
            <a:avLst/>
          </a:prstGeom>
          <a:noFill/>
          <a:ln>
            <a:noFill/>
          </a:ln>
        </p:spPr>
      </p:pic>
      <p:pic>
        <p:nvPicPr>
          <p:cNvPr id="18" name="Google Shape;215;p29">
            <a:extLst>
              <a:ext uri="{FF2B5EF4-FFF2-40B4-BE49-F238E27FC236}">
                <a16:creationId xmlns:a16="http://schemas.microsoft.com/office/drawing/2014/main" id="{85591DDA-D7E0-3C44-B4CF-FF[redacted]}"/>
              </a:ext>
            </a:extLst>
          </p:cNvPr>
          <p:cNvPicPr preferRelativeResize="0"/>
          <p:nvPr/>
        </p:nvPicPr>
        <p:blipFill>
          <a:blip r:embed="rId3">
            <a:alphaModFix/>
            <a:lum bright="70000" contrast="-70000"/>
          </a:blip>
          <a:stretch>
            <a:fillRect/>
          </a:stretch>
        </p:blipFill>
        <p:spPr>
          <a:xfrm>
            <a:off x="5714313" y="3625727"/>
            <a:ext cx="305351" cy="305351"/>
          </a:xfrm>
          <a:prstGeom prst="rect">
            <a:avLst/>
          </a:prstGeom>
          <a:noFill/>
          <a:ln>
            <a:noFill/>
          </a:ln>
        </p:spPr>
      </p:pic>
      <p:pic>
        <p:nvPicPr>
          <p:cNvPr id="19" name="Google Shape;215;p29">
            <a:extLst>
              <a:ext uri="{FF2B5EF4-FFF2-40B4-BE49-F238E27FC236}">
                <a16:creationId xmlns:a16="http://schemas.microsoft.com/office/drawing/2014/main" id="{F6C4814F-C657-7041-8DF1-2918C9F18327}"/>
              </a:ext>
            </a:extLst>
          </p:cNvPr>
          <p:cNvPicPr preferRelativeResize="0"/>
          <p:nvPr/>
        </p:nvPicPr>
        <p:blipFill>
          <a:blip r:embed="rId3">
            <a:alphaModFix/>
            <a:lum bright="70000" contrast="-70000"/>
          </a:blip>
          <a:stretch>
            <a:fillRect/>
          </a:stretch>
        </p:blipFill>
        <p:spPr>
          <a:xfrm>
            <a:off x="7674321" y="4055238"/>
            <a:ext cx="305351" cy="305351"/>
          </a:xfrm>
          <a:prstGeom prst="rect">
            <a:avLst/>
          </a:prstGeom>
          <a:noFill/>
          <a:ln>
            <a:noFill/>
          </a:ln>
        </p:spPr>
      </p:pic>
      <p:pic>
        <p:nvPicPr>
          <p:cNvPr id="20" name="Google Shape;215;p29">
            <a:extLst>
              <a:ext uri="{FF2B5EF4-FFF2-40B4-BE49-F238E27FC236}">
                <a16:creationId xmlns:a16="http://schemas.microsoft.com/office/drawing/2014/main" id="{D7D24DD2-C5F8-954A-A48B-38D1653D8003}"/>
              </a:ext>
            </a:extLst>
          </p:cNvPr>
          <p:cNvPicPr preferRelativeResize="0"/>
          <p:nvPr/>
        </p:nvPicPr>
        <p:blipFill>
          <a:blip r:embed="rId3">
            <a:alphaModFix/>
            <a:lum bright="70000" contrast="-70000"/>
          </a:blip>
          <a:stretch>
            <a:fillRect/>
          </a:stretch>
        </p:blipFill>
        <p:spPr>
          <a:xfrm>
            <a:off x="7674321" y="4456356"/>
            <a:ext cx="305351" cy="305351"/>
          </a:xfrm>
          <a:prstGeom prst="rect">
            <a:avLst/>
          </a:prstGeom>
          <a:noFill/>
          <a:ln>
            <a:noFill/>
          </a:ln>
        </p:spPr>
      </p:pic>
      <p:pic>
        <p:nvPicPr>
          <p:cNvPr id="21" name="Google Shape;216;p29">
            <a:extLst>
              <a:ext uri="{FF2B5EF4-FFF2-40B4-BE49-F238E27FC236}">
                <a16:creationId xmlns:a16="http://schemas.microsoft.com/office/drawing/2014/main" id="{148AD170-3314-1C4C-9537-FE95A6AC749F}"/>
              </a:ext>
            </a:extLst>
          </p:cNvPr>
          <p:cNvPicPr preferRelativeResize="0"/>
          <p:nvPr/>
        </p:nvPicPr>
        <p:blipFill>
          <a:blip r:embed="rId4">
            <a:alphaModFix/>
            <a:duotone>
              <a:schemeClr val="bg2">
                <a:shade val="45000"/>
                <a:satMod val="135000"/>
              </a:schemeClr>
              <a:prstClr val="white"/>
            </a:duotone>
          </a:blip>
          <a:stretch>
            <a:fillRect/>
          </a:stretch>
        </p:blipFill>
        <p:spPr>
          <a:xfrm>
            <a:off x="7648686" y="3107632"/>
            <a:ext cx="305351" cy="305351"/>
          </a:xfrm>
          <a:prstGeom prst="rect">
            <a:avLst/>
          </a:prstGeom>
          <a:noFill/>
          <a:ln>
            <a:noFill/>
          </a:ln>
        </p:spPr>
      </p:pic>
      <p:pic>
        <p:nvPicPr>
          <p:cNvPr id="22" name="Google Shape;216;p29">
            <a:extLst>
              <a:ext uri="{FF2B5EF4-FFF2-40B4-BE49-F238E27FC236}">
                <a16:creationId xmlns:a16="http://schemas.microsoft.com/office/drawing/2014/main" id="{940BC61D-DFBD-A342-AE7D-8FF6C63C0C44}"/>
              </a:ext>
            </a:extLst>
          </p:cNvPr>
          <p:cNvPicPr preferRelativeResize="0"/>
          <p:nvPr/>
        </p:nvPicPr>
        <p:blipFill>
          <a:blip r:embed="rId4">
            <a:alphaModFix/>
            <a:duotone>
              <a:schemeClr val="bg2">
                <a:shade val="45000"/>
                <a:satMod val="135000"/>
              </a:schemeClr>
              <a:prstClr val="white"/>
            </a:duotone>
          </a:blip>
          <a:stretch>
            <a:fillRect/>
          </a:stretch>
        </p:blipFill>
        <p:spPr>
          <a:xfrm>
            <a:off x="7674321" y="3625727"/>
            <a:ext cx="305351" cy="305351"/>
          </a:xfrm>
          <a:prstGeom prst="rect">
            <a:avLst/>
          </a:prstGeom>
          <a:noFill/>
          <a:ln>
            <a:noFill/>
          </a:ln>
        </p:spPr>
      </p:pic>
      <p:pic>
        <p:nvPicPr>
          <p:cNvPr id="23" name="Google Shape;216;p29">
            <a:extLst>
              <a:ext uri="{FF2B5EF4-FFF2-40B4-BE49-F238E27FC236}">
                <a16:creationId xmlns:a16="http://schemas.microsoft.com/office/drawing/2014/main" id="{54A182E0-8AB9-454A-9065-8CA6BA1C5E5C}"/>
              </a:ext>
            </a:extLst>
          </p:cNvPr>
          <p:cNvPicPr preferRelativeResize="0"/>
          <p:nvPr/>
        </p:nvPicPr>
        <p:blipFill>
          <a:blip r:embed="rId4">
            <a:alphaModFix/>
            <a:duotone>
              <a:schemeClr val="bg2">
                <a:shade val="45000"/>
                <a:satMod val="135000"/>
              </a:schemeClr>
              <a:prstClr val="white"/>
            </a:duotone>
          </a:blip>
          <a:stretch>
            <a:fillRect/>
          </a:stretch>
        </p:blipFill>
        <p:spPr>
          <a:xfrm>
            <a:off x="7674321" y="5027624"/>
            <a:ext cx="305351" cy="305351"/>
          </a:xfrm>
          <a:prstGeom prst="rect">
            <a:avLst/>
          </a:prstGeom>
          <a:noFill/>
          <a:ln>
            <a:noFill/>
          </a:ln>
        </p:spPr>
      </p:pic>
      <p:pic>
        <p:nvPicPr>
          <p:cNvPr id="24" name="Google Shape;216;p29">
            <a:extLst>
              <a:ext uri="{FF2B5EF4-FFF2-40B4-BE49-F238E27FC236}">
                <a16:creationId xmlns:a16="http://schemas.microsoft.com/office/drawing/2014/main" id="{746E86D1-9C90-7B40-BD3D-4BE691DEF2AC}"/>
              </a:ext>
            </a:extLst>
          </p:cNvPr>
          <p:cNvPicPr preferRelativeResize="0"/>
          <p:nvPr/>
        </p:nvPicPr>
        <p:blipFill>
          <a:blip r:embed="rId4">
            <a:alphaModFix/>
            <a:duotone>
              <a:schemeClr val="bg2">
                <a:shade val="45000"/>
                <a:satMod val="135000"/>
              </a:schemeClr>
              <a:prstClr val="white"/>
            </a:duotone>
          </a:blip>
          <a:stretch>
            <a:fillRect/>
          </a:stretch>
        </p:blipFill>
        <p:spPr>
          <a:xfrm>
            <a:off x="9684657" y="5044557"/>
            <a:ext cx="305351" cy="305351"/>
          </a:xfrm>
          <a:prstGeom prst="rect">
            <a:avLst/>
          </a:prstGeom>
          <a:noFill/>
          <a:ln>
            <a:noFill/>
          </a:ln>
        </p:spPr>
      </p:pic>
      <p:pic>
        <p:nvPicPr>
          <p:cNvPr id="25" name="Google Shape;216;p29">
            <a:extLst>
              <a:ext uri="{FF2B5EF4-FFF2-40B4-BE49-F238E27FC236}">
                <a16:creationId xmlns:a16="http://schemas.microsoft.com/office/drawing/2014/main" id="{65EC56A0-E2B5-4941-B455-CD1CB03D4F1A}"/>
              </a:ext>
            </a:extLst>
          </p:cNvPr>
          <p:cNvPicPr preferRelativeResize="0"/>
          <p:nvPr/>
        </p:nvPicPr>
        <p:blipFill>
          <a:blip r:embed="rId4">
            <a:alphaModFix/>
            <a:duotone>
              <a:schemeClr val="bg2">
                <a:shade val="45000"/>
                <a:satMod val="135000"/>
              </a:schemeClr>
              <a:prstClr val="white"/>
            </a:duotone>
          </a:blip>
          <a:stretch>
            <a:fillRect/>
          </a:stretch>
        </p:blipFill>
        <p:spPr>
          <a:xfrm>
            <a:off x="9684656" y="3642660"/>
            <a:ext cx="305351" cy="305351"/>
          </a:xfrm>
          <a:prstGeom prst="rect">
            <a:avLst/>
          </a:prstGeom>
          <a:noFill/>
          <a:ln>
            <a:noFill/>
          </a:ln>
        </p:spPr>
      </p:pic>
      <p:pic>
        <p:nvPicPr>
          <p:cNvPr id="26" name="Google Shape;216;p29">
            <a:extLst>
              <a:ext uri="{FF2B5EF4-FFF2-40B4-BE49-F238E27FC236}">
                <a16:creationId xmlns:a16="http://schemas.microsoft.com/office/drawing/2014/main" id="{5002CCD6-A3D9-7346-964A-AFC700DD330B}"/>
              </a:ext>
            </a:extLst>
          </p:cNvPr>
          <p:cNvPicPr preferRelativeResize="0"/>
          <p:nvPr/>
        </p:nvPicPr>
        <p:blipFill>
          <a:blip r:embed="rId4">
            <a:alphaModFix/>
            <a:duotone>
              <a:schemeClr val="bg2">
                <a:shade val="45000"/>
                <a:satMod val="135000"/>
              </a:schemeClr>
              <a:prstClr val="white"/>
            </a:duotone>
          </a:blip>
          <a:stretch>
            <a:fillRect/>
          </a:stretch>
        </p:blipFill>
        <p:spPr>
          <a:xfrm>
            <a:off x="9684657" y="4072171"/>
            <a:ext cx="305351" cy="305351"/>
          </a:xfrm>
          <a:prstGeom prst="rect">
            <a:avLst/>
          </a:prstGeom>
          <a:noFill/>
          <a:ln>
            <a:noFill/>
          </a:ln>
        </p:spPr>
      </p:pic>
      <p:pic>
        <p:nvPicPr>
          <p:cNvPr id="27" name="Google Shape;215;p29">
            <a:extLst>
              <a:ext uri="{FF2B5EF4-FFF2-40B4-BE49-F238E27FC236}">
                <a16:creationId xmlns:a16="http://schemas.microsoft.com/office/drawing/2014/main" id="{A0E7BF37-27D5-3741-ADE8-E469B1041A12}"/>
              </a:ext>
            </a:extLst>
          </p:cNvPr>
          <p:cNvPicPr preferRelativeResize="0"/>
          <p:nvPr/>
        </p:nvPicPr>
        <p:blipFill>
          <a:blip r:embed="rId3">
            <a:alphaModFix/>
            <a:lum bright="70000" contrast="-70000"/>
          </a:blip>
          <a:stretch>
            <a:fillRect/>
          </a:stretch>
        </p:blipFill>
        <p:spPr>
          <a:xfrm>
            <a:off x="9684656" y="3167075"/>
            <a:ext cx="305351" cy="305351"/>
          </a:xfrm>
          <a:prstGeom prst="rect">
            <a:avLst/>
          </a:prstGeom>
          <a:noFill/>
          <a:ln>
            <a:noFill/>
          </a:ln>
        </p:spPr>
      </p:pic>
      <p:pic>
        <p:nvPicPr>
          <p:cNvPr id="28" name="Google Shape;215;p29">
            <a:extLst>
              <a:ext uri="{FF2B5EF4-FFF2-40B4-BE49-F238E27FC236}">
                <a16:creationId xmlns:a16="http://schemas.microsoft.com/office/drawing/2014/main" id="{60444719-8585-2D47-BBCC-93CB2E9C81B5}"/>
              </a:ext>
            </a:extLst>
          </p:cNvPr>
          <p:cNvPicPr preferRelativeResize="0"/>
          <p:nvPr/>
        </p:nvPicPr>
        <p:blipFill>
          <a:blip r:embed="rId3">
            <a:alphaModFix/>
            <a:lum bright="70000" contrast="-70000"/>
          </a:blip>
          <a:stretch>
            <a:fillRect/>
          </a:stretch>
        </p:blipFill>
        <p:spPr>
          <a:xfrm>
            <a:off x="9684657" y="4456956"/>
            <a:ext cx="305351" cy="305351"/>
          </a:xfrm>
          <a:prstGeom prst="rect">
            <a:avLst/>
          </a:prstGeom>
          <a:noFill/>
          <a:ln>
            <a:noFill/>
          </a:ln>
        </p:spPr>
      </p:pic>
      <p:sp>
        <p:nvSpPr>
          <p:cNvPr id="29" name="Slide Number Placeholder 1">
            <a:extLst>
              <a:ext uri="{FF2B5EF4-FFF2-40B4-BE49-F238E27FC236}">
                <a16:creationId xmlns:a16="http://schemas.microsoft.com/office/drawing/2014/main" id="{CBAB2CE6-64BF-F042-89C8-49819FF0D331}"/>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pPr/>
              <a:t>7</a:t>
            </a:fld>
            <a:endParaRPr lang="ar-LY" b="1" dirty="0"/>
          </a:p>
        </p:txBody>
      </p:sp>
    </p:spTree>
    <p:extLst>
      <p:ext uri="{BB962C8B-B14F-4D97-AF65-F5344CB8AC3E}">
        <p14:creationId xmlns:p14="http://schemas.microsoft.com/office/powerpoint/2010/main" val="[redacted]"/>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graphicFrame>
        <p:nvGraphicFramePr>
          <p:cNvPr id="300" name="Google Shape;300;p39"/>
          <p:cNvGraphicFramePr/>
          <p:nvPr>
            <p:extLst>
              <p:ext uri="{D42A27DB-BD31-4B8C-83A1-F6EECF244321}">
                <p14:modId xmlns:p14="http://schemas.microsoft.com/office/powerpoint/2010/main" val="[redacted]"/>
              </p:ext>
            </p:extLst>
          </p:nvPr>
        </p:nvGraphicFramePr>
        <p:xfrm>
          <a:off x="4965269" y="196628"/>
          <a:ext cx="6863566" cy="6188506"/>
        </p:xfrm>
        <a:graphic>
          <a:graphicData uri="http://schemas.openxmlformats.org/drawingml/2006/table">
            <a:tbl>
              <a:tblPr>
                <a:noFill/>
              </a:tblPr>
              <a:tblGrid>
                <a:gridCol w="1499331">
                  <a:extLst>
                    <a:ext uri="{9D8B030D-6E8A-4147-A177-3AD203B41FA5}">
                      <a16:colId xmlns:a16="http://schemas.microsoft.com/office/drawing/2014/main" val="20000"/>
                    </a:ext>
                  </a:extLst>
                </a:gridCol>
                <a:gridCol w="3054172">
                  <a:extLst>
                    <a:ext uri="{9D8B030D-6E8A-4147-A177-3AD203B41FA5}">
                      <a16:colId xmlns:a16="http://schemas.microsoft.com/office/drawing/2014/main" val="20001"/>
                    </a:ext>
                  </a:extLst>
                </a:gridCol>
                <a:gridCol w="2310063">
                  <a:extLst>
                    <a:ext uri="{9D8B030D-6E8A-4147-A177-3AD203B41FA5}">
                      <a16:colId xmlns:a16="http://schemas.microsoft.com/office/drawing/2014/main" val="20002"/>
                    </a:ext>
                  </a:extLst>
                </a:gridCol>
              </a:tblGrid>
              <a:tr h="236737">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Section</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Component</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Cost</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389777">
                <a:tc gridSpan="3">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CAPEX</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36737">
                <a:tc rowSpan="2">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Services</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Audit and Design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236737">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Installation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$4,000 - $5,000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r h="236737">
                <a:tc rowSpan="3">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Hardware</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Ambient Smart Sensors</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$1,500 - $2,500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4"/>
                  </a:ext>
                </a:extLst>
              </a:tr>
              <a:tr h="236737">
                <a:tc vMerge="1">
                  <a:txBody>
                    <a:bodyPr/>
                    <a:lstStyle/>
                    <a:p>
                      <a:endParaRPr lang="en-US"/>
                    </a:p>
                  </a:txBody>
                  <a:tcPr/>
                </a:tc>
                <a:tc>
                  <a:txBody>
                    <a:bodyPr/>
                    <a:lstStyle/>
                    <a:p>
                      <a:pPr marL="0" lvl="0" indent="0" algn="l" rtl="0">
                        <a:spcBef>
                          <a:spcPts val="0"/>
                        </a:spcBef>
                        <a:spcAft>
                          <a:spcPts val="0"/>
                        </a:spcAft>
                        <a:buNone/>
                      </a:pPr>
                      <a:r>
                        <a:rPr lang="en-GB" sz="1400" dirty="0">
                          <a:solidFill>
                            <a:schemeClr val="bg1"/>
                          </a:solidFill>
                          <a:latin typeface="Times New Roman"/>
                          <a:ea typeface="Times New Roman"/>
                          <a:cs typeface="Times New Roman"/>
                          <a:sym typeface="Times New Roman"/>
                        </a:rPr>
                        <a:t>Ambient Edge Nodes</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$2,500 - $4,500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5"/>
                  </a:ext>
                </a:extLst>
              </a:tr>
              <a:tr h="236737">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Ambient Control Unit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$4,000 - $6,000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6"/>
                  </a:ext>
                </a:extLst>
              </a:tr>
              <a:tr h="379348">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CAPEX SubTotal</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$12,000 - $18,000</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7"/>
                  </a:ext>
                </a:extLst>
              </a:tr>
              <a:tr h="389777">
                <a:tc gridSpan="3">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OPEX</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236737">
                <a:tc rowSpan="3">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Operations</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Secure Data Management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9"/>
                  </a:ext>
                </a:extLst>
              </a:tr>
              <a:tr h="236737">
                <a:tc vMerge="1">
                  <a:txBody>
                    <a:bodyPr/>
                    <a:lstStyle/>
                    <a:p>
                      <a:endParaRPr lang="en-US"/>
                    </a:p>
                  </a:txBody>
                  <a:tcPr/>
                </a:tc>
                <a:tc>
                  <a:txBody>
                    <a:bodyPr/>
                    <a:lstStyle/>
                    <a:p>
                      <a:pPr marL="0" lvl="0" indent="0" algn="l" rtl="0">
                        <a:spcBef>
                          <a:spcPts val="0"/>
                        </a:spcBef>
                        <a:spcAft>
                          <a:spcPts val="0"/>
                        </a:spcAft>
                        <a:buNone/>
                      </a:pPr>
                      <a:r>
                        <a:rPr lang="en-GB" sz="1400" dirty="0">
                          <a:solidFill>
                            <a:schemeClr val="bg1"/>
                          </a:solidFill>
                          <a:latin typeface="Times New Roman"/>
                          <a:ea typeface="Times New Roman"/>
                          <a:cs typeface="Times New Roman"/>
                          <a:sym typeface="Times New Roman"/>
                        </a:rPr>
                        <a:t>System Maintenance</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0"/>
                  </a:ext>
                </a:extLst>
              </a:tr>
              <a:tr h="236737">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Parts Replacement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1"/>
                  </a:ext>
                </a:extLst>
              </a:tr>
              <a:tr h="236737">
                <a:tc rowSpan="4">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Ambient Platform</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Facility Analytics</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2"/>
                  </a:ext>
                </a:extLst>
              </a:tr>
              <a:tr h="236737">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ACMV Optimization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3"/>
                  </a:ext>
                </a:extLst>
              </a:tr>
              <a:tr h="236737">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Predictive Maintenance</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4"/>
                  </a:ext>
                </a:extLst>
              </a:tr>
              <a:tr h="236737">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Yield Prediction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5"/>
                  </a:ext>
                </a:extLst>
              </a:tr>
              <a:tr h="379348">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OPEX SubTotal</a:t>
                      </a:r>
                      <a:endParaRPr sz="1400"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$0</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7"/>
                  </a:ext>
                </a:extLst>
              </a:tr>
              <a:tr h="596120">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Estimated Total Cost </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$12,000 - $18,000</a:t>
                      </a:r>
                      <a:endParaRPr sz="1400" b="1" dirty="0">
                        <a:solidFill>
                          <a:schemeClr val="bg1"/>
                        </a:solidFill>
                        <a:latin typeface="Times New Roman"/>
                        <a:ea typeface="Times New Roman"/>
                        <a:cs typeface="Times New Roman"/>
                        <a:sym typeface="Times New Roman"/>
                      </a:endParaRPr>
                    </a:p>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a:t>
                      </a:r>
                      <a:endParaRPr sz="1400" b="1" dirty="0">
                        <a:solidFill>
                          <a:schemeClr val="bg1"/>
                        </a:solidFill>
                        <a:latin typeface="Times New Roman"/>
                        <a:ea typeface="Times New Roman"/>
                        <a:cs typeface="Times New Roman"/>
                        <a:sym typeface="Times New Roman"/>
                      </a:endParaRPr>
                    </a:p>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OPEX value-sharing</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8"/>
                  </a:ext>
                </a:extLst>
              </a:tr>
            </a:tbl>
          </a:graphicData>
        </a:graphic>
      </p:graphicFrame>
      <p:sp>
        <p:nvSpPr>
          <p:cNvPr id="301" name="Google Shape;301;p39"/>
          <p:cNvSpPr/>
          <p:nvPr/>
        </p:nvSpPr>
        <p:spPr>
          <a:xfrm>
            <a:off x="0" y="0"/>
            <a:ext cx="4550400" cy="6858000"/>
          </a:xfrm>
          <a:prstGeom prst="rect">
            <a:avLst/>
          </a:prstGeom>
          <a:solidFill>
            <a:schemeClr val="accent1">
              <a:lumMod val="50000"/>
            </a:schemeClr>
          </a:solidFill>
          <a:ln>
            <a:noFill/>
          </a:ln>
        </p:spPr>
        <p:txBody>
          <a:bodyPr spcFirstLastPara="1" wrap="square" lIns="91433" tIns="45700" rIns="91433" bIns="45700" anchor="ctr" anchorCtr="0">
            <a:noAutofit/>
          </a:bodyPr>
          <a:lstStyle/>
          <a:p>
            <a:pPr algn="ctr">
              <a:buClr>
                <a:schemeClr val="lt1"/>
              </a:buClr>
              <a:buSzPts val="1400"/>
            </a:pPr>
            <a:endParaRPr sz="1867">
              <a:solidFill>
                <a:srgbClr val="FFFFFF"/>
              </a:solidFill>
              <a:latin typeface="Garamond"/>
              <a:ea typeface="Garamond"/>
              <a:cs typeface="Garamond"/>
              <a:sym typeface="Garamond"/>
            </a:endParaRPr>
          </a:p>
        </p:txBody>
      </p:sp>
      <p:sp>
        <p:nvSpPr>
          <p:cNvPr id="302" name="Google Shape;302;p39"/>
          <p:cNvSpPr txBox="1">
            <a:spLocks noGrp="1"/>
          </p:cNvSpPr>
          <p:nvPr>
            <p:ph type="title"/>
          </p:nvPr>
        </p:nvSpPr>
        <p:spPr>
          <a:xfrm>
            <a:off x="643467" y="640067"/>
            <a:ext cx="3455567" cy="5613200"/>
          </a:xfrm>
          <a:prstGeom prst="rect">
            <a:avLst/>
          </a:prstGeom>
          <a:noFill/>
          <a:ln>
            <a:noFill/>
          </a:ln>
        </p:spPr>
        <p:txBody>
          <a:bodyPr spcFirstLastPara="1" vert="horz" wrap="square" lIns="91433" tIns="45700" rIns="91433" bIns="45700" rtlCol="0" anchor="ctr" anchorCtr="0">
            <a:noAutofit/>
          </a:bodyPr>
          <a:lstStyle/>
          <a:p>
            <a:pPr>
              <a:buClr>
                <a:srgbClr val="FFFFFF"/>
              </a:buClr>
              <a:buSzPts val="3300"/>
            </a:pPr>
            <a:r>
              <a:rPr lang="en-GB" sz="3467" dirty="0">
                <a:solidFill>
                  <a:srgbClr val="FFFFFF"/>
                </a:solidFill>
                <a:latin typeface="Garamond"/>
                <a:ea typeface="Garamond"/>
                <a:cs typeface="Garamond"/>
                <a:sym typeface="Garamond"/>
              </a:rPr>
              <a:t>Innovative revenue model  leverages value-sharing of additional savings and revenues</a:t>
            </a:r>
            <a:endParaRPr sz="3467" dirty="0">
              <a:latin typeface="Garamond"/>
              <a:ea typeface="Garamond"/>
              <a:cs typeface="Garamond"/>
              <a:sym typeface="Garamond"/>
            </a:endParaRPr>
          </a:p>
        </p:txBody>
      </p:sp>
      <p:sp>
        <p:nvSpPr>
          <p:cNvPr id="5" name="Slide Number Placeholder 1">
            <a:extLst>
              <a:ext uri="{FF2B5EF4-FFF2-40B4-BE49-F238E27FC236}">
                <a16:creationId xmlns:a16="http://schemas.microsoft.com/office/drawing/2014/main" id="{8CC4D947-CE2E-CE43-8E2D-5216A8F85FBE}"/>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pPr/>
              <a:t>8</a:t>
            </a:fld>
            <a:endParaRPr lang="ar-LY" b="1" dirty="0"/>
          </a:p>
        </p:txBody>
      </p:sp>
    </p:spTree>
    <p:extLst>
      <p:ext uri="{BB962C8B-B14F-4D97-AF65-F5344CB8AC3E}">
        <p14:creationId xmlns:p14="http://schemas.microsoft.com/office/powerpoint/2010/main" val="1488476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A88F81B-CE88-4043-AC71-DE8F38C71B98}"/>
              </a:ext>
            </a:extLst>
          </p:cNvPr>
          <p:cNvSpPr>
            <a:spLocks noGrp="1"/>
          </p:cNvSpPr>
          <p:nvPr>
            <p:ph type="title"/>
          </p:nvPr>
        </p:nvSpPr>
        <p:spPr/>
        <p:txBody>
          <a:bodyPr/>
          <a:lstStyle/>
          <a:p>
            <a:r>
              <a:rPr lang="en-US" dirty="0"/>
              <a:t>Pilot project planned for January 2021</a:t>
            </a:r>
          </a:p>
        </p:txBody>
      </p:sp>
      <p:pic>
        <p:nvPicPr>
          <p:cNvPr id="47" name="Picture 46" descr="Text, table&#10;&#10;Description automatically generated">
            <a:extLst>
              <a:ext uri="{FF2B5EF4-FFF2-40B4-BE49-F238E27FC236}">
                <a16:creationId xmlns:a16="http://schemas.microsoft.com/office/drawing/2014/main" id="{502F3177-08F6-BB42-8DE1-5AC73297C3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6069" y="1837456"/>
            <a:ext cx="3472244" cy="4454149"/>
          </a:xfrm>
          <a:prstGeom prst="rect">
            <a:avLst/>
          </a:prstGeom>
        </p:spPr>
      </p:pic>
      <p:pic>
        <p:nvPicPr>
          <p:cNvPr id="49" name="Picture 48" descr="Text, application&#10;&#10;Description automatically generated">
            <a:extLst>
              <a:ext uri="{FF2B5EF4-FFF2-40B4-BE49-F238E27FC236}">
                <a16:creationId xmlns:a16="http://schemas.microsoft.com/office/drawing/2014/main" id="{940A45B0-4F23-4E46-8390-528DEA0935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9178" y="1690688"/>
            <a:ext cx="3448159" cy="4440485"/>
          </a:xfrm>
          <a:prstGeom prst="rect">
            <a:avLst/>
          </a:prstGeom>
        </p:spPr>
      </p:pic>
      <p:pic>
        <p:nvPicPr>
          <p:cNvPr id="51" name="Picture 50" descr="Graphical user interface, text, application&#10;&#10;Description automatically generated">
            <a:extLst>
              <a:ext uri="{FF2B5EF4-FFF2-40B4-BE49-F238E27FC236}">
                <a16:creationId xmlns:a16="http://schemas.microsoft.com/office/drawing/2014/main" id="{F499B3E2-31E3-FA42-B5DD-7C636C4293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2" y="1543922"/>
            <a:ext cx="3449751" cy="4440485"/>
          </a:xfrm>
          <a:prstGeom prst="rect">
            <a:avLst/>
          </a:prstGeom>
        </p:spPr>
      </p:pic>
      <p:sp>
        <p:nvSpPr>
          <p:cNvPr id="9" name="Slide Number Placeholder 1">
            <a:extLst>
              <a:ext uri="{FF2B5EF4-FFF2-40B4-BE49-F238E27FC236}">
                <a16:creationId xmlns:a16="http://schemas.microsoft.com/office/drawing/2014/main" id="{DBC212AB-D923-4543-9CD9-9FDCCB1D6193}"/>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pPr/>
              <a:t>9</a:t>
            </a:fld>
            <a:endParaRPr lang="ar-LY" b="1" dirty="0"/>
          </a:p>
        </p:txBody>
      </p:sp>
      <p:sp>
        <p:nvSpPr>
          <p:cNvPr id="2" name="TextBox 1">
            <a:extLst>
              <a:ext uri="{FF2B5EF4-FFF2-40B4-BE49-F238E27FC236}">
                <a16:creationId xmlns:a16="http://schemas.microsoft.com/office/drawing/2014/main" id="{ED2795B0-35B3-1D40-A27B-D18CC3F07C66}"/>
              </a:ext>
            </a:extLst>
          </p:cNvPr>
          <p:cNvSpPr txBox="1"/>
          <p:nvPr/>
        </p:nvSpPr>
        <p:spPr>
          <a:xfrm>
            <a:off x="6096000" y="2090172"/>
            <a:ext cx="5603502" cy="2677656"/>
          </a:xfrm>
          <a:prstGeom prst="rect">
            <a:avLst/>
          </a:prstGeom>
          <a:noFill/>
        </p:spPr>
        <p:txBody>
          <a:bodyPr wrap="square" rtlCol="0">
            <a:spAutoFit/>
          </a:bodyPr>
          <a:lstStyle/>
          <a:p>
            <a:r>
              <a:rPr lang="en-US" sz="2400" b="1" dirty="0">
                <a:solidFill>
                  <a:schemeClr val="bg1"/>
                </a:solidFill>
              </a:rPr>
              <a:t>Customer Traction:</a:t>
            </a:r>
            <a:endParaRPr lang="en-US" sz="2400" dirty="0">
              <a:solidFill>
                <a:schemeClr val="bg1"/>
              </a:solidFill>
            </a:endParaRPr>
          </a:p>
          <a:p>
            <a:pPr marL="457200" indent="-457200">
              <a:buFont typeface="+mj-lt"/>
              <a:buAutoNum type="arabicPeriod"/>
            </a:pPr>
            <a:r>
              <a:rPr lang="en-US" sz="2400" dirty="0">
                <a:solidFill>
                  <a:schemeClr val="bg1"/>
                </a:solidFill>
              </a:rPr>
              <a:t>Signed an MoU with a farm operator in Singapore</a:t>
            </a:r>
          </a:p>
          <a:p>
            <a:pPr marL="457200" indent="-457200">
              <a:buFont typeface="+mj-lt"/>
              <a:buAutoNum type="arabicPeriod"/>
            </a:pPr>
            <a:r>
              <a:rPr lang="en-US" sz="2400" dirty="0">
                <a:solidFill>
                  <a:schemeClr val="bg1"/>
                </a:solidFill>
              </a:rPr>
              <a:t>In conversation with two more leading farm operators</a:t>
            </a:r>
          </a:p>
          <a:p>
            <a:pPr marL="457200" indent="-457200">
              <a:buFont typeface="+mj-lt"/>
              <a:buAutoNum type="arabicPeriod"/>
            </a:pPr>
            <a:r>
              <a:rPr lang="en-US" sz="2400" dirty="0">
                <a:solidFill>
                  <a:schemeClr val="bg1"/>
                </a:solidFill>
              </a:rPr>
              <a:t>Identified gap for similar solution in the healthcare sector</a:t>
            </a:r>
          </a:p>
        </p:txBody>
      </p:sp>
    </p:spTree>
    <p:extLst>
      <p:ext uri="{BB962C8B-B14F-4D97-AF65-F5344CB8AC3E}">
        <p14:creationId xmlns:p14="http://schemas.microsoft.com/office/powerpoint/2010/main" val="1575612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hart 7" title="Chart">
            <a:extLst>
              <a:ext uri="{FF2B5EF4-FFF2-40B4-BE49-F238E27FC236}">
                <a16:creationId xmlns:a16="http://schemas.microsoft.com/office/drawing/2014/main" id="{00000000-0008-0000-0700-000002000000}"/>
              </a:ext>
            </a:extLst>
          </p:cNvPr>
          <p:cNvGraphicFramePr>
            <a:graphicFrameLocks/>
          </p:cNvGraphicFramePr>
          <p:nvPr>
            <p:extLst>
              <p:ext uri="{D42A27DB-BD31-4B8C-83A1-F6EECF244321}">
                <p14:modId xmlns:p14="http://schemas.microsoft.com/office/powerpoint/2010/main" val="[redacted]"/>
              </p:ext>
            </p:extLst>
          </p:nvPr>
        </p:nvGraphicFramePr>
        <p:xfrm>
          <a:off x="838200" y="1534398"/>
          <a:ext cx="10592978" cy="4958475"/>
        </p:xfrm>
        <a:graphic>
          <a:graphicData uri="http://schemas.openxmlformats.org/drawingml/2006/chart">
            <c:chart xmlns:c="http://schemas.openxmlformats.org/drawingml/2006/chart" xmlns:r="http://schemas.openxmlformats.org/officeDocument/2006/relationships" r:id="rId3"/>
          </a:graphicData>
        </a:graphic>
      </p:graphicFrame>
      <p:sp>
        <p:nvSpPr>
          <p:cNvPr id="7" name="Title 6">
            <a:extLst>
              <a:ext uri="{FF2B5EF4-FFF2-40B4-BE49-F238E27FC236}">
                <a16:creationId xmlns:a16="http://schemas.microsoft.com/office/drawing/2014/main" id="{2C465E40-4D76-5449-9812-A139FDCBED7F}"/>
              </a:ext>
            </a:extLst>
          </p:cNvPr>
          <p:cNvSpPr>
            <a:spLocks noGrp="1"/>
          </p:cNvSpPr>
          <p:nvPr>
            <p:ph type="title"/>
          </p:nvPr>
        </p:nvSpPr>
        <p:spPr/>
        <p:txBody>
          <a:bodyPr/>
          <a:lstStyle/>
          <a:p>
            <a:r>
              <a:rPr lang="en-US" dirty="0"/>
              <a:t>Raising $650k with break-even in year 3</a:t>
            </a:r>
          </a:p>
        </p:txBody>
      </p:sp>
      <p:sp>
        <p:nvSpPr>
          <p:cNvPr id="2" name="Slide Number Placeholder 1">
            <a:extLst>
              <a:ext uri="{FF2B5EF4-FFF2-40B4-BE49-F238E27FC236}">
                <a16:creationId xmlns:a16="http://schemas.microsoft.com/office/drawing/2014/main" id="{84411928-A986-3548-A79E-056387845340}"/>
              </a:ext>
            </a:extLst>
          </p:cNvPr>
          <p:cNvSpPr>
            <a:spLocks noGrp="1"/>
          </p:cNvSpPr>
          <p:nvPr>
            <p:ph type="sldNum" sz="quarter" idx="4"/>
          </p:nvPr>
        </p:nvSpPr>
        <p:spPr/>
        <p:txBody>
          <a:bodyPr/>
          <a:lstStyle/>
          <a:p>
            <a:fld id="{9312FC69-CE3E-4598-98C1-B119891192DE}" type="slidenum">
              <a:rPr lang="ar-LY" smtClean="0"/>
              <a:pPr/>
              <a:t>10</a:t>
            </a:fld>
            <a:endParaRPr lang="ar-LY" b="1" dirty="0"/>
          </a:p>
        </p:txBody>
      </p:sp>
      <p:sp>
        <p:nvSpPr>
          <p:cNvPr id="11" name="TextBox 10">
            <a:extLst>
              <a:ext uri="{FF2B5EF4-FFF2-40B4-BE49-F238E27FC236}">
                <a16:creationId xmlns:a16="http://schemas.microsoft.com/office/drawing/2014/main" id="{68A8089F-E2E9-6242-B5E4-9B658A0EB82E}"/>
              </a:ext>
            </a:extLst>
          </p:cNvPr>
          <p:cNvSpPr txBox="1"/>
          <p:nvPr/>
        </p:nvSpPr>
        <p:spPr>
          <a:xfrm>
            <a:off x="8891163" y="1690690"/>
            <a:ext cx="2182074" cy="923330"/>
          </a:xfrm>
          <a:prstGeom prst="rect">
            <a:avLst/>
          </a:prstGeom>
          <a:noFill/>
        </p:spPr>
        <p:txBody>
          <a:bodyPr wrap="square" rtlCol="0">
            <a:spAutoFit/>
          </a:bodyPr>
          <a:lstStyle/>
          <a:p>
            <a:r>
              <a:rPr lang="en-US" dirty="0">
                <a:solidFill>
                  <a:schemeClr val="bg1"/>
                </a:solidFill>
              </a:rPr>
              <a:t>Funding Gap: $500k</a:t>
            </a:r>
          </a:p>
          <a:p>
            <a:r>
              <a:rPr lang="en-US" dirty="0">
                <a:solidFill>
                  <a:schemeClr val="bg1"/>
                </a:solidFill>
              </a:rPr>
              <a:t>Valuation: $8.5M</a:t>
            </a:r>
          </a:p>
          <a:p>
            <a:r>
              <a:rPr lang="en-US" dirty="0">
                <a:solidFill>
                  <a:schemeClr val="bg1"/>
                </a:solidFill>
              </a:rPr>
              <a:t>Discount Rate: 10%</a:t>
            </a:r>
          </a:p>
        </p:txBody>
      </p:sp>
    </p:spTree>
    <p:extLst>
      <p:ext uri="{BB962C8B-B14F-4D97-AF65-F5344CB8AC3E}">
        <p14:creationId xmlns:p14="http://schemas.microsoft.com/office/powerpoint/2010/main" val="[redacted]"/>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3"/>
          <p:cNvSpPr/>
          <p:nvPr/>
        </p:nvSpPr>
        <p:spPr>
          <a:xfrm>
            <a:off x="10073724"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58" name="Google Shape;258;p33"/>
          <p:cNvSpPr/>
          <p:nvPr/>
        </p:nvSpPr>
        <p:spPr>
          <a:xfrm>
            <a:off x="8716057" y="1653385"/>
            <a:ext cx="1357600" cy="4518800"/>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59" name="Google Shape;259;p33"/>
          <p:cNvSpPr/>
          <p:nvPr/>
        </p:nvSpPr>
        <p:spPr>
          <a:xfrm>
            <a:off x="7358391"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0" name="Google Shape;260;p33"/>
          <p:cNvSpPr/>
          <p:nvPr/>
        </p:nvSpPr>
        <p:spPr>
          <a:xfrm>
            <a:off x="6000725" y="1653385"/>
            <a:ext cx="1357600" cy="4518800"/>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1" name="Google Shape;261;p33"/>
          <p:cNvSpPr/>
          <p:nvPr/>
        </p:nvSpPr>
        <p:spPr>
          <a:xfrm>
            <a:off x="4643059"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2" name="Google Shape;262;p33"/>
          <p:cNvSpPr/>
          <p:nvPr/>
        </p:nvSpPr>
        <p:spPr>
          <a:xfrm>
            <a:off x="3285393" y="1653385"/>
            <a:ext cx="1357600" cy="4518794"/>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dirty="0">
              <a:solidFill>
                <a:schemeClr val="bg1"/>
              </a:solidFill>
              <a:latin typeface="Lato Light"/>
              <a:ea typeface="Lato Light"/>
              <a:cs typeface="Lato Light"/>
              <a:sym typeface="Lato Light"/>
            </a:endParaRPr>
          </a:p>
        </p:txBody>
      </p:sp>
      <p:sp>
        <p:nvSpPr>
          <p:cNvPr id="263" name="Google Shape;263;p33"/>
          <p:cNvSpPr txBox="1"/>
          <p:nvPr/>
        </p:nvSpPr>
        <p:spPr>
          <a:xfrm>
            <a:off x="2982240" y="332403"/>
            <a:ext cx="6227519" cy="575600"/>
          </a:xfrm>
          <a:prstGeom prst="rect">
            <a:avLst/>
          </a:prstGeom>
          <a:noFill/>
          <a:ln>
            <a:noFill/>
          </a:ln>
        </p:spPr>
        <p:txBody>
          <a:bodyPr spcFirstLastPara="1" wrap="square" lIns="45733" tIns="22867" rIns="45733" bIns="22867" anchor="t" anchorCtr="0">
            <a:noAutofit/>
          </a:bodyPr>
          <a:lstStyle/>
          <a:p>
            <a:pPr algn="ctr"/>
            <a:r>
              <a:rPr lang="en-GB" sz="3067" b="1" dirty="0">
                <a:solidFill>
                  <a:schemeClr val="bg1"/>
                </a:solidFill>
                <a:latin typeface="Poppins"/>
                <a:ea typeface="Poppins"/>
                <a:cs typeface="Poppins"/>
                <a:sym typeface="Poppins"/>
              </a:rPr>
              <a:t>MILESTONES</a:t>
            </a:r>
            <a:endParaRPr sz="667" dirty="0">
              <a:solidFill>
                <a:schemeClr val="bg1"/>
              </a:solidFill>
            </a:endParaRPr>
          </a:p>
        </p:txBody>
      </p:sp>
      <p:cxnSp>
        <p:nvCxnSpPr>
          <p:cNvPr id="264" name="Google Shape;264;p33"/>
          <p:cNvCxnSpPr/>
          <p:nvPr/>
        </p:nvCxnSpPr>
        <p:spPr>
          <a:xfrm>
            <a:off x="760611" y="3255619"/>
            <a:ext cx="10670800" cy="0"/>
          </a:xfrm>
          <a:prstGeom prst="straightConnector1">
            <a:avLst/>
          </a:prstGeom>
          <a:noFill/>
          <a:ln w="38100" cap="flat" cmpd="sng">
            <a:solidFill>
              <a:schemeClr val="bg1"/>
            </a:solidFill>
            <a:prstDash val="solid"/>
            <a:miter lim="800000"/>
            <a:headEnd type="none" w="sm" len="sm"/>
            <a:tailEnd type="none" w="sm" len="sm"/>
          </a:ln>
        </p:spPr>
      </p:cxnSp>
      <p:cxnSp>
        <p:nvCxnSpPr>
          <p:cNvPr id="265" name="Google Shape;265;p33"/>
          <p:cNvCxnSpPr/>
          <p:nvPr/>
        </p:nvCxnSpPr>
        <p:spPr>
          <a:xfrm>
            <a:off x="760611" y="4727163"/>
            <a:ext cx="10670800" cy="0"/>
          </a:xfrm>
          <a:prstGeom prst="straightConnector1">
            <a:avLst/>
          </a:prstGeom>
          <a:noFill/>
          <a:ln w="38100" cap="flat" cmpd="sng">
            <a:solidFill>
              <a:schemeClr val="bg1"/>
            </a:solidFill>
            <a:prstDash val="solid"/>
            <a:miter lim="800000"/>
            <a:headEnd type="none" w="sm" len="sm"/>
            <a:tailEnd type="none" w="sm" len="sm"/>
          </a:ln>
        </p:spPr>
      </p:cxnSp>
      <p:cxnSp>
        <p:nvCxnSpPr>
          <p:cNvPr id="266" name="Google Shape;266;p33"/>
          <p:cNvCxnSpPr/>
          <p:nvPr/>
        </p:nvCxnSpPr>
        <p:spPr>
          <a:xfrm>
            <a:off x="760611" y="1663700"/>
            <a:ext cx="10670800" cy="0"/>
          </a:xfrm>
          <a:prstGeom prst="straightConnector1">
            <a:avLst/>
          </a:prstGeom>
          <a:noFill/>
          <a:ln w="38100" cap="flat" cmpd="sng">
            <a:solidFill>
              <a:schemeClr val="bg1"/>
            </a:solidFill>
            <a:prstDash val="solid"/>
            <a:miter lim="800000"/>
            <a:headEnd type="none" w="sm" len="sm"/>
            <a:tailEnd type="none" w="sm" len="sm"/>
          </a:ln>
        </p:spPr>
      </p:cxnSp>
      <p:sp>
        <p:nvSpPr>
          <p:cNvPr id="267" name="Google Shape;267;p33"/>
          <p:cNvSpPr/>
          <p:nvPr/>
        </p:nvSpPr>
        <p:spPr>
          <a:xfrm>
            <a:off x="3676432"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8" name="Google Shape;268;p33"/>
          <p:cNvSpPr txBox="1"/>
          <p:nvPr/>
        </p:nvSpPr>
        <p:spPr>
          <a:xfrm>
            <a:off x="3769731" y="1422552"/>
            <a:ext cx="3892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Dec</a:t>
            </a:r>
            <a:endParaRPr sz="1067">
              <a:solidFill>
                <a:schemeClr val="bg1"/>
              </a:solidFill>
            </a:endParaRPr>
          </a:p>
        </p:txBody>
      </p:sp>
      <p:sp>
        <p:nvSpPr>
          <p:cNvPr id="269" name="Google Shape;269;p33"/>
          <p:cNvSpPr/>
          <p:nvPr/>
        </p:nvSpPr>
        <p:spPr>
          <a:xfrm>
            <a:off x="5034097"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0" name="Google Shape;270;p33"/>
          <p:cNvSpPr txBox="1"/>
          <p:nvPr/>
        </p:nvSpPr>
        <p:spPr>
          <a:xfrm>
            <a:off x="5134211" y="1422552"/>
            <a:ext cx="3752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Jan</a:t>
            </a:r>
            <a:endParaRPr sz="533">
              <a:solidFill>
                <a:schemeClr val="bg1"/>
              </a:solidFill>
            </a:endParaRPr>
          </a:p>
        </p:txBody>
      </p:sp>
      <p:sp>
        <p:nvSpPr>
          <p:cNvPr id="271" name="Google Shape;271;p33"/>
          <p:cNvSpPr/>
          <p:nvPr/>
        </p:nvSpPr>
        <p:spPr>
          <a:xfrm>
            <a:off x="6391764"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2" name="Google Shape;272;p33"/>
          <p:cNvSpPr txBox="1"/>
          <p:nvPr/>
        </p:nvSpPr>
        <p:spPr>
          <a:xfrm>
            <a:off x="6477847" y="1422552"/>
            <a:ext cx="4036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Feb</a:t>
            </a:r>
            <a:endParaRPr sz="1067">
              <a:solidFill>
                <a:schemeClr val="bg1"/>
              </a:solidFill>
            </a:endParaRPr>
          </a:p>
        </p:txBody>
      </p:sp>
      <p:sp>
        <p:nvSpPr>
          <p:cNvPr id="273" name="Google Shape;273;p33"/>
          <p:cNvSpPr/>
          <p:nvPr/>
        </p:nvSpPr>
        <p:spPr>
          <a:xfrm>
            <a:off x="7749429"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4" name="Google Shape;274;p33"/>
          <p:cNvSpPr txBox="1"/>
          <p:nvPr/>
        </p:nvSpPr>
        <p:spPr>
          <a:xfrm>
            <a:off x="7849141" y="1422552"/>
            <a:ext cx="3760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Mar</a:t>
            </a:r>
            <a:endParaRPr sz="1067">
              <a:solidFill>
                <a:schemeClr val="bg1"/>
              </a:solidFill>
            </a:endParaRPr>
          </a:p>
        </p:txBody>
      </p:sp>
      <p:sp>
        <p:nvSpPr>
          <p:cNvPr id="275" name="Google Shape;275;p33"/>
          <p:cNvSpPr/>
          <p:nvPr/>
        </p:nvSpPr>
        <p:spPr>
          <a:xfrm>
            <a:off x="9107096"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6" name="Google Shape;276;p33"/>
          <p:cNvSpPr txBox="1"/>
          <p:nvPr/>
        </p:nvSpPr>
        <p:spPr>
          <a:xfrm>
            <a:off x="9177545" y="1422552"/>
            <a:ext cx="4348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Apr</a:t>
            </a:r>
            <a:endParaRPr sz="1067">
              <a:solidFill>
                <a:schemeClr val="bg1"/>
              </a:solidFill>
            </a:endParaRPr>
          </a:p>
        </p:txBody>
      </p:sp>
      <p:sp>
        <p:nvSpPr>
          <p:cNvPr id="277" name="Google Shape;277;p33"/>
          <p:cNvSpPr/>
          <p:nvPr/>
        </p:nvSpPr>
        <p:spPr>
          <a:xfrm>
            <a:off x="10464761"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8" name="Google Shape;278;p33"/>
          <p:cNvSpPr txBox="1"/>
          <p:nvPr/>
        </p:nvSpPr>
        <p:spPr>
          <a:xfrm>
            <a:off x="10550761" y="1391851"/>
            <a:ext cx="403600" cy="2924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May</a:t>
            </a:r>
            <a:endParaRPr sz="1067">
              <a:solidFill>
                <a:schemeClr val="bg1"/>
              </a:solidFill>
            </a:endParaRPr>
          </a:p>
        </p:txBody>
      </p:sp>
      <p:sp>
        <p:nvSpPr>
          <p:cNvPr id="279" name="Google Shape;279;p33"/>
          <p:cNvSpPr txBox="1"/>
          <p:nvPr/>
        </p:nvSpPr>
        <p:spPr>
          <a:xfrm>
            <a:off x="1412033" y="2685479"/>
            <a:ext cx="1222000" cy="2924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Software</a:t>
            </a:r>
            <a:endParaRPr sz="667">
              <a:solidFill>
                <a:schemeClr val="bg1"/>
              </a:solidFill>
            </a:endParaRPr>
          </a:p>
        </p:txBody>
      </p:sp>
      <p:sp>
        <p:nvSpPr>
          <p:cNvPr id="280" name="Google Shape;280;p33"/>
          <p:cNvSpPr txBox="1"/>
          <p:nvPr/>
        </p:nvSpPr>
        <p:spPr>
          <a:xfrm>
            <a:off x="1131033" y="5672103"/>
            <a:ext cx="1784000" cy="5756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Machine Learning</a:t>
            </a:r>
            <a:endParaRPr sz="667">
              <a:solidFill>
                <a:schemeClr val="bg1"/>
              </a:solidFill>
            </a:endParaRPr>
          </a:p>
        </p:txBody>
      </p:sp>
      <p:sp>
        <p:nvSpPr>
          <p:cNvPr id="281" name="Google Shape;281;p33"/>
          <p:cNvSpPr txBox="1"/>
          <p:nvPr/>
        </p:nvSpPr>
        <p:spPr>
          <a:xfrm>
            <a:off x="1177633" y="4206484"/>
            <a:ext cx="1690800" cy="2924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Hardware</a:t>
            </a:r>
            <a:endParaRPr sz="667">
              <a:solidFill>
                <a:schemeClr val="bg1"/>
              </a:solidFill>
            </a:endParaRPr>
          </a:p>
        </p:txBody>
      </p:sp>
      <p:sp>
        <p:nvSpPr>
          <p:cNvPr id="282" name="Google Shape;282;p33"/>
          <p:cNvSpPr/>
          <p:nvPr/>
        </p:nvSpPr>
        <p:spPr>
          <a:xfrm>
            <a:off x="3322925"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UX/UI Design</a:t>
            </a:r>
            <a:endParaRPr sz="2400">
              <a:solidFill>
                <a:schemeClr val="bg1"/>
              </a:solidFill>
              <a:latin typeface="Lato Light"/>
              <a:ea typeface="Lato Light"/>
              <a:cs typeface="Lato Light"/>
              <a:sym typeface="Lato Light"/>
            </a:endParaRPr>
          </a:p>
        </p:txBody>
      </p:sp>
      <p:sp>
        <p:nvSpPr>
          <p:cNvPr id="283" name="Google Shape;283;p33"/>
          <p:cNvSpPr/>
          <p:nvPr/>
        </p:nvSpPr>
        <p:spPr>
          <a:xfrm>
            <a:off x="7395923" y="2785095"/>
            <a:ext cx="1282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User Login</a:t>
            </a:r>
            <a:endParaRPr sz="2400">
              <a:solidFill>
                <a:schemeClr val="bg1"/>
              </a:solidFill>
              <a:latin typeface="Lato Light"/>
              <a:ea typeface="Lato Light"/>
              <a:cs typeface="Lato Light"/>
              <a:sym typeface="Lato Light"/>
            </a:endParaRPr>
          </a:p>
        </p:txBody>
      </p:sp>
      <p:sp>
        <p:nvSpPr>
          <p:cNvPr id="284" name="Google Shape;284;p33"/>
          <p:cNvSpPr/>
          <p:nvPr/>
        </p:nvSpPr>
        <p:spPr>
          <a:xfrm>
            <a:off x="3322925" y="3377439"/>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Specifications</a:t>
            </a:r>
            <a:endParaRPr sz="2400">
              <a:solidFill>
                <a:schemeClr val="bg1"/>
              </a:solidFill>
              <a:latin typeface="Lato Light"/>
              <a:ea typeface="Lato Light"/>
              <a:cs typeface="Lato Light"/>
              <a:sym typeface="Lato Light"/>
            </a:endParaRPr>
          </a:p>
        </p:txBody>
      </p:sp>
      <p:sp>
        <p:nvSpPr>
          <p:cNvPr id="285" name="Google Shape;285;p33"/>
          <p:cNvSpPr/>
          <p:nvPr/>
        </p:nvSpPr>
        <p:spPr>
          <a:xfrm>
            <a:off x="4680500" y="3377433"/>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Clr>
                <a:schemeClr val="lt1"/>
              </a:buClr>
              <a:buSzPts val="800"/>
            </a:pPr>
            <a:r>
              <a:rPr lang="en-GB" sz="1067">
                <a:solidFill>
                  <a:schemeClr val="bg1"/>
                </a:solidFill>
                <a:latin typeface="Lato"/>
                <a:ea typeface="Lato"/>
                <a:cs typeface="Lato"/>
                <a:sym typeface="Lato"/>
              </a:rPr>
              <a:t>Sourcing</a:t>
            </a:r>
            <a:endParaRPr sz="1867">
              <a:solidFill>
                <a:schemeClr val="bg1"/>
              </a:solidFill>
              <a:latin typeface="Lato Light"/>
              <a:ea typeface="Lato Light"/>
              <a:cs typeface="Lato Light"/>
              <a:sym typeface="Lato Light"/>
            </a:endParaRPr>
          </a:p>
        </p:txBody>
      </p:sp>
      <p:sp>
        <p:nvSpPr>
          <p:cNvPr id="286" name="Google Shape;286;p33"/>
          <p:cNvSpPr/>
          <p:nvPr/>
        </p:nvSpPr>
        <p:spPr>
          <a:xfrm>
            <a:off x="3322925" y="4849885"/>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Database Design</a:t>
            </a:r>
            <a:endParaRPr sz="2400">
              <a:solidFill>
                <a:schemeClr val="bg1"/>
              </a:solidFill>
              <a:latin typeface="Lato Light"/>
              <a:ea typeface="Lato Light"/>
              <a:cs typeface="Lato Light"/>
              <a:sym typeface="Lato Light"/>
            </a:endParaRPr>
          </a:p>
        </p:txBody>
      </p:sp>
      <p:sp>
        <p:nvSpPr>
          <p:cNvPr id="287" name="Google Shape;287;p33"/>
          <p:cNvSpPr/>
          <p:nvPr/>
        </p:nvSpPr>
        <p:spPr>
          <a:xfrm>
            <a:off x="3322723" y="2361565"/>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dirty="0">
                <a:solidFill>
                  <a:schemeClr val="bg1"/>
                </a:solidFill>
                <a:latin typeface="Lato"/>
                <a:ea typeface="Lato"/>
                <a:cs typeface="Lato"/>
                <a:sym typeface="Lato"/>
              </a:rPr>
              <a:t>Front-end Dashboard </a:t>
            </a:r>
            <a:endParaRPr sz="2400" dirty="0">
              <a:solidFill>
                <a:schemeClr val="bg1"/>
              </a:solidFill>
              <a:latin typeface="Lato Light"/>
              <a:ea typeface="Lato Light"/>
              <a:cs typeface="Lato Light"/>
              <a:sym typeface="Lato Light"/>
            </a:endParaRPr>
          </a:p>
        </p:txBody>
      </p:sp>
      <p:sp>
        <p:nvSpPr>
          <p:cNvPr id="288" name="Google Shape;288;p33"/>
          <p:cNvSpPr/>
          <p:nvPr/>
        </p:nvSpPr>
        <p:spPr>
          <a:xfrm>
            <a:off x="4680341" y="2785100"/>
            <a:ext cx="2640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Cloud Configuration</a:t>
            </a:r>
            <a:endParaRPr sz="2400">
              <a:solidFill>
                <a:schemeClr val="bg1"/>
              </a:solidFill>
              <a:latin typeface="Lato Light"/>
              <a:ea typeface="Lato Light"/>
              <a:cs typeface="Lato Light"/>
              <a:sym typeface="Lato Light"/>
            </a:endParaRPr>
          </a:p>
        </p:txBody>
      </p:sp>
      <p:sp>
        <p:nvSpPr>
          <p:cNvPr id="289" name="Google Shape;289;p33"/>
          <p:cNvSpPr/>
          <p:nvPr/>
        </p:nvSpPr>
        <p:spPr>
          <a:xfrm>
            <a:off x="7395923" y="2351987"/>
            <a:ext cx="26408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Feature #1 Development</a:t>
            </a:r>
            <a:endParaRPr sz="2400">
              <a:solidFill>
                <a:schemeClr val="bg1"/>
              </a:solidFill>
              <a:latin typeface="Lato Light"/>
              <a:ea typeface="Lato Light"/>
              <a:cs typeface="Lato Light"/>
              <a:sym typeface="Lato Light"/>
            </a:endParaRPr>
          </a:p>
        </p:txBody>
      </p:sp>
      <p:sp>
        <p:nvSpPr>
          <p:cNvPr id="290" name="Google Shape;290;p33"/>
          <p:cNvSpPr/>
          <p:nvPr/>
        </p:nvSpPr>
        <p:spPr>
          <a:xfrm>
            <a:off x="10111256" y="2351987"/>
            <a:ext cx="1282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Feature #2</a:t>
            </a:r>
            <a:endParaRPr sz="2400">
              <a:solidFill>
                <a:schemeClr val="bg1"/>
              </a:solidFill>
              <a:latin typeface="Lato Light"/>
              <a:ea typeface="Lato Light"/>
              <a:cs typeface="Lato Light"/>
              <a:sym typeface="Lato Light"/>
            </a:endParaRPr>
          </a:p>
        </p:txBody>
      </p:sp>
      <p:sp>
        <p:nvSpPr>
          <p:cNvPr id="291" name="Google Shape;291;p33"/>
          <p:cNvSpPr/>
          <p:nvPr/>
        </p:nvSpPr>
        <p:spPr>
          <a:xfrm>
            <a:off x="8753588" y="2785095"/>
            <a:ext cx="1282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APIs</a:t>
            </a:r>
            <a:endParaRPr sz="2400">
              <a:solidFill>
                <a:schemeClr val="bg1"/>
              </a:solidFill>
              <a:latin typeface="Lato Light"/>
              <a:ea typeface="Lato Light"/>
              <a:cs typeface="Lato Light"/>
              <a:sym typeface="Lato Light"/>
            </a:endParaRPr>
          </a:p>
        </p:txBody>
      </p:sp>
      <p:sp>
        <p:nvSpPr>
          <p:cNvPr id="292" name="Google Shape;292;p33"/>
          <p:cNvSpPr/>
          <p:nvPr/>
        </p:nvSpPr>
        <p:spPr>
          <a:xfrm>
            <a:off x="4680512" y="5284805"/>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Clr>
                <a:schemeClr val="dk2"/>
              </a:buClr>
              <a:buSzPts val="800"/>
            </a:pPr>
            <a:r>
              <a:rPr lang="en-GB" sz="1067">
                <a:solidFill>
                  <a:schemeClr val="bg1"/>
                </a:solidFill>
                <a:latin typeface="Lato"/>
                <a:ea typeface="Lato"/>
                <a:cs typeface="Lato"/>
                <a:sym typeface="Lato"/>
              </a:rPr>
              <a:t>Model Development</a:t>
            </a:r>
            <a:endParaRPr sz="1867">
              <a:solidFill>
                <a:schemeClr val="bg1"/>
              </a:solidFill>
              <a:latin typeface="Lato Light"/>
              <a:ea typeface="Lato Light"/>
              <a:cs typeface="Lato Light"/>
              <a:sym typeface="Lato Light"/>
            </a:endParaRPr>
          </a:p>
        </p:txBody>
      </p:sp>
      <p:sp>
        <p:nvSpPr>
          <p:cNvPr id="293" name="Google Shape;293;p33"/>
          <p:cNvSpPr/>
          <p:nvPr/>
        </p:nvSpPr>
        <p:spPr>
          <a:xfrm>
            <a:off x="6038301" y="4849885"/>
            <a:ext cx="53556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Data Collection</a:t>
            </a:r>
            <a:endParaRPr sz="2400">
              <a:solidFill>
                <a:schemeClr val="bg1"/>
              </a:solidFill>
              <a:latin typeface="Lato Light"/>
              <a:ea typeface="Lato Light"/>
              <a:cs typeface="Lato Light"/>
              <a:sym typeface="Lato Light"/>
            </a:endParaRPr>
          </a:p>
        </p:txBody>
      </p:sp>
      <p:pic>
        <p:nvPicPr>
          <p:cNvPr id="294" name="Google Shape;294;p33"/>
          <p:cNvPicPr preferRelativeResize="0"/>
          <p:nvPr/>
        </p:nvPicPr>
        <p:blipFill>
          <a:blip r:embed="rId3">
            <a:alphaModFix/>
            <a:duotone>
              <a:schemeClr val="bg2">
                <a:shade val="45000"/>
                <a:satMod val="135000"/>
              </a:schemeClr>
              <a:prstClr val="white"/>
            </a:duotone>
          </a:blip>
          <a:stretch>
            <a:fillRect/>
          </a:stretch>
        </p:blipFill>
        <p:spPr>
          <a:xfrm>
            <a:off x="1651033" y="3538779"/>
            <a:ext cx="744000" cy="733804"/>
          </a:xfrm>
          <a:prstGeom prst="rect">
            <a:avLst/>
          </a:prstGeom>
          <a:noFill/>
          <a:ln>
            <a:noFill/>
          </a:ln>
        </p:spPr>
      </p:pic>
      <p:pic>
        <p:nvPicPr>
          <p:cNvPr id="295" name="Google Shape;295;p33"/>
          <p:cNvPicPr preferRelativeResize="0"/>
          <p:nvPr/>
        </p:nvPicPr>
        <p:blipFill>
          <a:blip r:embed="rId4">
            <a:alphaModFix/>
            <a:duotone>
              <a:schemeClr val="bg2">
                <a:shade val="45000"/>
                <a:satMod val="135000"/>
              </a:schemeClr>
              <a:prstClr val="white"/>
            </a:duotone>
          </a:blip>
          <a:stretch>
            <a:fillRect/>
          </a:stretch>
        </p:blipFill>
        <p:spPr>
          <a:xfrm>
            <a:off x="1651036" y="4924402"/>
            <a:ext cx="744001" cy="743999"/>
          </a:xfrm>
          <a:prstGeom prst="rect">
            <a:avLst/>
          </a:prstGeom>
          <a:noFill/>
          <a:ln>
            <a:noFill/>
          </a:ln>
        </p:spPr>
      </p:pic>
      <p:sp>
        <p:nvSpPr>
          <p:cNvPr id="296" name="Google Shape;296;p33"/>
          <p:cNvSpPr/>
          <p:nvPr/>
        </p:nvSpPr>
        <p:spPr>
          <a:xfrm>
            <a:off x="7395992"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 Improvements</a:t>
            </a:r>
            <a:endParaRPr sz="2400">
              <a:solidFill>
                <a:schemeClr val="bg1"/>
              </a:solidFill>
              <a:latin typeface="Lato Light"/>
              <a:ea typeface="Lato Light"/>
              <a:cs typeface="Lato Light"/>
              <a:sym typeface="Lato Light"/>
            </a:endParaRPr>
          </a:p>
        </p:txBody>
      </p:sp>
      <p:sp>
        <p:nvSpPr>
          <p:cNvPr id="297" name="Google Shape;297;p33"/>
          <p:cNvSpPr/>
          <p:nvPr/>
        </p:nvSpPr>
        <p:spPr>
          <a:xfrm>
            <a:off x="10111325"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 Improvements</a:t>
            </a:r>
            <a:endParaRPr sz="1067">
              <a:solidFill>
                <a:schemeClr val="bg1"/>
              </a:solidFill>
              <a:latin typeface="Lato"/>
              <a:ea typeface="Lato"/>
              <a:cs typeface="Lato"/>
              <a:sym typeface="Lato"/>
            </a:endParaRPr>
          </a:p>
        </p:txBody>
      </p:sp>
      <p:sp>
        <p:nvSpPr>
          <p:cNvPr id="298" name="Google Shape;298;p33"/>
          <p:cNvSpPr/>
          <p:nvPr/>
        </p:nvSpPr>
        <p:spPr>
          <a:xfrm>
            <a:off x="6038155" y="5719700"/>
            <a:ext cx="53556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Model Training</a:t>
            </a:r>
            <a:endParaRPr sz="1867">
              <a:solidFill>
                <a:schemeClr val="bg1"/>
              </a:solidFill>
              <a:latin typeface="Lato Light"/>
              <a:ea typeface="Lato Light"/>
              <a:cs typeface="Lato Light"/>
              <a:sym typeface="Lato Light"/>
            </a:endParaRPr>
          </a:p>
        </p:txBody>
      </p:sp>
      <p:sp>
        <p:nvSpPr>
          <p:cNvPr id="299" name="Google Shape;299;p33"/>
          <p:cNvSpPr/>
          <p:nvPr/>
        </p:nvSpPr>
        <p:spPr>
          <a:xfrm>
            <a:off x="7395828" y="5284800"/>
            <a:ext cx="3994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Model Deployment</a:t>
            </a:r>
            <a:endParaRPr sz="1867">
              <a:solidFill>
                <a:schemeClr val="bg1"/>
              </a:solidFill>
              <a:latin typeface="Lato Light"/>
              <a:ea typeface="Lato Light"/>
              <a:cs typeface="Lato Light"/>
              <a:sym typeface="Lato Light"/>
            </a:endParaRPr>
          </a:p>
        </p:txBody>
      </p:sp>
      <p:sp>
        <p:nvSpPr>
          <p:cNvPr id="300" name="Google Shape;300;p33"/>
          <p:cNvSpPr/>
          <p:nvPr/>
        </p:nvSpPr>
        <p:spPr>
          <a:xfrm>
            <a:off x="4680500" y="3821800"/>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Lab Assembly</a:t>
            </a:r>
            <a:endParaRPr sz="1867">
              <a:solidFill>
                <a:schemeClr val="bg1"/>
              </a:solidFill>
              <a:latin typeface="Lato Light"/>
              <a:ea typeface="Lato Light"/>
              <a:cs typeface="Lato Light"/>
              <a:sym typeface="Lato Light"/>
            </a:endParaRPr>
          </a:p>
        </p:txBody>
      </p:sp>
      <p:sp>
        <p:nvSpPr>
          <p:cNvPr id="301" name="Google Shape;301;p33"/>
          <p:cNvSpPr/>
          <p:nvPr/>
        </p:nvSpPr>
        <p:spPr>
          <a:xfrm>
            <a:off x="6037967" y="4274484"/>
            <a:ext cx="26408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On-site Assembly</a:t>
            </a:r>
            <a:endParaRPr sz="1867">
              <a:solidFill>
                <a:schemeClr val="bg1"/>
              </a:solidFill>
              <a:latin typeface="Lato Light"/>
              <a:ea typeface="Lato Light"/>
              <a:cs typeface="Lato Light"/>
              <a:sym typeface="Lato Light"/>
            </a:endParaRPr>
          </a:p>
        </p:txBody>
      </p:sp>
      <p:sp>
        <p:nvSpPr>
          <p:cNvPr id="302" name="Google Shape;302;p33"/>
          <p:cNvSpPr/>
          <p:nvPr/>
        </p:nvSpPr>
        <p:spPr>
          <a:xfrm>
            <a:off x="7395845" y="3821811"/>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Lab Testing</a:t>
            </a:r>
            <a:endParaRPr sz="1867">
              <a:solidFill>
                <a:schemeClr val="bg1"/>
              </a:solidFill>
              <a:latin typeface="Lato Light"/>
              <a:ea typeface="Lato Light"/>
              <a:cs typeface="Lato Light"/>
              <a:sym typeface="Lato Light"/>
            </a:endParaRPr>
          </a:p>
        </p:txBody>
      </p:sp>
      <p:sp>
        <p:nvSpPr>
          <p:cNvPr id="303" name="Google Shape;303;p33"/>
          <p:cNvSpPr/>
          <p:nvPr/>
        </p:nvSpPr>
        <p:spPr>
          <a:xfrm>
            <a:off x="8753612" y="4274495"/>
            <a:ext cx="2640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On-site Testing</a:t>
            </a:r>
            <a:endParaRPr sz="1867">
              <a:solidFill>
                <a:schemeClr val="bg1"/>
              </a:solidFill>
              <a:latin typeface="Lato Light"/>
              <a:ea typeface="Lato Light"/>
              <a:cs typeface="Lato Light"/>
              <a:sym typeface="Lato Light"/>
            </a:endParaRPr>
          </a:p>
        </p:txBody>
      </p:sp>
      <p:pic>
        <p:nvPicPr>
          <p:cNvPr id="304" name="Google Shape;304;p33"/>
          <p:cNvPicPr preferRelativeResize="0"/>
          <p:nvPr/>
        </p:nvPicPr>
        <p:blipFill>
          <a:blip r:embed="rId5">
            <a:alphaModFix/>
            <a:duotone>
              <a:schemeClr val="bg2">
                <a:shade val="45000"/>
                <a:satMod val="135000"/>
              </a:schemeClr>
              <a:prstClr val="white"/>
            </a:duotone>
          </a:blip>
          <a:stretch>
            <a:fillRect/>
          </a:stretch>
        </p:blipFill>
        <p:spPr>
          <a:xfrm>
            <a:off x="1651036" y="1941455"/>
            <a:ext cx="744001" cy="744028"/>
          </a:xfrm>
          <a:prstGeom prst="rect">
            <a:avLst/>
          </a:prstGeom>
          <a:noFill/>
          <a:ln>
            <a:noFill/>
          </a:ln>
        </p:spPr>
      </p:pic>
      <p:sp>
        <p:nvSpPr>
          <p:cNvPr id="50" name="Slide Number Placeholder 4">
            <a:extLst>
              <a:ext uri="{FF2B5EF4-FFF2-40B4-BE49-F238E27FC236}">
                <a16:creationId xmlns:a16="http://schemas.microsoft.com/office/drawing/2014/main" id="{6BD5D73F-7A0F-394A-A198-71E36F7694B2}"/>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t>11</a:t>
            </a:fld>
            <a:endParaRPr lang="ar-LY" dirty="0"/>
          </a:p>
        </p:txBody>
      </p:sp>
    </p:spTree>
    <p:extLst>
      <p:ext uri="{BB962C8B-B14F-4D97-AF65-F5344CB8AC3E}">
        <p14:creationId xmlns:p14="http://schemas.microsoft.com/office/powerpoint/2010/main" val="193669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8" name="Google Shape;998;p188"/>
          <p:cNvSpPr/>
          <p:nvPr/>
        </p:nvSpPr>
        <p:spPr>
          <a:xfrm>
            <a:off x="-20000" y="-16200"/>
            <a:ext cx="12232000" cy="6890400"/>
          </a:xfrm>
          <a:prstGeom prst="rect">
            <a:avLst/>
          </a:prstGeom>
          <a:solidFill>
            <a:srgbClr val="003876">
              <a:alpha val="75280"/>
            </a:srgbClr>
          </a:solidFill>
          <a:ln>
            <a:noFill/>
          </a:ln>
        </p:spPr>
        <p:txBody>
          <a:bodyPr spcFirstLastPara="1" wrap="square" lIns="121900" tIns="121900" rIns="121900" bIns="121900" anchor="ctr" anchorCtr="0">
            <a:noAutofit/>
          </a:bodyPr>
          <a:lstStyle/>
          <a:p>
            <a:endParaRPr sz="2400"/>
          </a:p>
        </p:txBody>
      </p:sp>
      <p:sp>
        <p:nvSpPr>
          <p:cNvPr id="999" name="Google Shape;999;p188"/>
          <p:cNvSpPr/>
          <p:nvPr/>
        </p:nvSpPr>
        <p:spPr>
          <a:xfrm>
            <a:off x="-36113" y="5010882"/>
            <a:ext cx="12257600" cy="1876400"/>
          </a:xfrm>
          <a:prstGeom prst="rect">
            <a:avLst/>
          </a:prstGeom>
          <a:solidFill>
            <a:srgbClr val="CFE2F3"/>
          </a:solidFill>
          <a:ln>
            <a:noFill/>
          </a:ln>
        </p:spPr>
        <p:txBody>
          <a:bodyPr spcFirstLastPara="1" wrap="square" lIns="121900" tIns="121900" rIns="121900" bIns="121900" anchor="ctr" anchorCtr="0">
            <a:noAutofit/>
          </a:bodyPr>
          <a:lstStyle/>
          <a:p>
            <a:endParaRPr sz="2400" dirty="0"/>
          </a:p>
        </p:txBody>
      </p:sp>
      <p:grpSp>
        <p:nvGrpSpPr>
          <p:cNvPr id="1006" name="Google Shape;1006;p188"/>
          <p:cNvGrpSpPr/>
          <p:nvPr/>
        </p:nvGrpSpPr>
        <p:grpSpPr>
          <a:xfrm>
            <a:off x="3810294" y="3177500"/>
            <a:ext cx="2127200" cy="3680500"/>
            <a:chOff x="532275" y="2383150"/>
            <a:chExt cx="1595400" cy="2760375"/>
          </a:xfrm>
        </p:grpSpPr>
        <p:sp>
          <p:nvSpPr>
            <p:cNvPr id="1007" name="Google Shape;1007;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a:p>
          </p:txBody>
        </p:sp>
        <p:sp>
          <p:nvSpPr>
            <p:cNvPr id="1008" name="Google Shape;1008;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sp>
        <p:nvSpPr>
          <p:cNvPr id="1009" name="Google Shape;1009;p188"/>
          <p:cNvSpPr txBox="1"/>
          <p:nvPr/>
        </p:nvSpPr>
        <p:spPr>
          <a:xfrm>
            <a:off x="3667178" y="5028464"/>
            <a:ext cx="2409600"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CA" sz="2000" dirty="0">
                <a:solidFill>
                  <a:schemeClr val="dk1"/>
                </a:solidFill>
                <a:latin typeface="Lato"/>
                <a:ea typeface="Lato"/>
                <a:cs typeface="Lato"/>
                <a:sym typeface="Lato"/>
              </a:rPr>
              <a:t>Ivan </a:t>
            </a:r>
            <a:r>
              <a:rPr lang="en" sz="2000" dirty="0">
                <a:solidFill>
                  <a:schemeClr val="dk1"/>
                </a:solidFill>
                <a:latin typeface="Lato"/>
                <a:ea typeface="Lato"/>
                <a:cs typeface="Lato"/>
                <a:sym typeface="Lato"/>
              </a:rPr>
              <a:t>Damnjanovi</a:t>
            </a:r>
            <a:r>
              <a:rPr lang="en" sz="2000" dirty="0">
                <a:latin typeface="Lato"/>
                <a:ea typeface="Lato"/>
                <a:cs typeface="Lato"/>
                <a:sym typeface="Lato"/>
              </a:rPr>
              <a:t>ć</a:t>
            </a:r>
            <a:endParaRPr sz="2000" dirty="0">
              <a:solidFill>
                <a:schemeClr val="dk1"/>
              </a:solidFill>
              <a:latin typeface="Lato"/>
              <a:ea typeface="Lato"/>
              <a:cs typeface="Lato"/>
              <a:sym typeface="Lato"/>
            </a:endParaRPr>
          </a:p>
          <a:p>
            <a:pPr algn="ctr">
              <a:buClr>
                <a:srgbClr val="000000"/>
              </a:buClr>
              <a:buSzPts val="1000"/>
            </a:pPr>
            <a:r>
              <a:rPr lang="en" sz="1333" i="1" dirty="0">
                <a:solidFill>
                  <a:schemeClr val="dk1"/>
                </a:solidFill>
                <a:latin typeface="Lato"/>
                <a:ea typeface="Lato"/>
                <a:cs typeface="Lato"/>
                <a:sym typeface="Lato"/>
              </a:rPr>
              <a:t>Product Development</a:t>
            </a:r>
            <a:endParaRPr sz="1333" i="1" dirty="0">
              <a:solidFill>
                <a:schemeClr val="dk1"/>
              </a:solidFill>
              <a:latin typeface="Lato"/>
              <a:ea typeface="Lato"/>
              <a:cs typeface="Lato"/>
              <a:sym typeface="Lato"/>
            </a:endParaRPr>
          </a:p>
        </p:txBody>
      </p:sp>
      <p:grpSp>
        <p:nvGrpSpPr>
          <p:cNvPr id="1013" name="Google Shape;1013;p188"/>
          <p:cNvGrpSpPr/>
          <p:nvPr/>
        </p:nvGrpSpPr>
        <p:grpSpPr>
          <a:xfrm>
            <a:off x="6690827" y="3177500"/>
            <a:ext cx="2127200" cy="3680500"/>
            <a:chOff x="532275" y="2383150"/>
            <a:chExt cx="1595400" cy="2760375"/>
          </a:xfrm>
        </p:grpSpPr>
        <p:sp>
          <p:nvSpPr>
            <p:cNvPr id="1014" name="Google Shape;1014;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a:p>
          </p:txBody>
        </p:sp>
        <p:sp>
          <p:nvSpPr>
            <p:cNvPr id="1015" name="Google Shape;1015;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sp>
        <p:nvSpPr>
          <p:cNvPr id="1016" name="Google Shape;1016;p188"/>
          <p:cNvSpPr txBox="1"/>
          <p:nvPr/>
        </p:nvSpPr>
        <p:spPr>
          <a:xfrm>
            <a:off x="6371297" y="5061564"/>
            <a:ext cx="2856749"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 sz="2000" dirty="0">
                <a:solidFill>
                  <a:schemeClr val="dk1"/>
                </a:solidFill>
                <a:latin typeface="Lato"/>
                <a:ea typeface="Lato"/>
                <a:cs typeface="Lato"/>
                <a:sym typeface="Lato"/>
              </a:rPr>
              <a:t>[Third party]</a:t>
            </a:r>
            <a:endParaRPr lang="en" sz="1333" i="1" dirty="0">
              <a:solidFill>
                <a:schemeClr val="dk1"/>
              </a:solidFill>
              <a:latin typeface="Lato"/>
              <a:ea typeface="Lato"/>
              <a:cs typeface="Lato"/>
              <a:sym typeface="Lato"/>
            </a:endParaRPr>
          </a:p>
          <a:p>
            <a:pPr algn="ctr">
              <a:buClr>
                <a:srgbClr val="000000"/>
              </a:buClr>
              <a:buSzPts val="1000"/>
            </a:pPr>
            <a:r>
              <a:rPr lang="en" sz="1333" i="1" dirty="0">
                <a:solidFill>
                  <a:schemeClr val="dk1"/>
                </a:solidFill>
                <a:latin typeface="Lato"/>
                <a:ea typeface="Lato"/>
                <a:cs typeface="Lato"/>
                <a:sym typeface="Lato"/>
              </a:rPr>
              <a:t>Corporate Development</a:t>
            </a:r>
            <a:endParaRPr sz="2000" dirty="0">
              <a:solidFill>
                <a:schemeClr val="dk1"/>
              </a:solidFill>
              <a:latin typeface="Lato"/>
              <a:ea typeface="Lato"/>
              <a:cs typeface="Lato"/>
              <a:sym typeface="Lato"/>
            </a:endParaRPr>
          </a:p>
        </p:txBody>
      </p:sp>
      <p:sp>
        <p:nvSpPr>
          <p:cNvPr id="1020" name="Google Shape;1020;p188"/>
          <p:cNvSpPr txBox="1"/>
          <p:nvPr/>
        </p:nvSpPr>
        <p:spPr>
          <a:xfrm>
            <a:off x="1784000" y="1227126"/>
            <a:ext cx="8624000" cy="1367883"/>
          </a:xfrm>
          <a:prstGeom prst="rect">
            <a:avLst/>
          </a:prstGeom>
          <a:noFill/>
          <a:ln>
            <a:noFill/>
          </a:ln>
        </p:spPr>
        <p:txBody>
          <a:bodyPr spcFirstLastPara="1" wrap="square" lIns="91433" tIns="45700" rIns="91433" bIns="45700" anchor="t" anchorCtr="0">
            <a:noAutofit/>
          </a:bodyPr>
          <a:lstStyle/>
          <a:p>
            <a:pPr algn="ctr">
              <a:lnSpc>
                <a:spcPct val="115000"/>
              </a:lnSpc>
              <a:buClr>
                <a:schemeClr val="dk1"/>
              </a:buClr>
              <a:buSzPts val="1100"/>
            </a:pPr>
            <a:r>
              <a:rPr lang="en" sz="2400" dirty="0">
                <a:solidFill>
                  <a:srgbClr val="FFFFFF"/>
                </a:solidFill>
                <a:latin typeface="Lato"/>
                <a:ea typeface="Lato"/>
                <a:cs typeface="Lato"/>
                <a:sym typeface="Lato"/>
              </a:rPr>
              <a:t>An international team consisting of experienced entrepreneurs, engineers, and management consultants with a </a:t>
            </a:r>
            <a:r>
              <a:rPr lang="en" sz="2400" dirty="0">
                <a:solidFill>
                  <a:srgbClr val="FFFFFF"/>
                </a:solidFill>
                <a:latin typeface="Lato Black"/>
                <a:ea typeface="Lato Black"/>
                <a:cs typeface="Lato Black"/>
                <a:sym typeface="Lato Black"/>
              </a:rPr>
              <a:t>wealth of experience across major markets.</a:t>
            </a:r>
            <a:endParaRPr sz="2400" dirty="0">
              <a:solidFill>
                <a:srgbClr val="FFFFFF"/>
              </a:solidFill>
              <a:latin typeface="Lato"/>
              <a:ea typeface="Lato"/>
              <a:cs typeface="Lato"/>
              <a:sym typeface="Lato"/>
            </a:endParaRPr>
          </a:p>
        </p:txBody>
      </p:sp>
      <p:sp>
        <p:nvSpPr>
          <p:cNvPr id="1025" name="Google Shape;1025;p188"/>
          <p:cNvSpPr txBox="1"/>
          <p:nvPr/>
        </p:nvSpPr>
        <p:spPr>
          <a:xfrm>
            <a:off x="3444533" y="6232656"/>
            <a:ext cx="2878540" cy="540000"/>
          </a:xfrm>
          <a:prstGeom prst="rect">
            <a:avLst/>
          </a:prstGeom>
          <a:noFill/>
          <a:ln>
            <a:noFill/>
          </a:ln>
        </p:spPr>
        <p:txBody>
          <a:bodyPr spcFirstLastPara="1" wrap="square" lIns="91433" tIns="45700" rIns="91433" bIns="45700" anchor="t" anchorCtr="0">
            <a:noAutofit/>
          </a:bodyPr>
          <a:lstStyle/>
          <a:p>
            <a:pPr algn="ctr">
              <a:lnSpc>
                <a:spcPct val="115000"/>
              </a:lnSpc>
              <a:buClr>
                <a:srgbClr val="000000"/>
              </a:buClr>
              <a:buSzPts val="800"/>
            </a:pPr>
            <a:r>
              <a:rPr lang="en-CA" sz="1200" dirty="0">
                <a:solidFill>
                  <a:srgbClr val="434343"/>
                </a:solidFill>
                <a:latin typeface="Lato"/>
                <a:ea typeface="Lato"/>
                <a:cs typeface="Lato"/>
                <a:sym typeface="Lato"/>
              </a:rPr>
              <a:t>Computer Science Master’s Student</a:t>
            </a:r>
          </a:p>
          <a:p>
            <a:pPr algn="ctr">
              <a:lnSpc>
                <a:spcPct val="115000"/>
              </a:lnSpc>
              <a:buClr>
                <a:srgbClr val="000000"/>
              </a:buClr>
              <a:buSzPts val="800"/>
            </a:pPr>
            <a:r>
              <a:rPr lang="en-CA" sz="1200" dirty="0">
                <a:solidFill>
                  <a:srgbClr val="434343"/>
                </a:solidFill>
                <a:latin typeface="Lato"/>
                <a:ea typeface="Lato"/>
                <a:cs typeface="Lato"/>
                <a:sym typeface="Lato"/>
              </a:rPr>
              <a:t>NUS (Singapore)</a:t>
            </a:r>
          </a:p>
          <a:p>
            <a:pPr algn="ctr">
              <a:lnSpc>
                <a:spcPct val="115000"/>
              </a:lnSpc>
              <a:buClr>
                <a:srgbClr val="000000"/>
              </a:buClr>
              <a:buSzPts val="800"/>
            </a:pPr>
            <a:endParaRPr lang="en-CA" sz="1200" dirty="0">
              <a:solidFill>
                <a:srgbClr val="434343"/>
              </a:solidFill>
              <a:latin typeface="Lato"/>
              <a:ea typeface="Lato"/>
              <a:cs typeface="Lato"/>
              <a:sym typeface="Lato"/>
            </a:endParaRPr>
          </a:p>
        </p:txBody>
      </p:sp>
      <p:sp>
        <p:nvSpPr>
          <p:cNvPr id="1027" name="Google Shape;1027;p188"/>
          <p:cNvSpPr txBox="1"/>
          <p:nvPr/>
        </p:nvSpPr>
        <p:spPr>
          <a:xfrm>
            <a:off x="6135762" y="6232656"/>
            <a:ext cx="3234916" cy="540000"/>
          </a:xfrm>
          <a:prstGeom prst="rect">
            <a:avLst/>
          </a:prstGeom>
          <a:noFill/>
          <a:ln>
            <a:noFill/>
          </a:ln>
        </p:spPr>
        <p:txBody>
          <a:bodyPr spcFirstLastPara="1" wrap="square" lIns="91433" tIns="45700" rIns="91433" bIns="45700" anchor="t" anchorCtr="0">
            <a:noAutofit/>
          </a:bodyPr>
          <a:lstStyle/>
          <a:p>
            <a:pPr algn="ctr">
              <a:lnSpc>
                <a:spcPct val="115000"/>
              </a:lnSpc>
              <a:buClr>
                <a:srgbClr val="000000"/>
              </a:buClr>
              <a:buSzPts val="800"/>
            </a:pPr>
            <a:r>
              <a:rPr lang="en-CA" sz="1200" dirty="0">
                <a:solidFill>
                  <a:srgbClr val="434343"/>
                </a:solidFill>
                <a:latin typeface="Lato"/>
                <a:ea typeface="Lato"/>
                <a:cs typeface="Lato"/>
                <a:sym typeface="Lato"/>
              </a:rPr>
              <a:t>Raised over $23M for ventures in highly regulated industries in Canada &amp; EU</a:t>
            </a:r>
          </a:p>
        </p:txBody>
      </p:sp>
      <p:sp>
        <p:nvSpPr>
          <p:cNvPr id="38" name="TextBox 37">
            <a:extLst>
              <a:ext uri="{FF2B5EF4-FFF2-40B4-BE49-F238E27FC236}">
                <a16:creationId xmlns:a16="http://schemas.microsoft.com/office/drawing/2014/main" id="{E21BC74C-6746-EE44-8DD1-B654F88D5537}"/>
              </a:ext>
            </a:extLst>
          </p:cNvPr>
          <p:cNvSpPr txBox="1"/>
          <p:nvPr/>
        </p:nvSpPr>
        <p:spPr>
          <a:xfrm>
            <a:off x="3582331" y="279116"/>
            <a:ext cx="5027339" cy="830997"/>
          </a:xfrm>
          <a:prstGeom prst="rect">
            <a:avLst/>
          </a:prstGeom>
          <a:noFill/>
        </p:spPr>
        <p:txBody>
          <a:bodyPr wrap="square" rtlCol="1">
            <a:spAutoFit/>
          </a:bodyPr>
          <a:lstStyle/>
          <a:p>
            <a:pPr algn="ctr"/>
            <a:r>
              <a:rPr lang="en-US" sz="4800" dirty="0">
                <a:solidFill>
                  <a:schemeClr val="bg1"/>
                </a:solidFill>
                <a:latin typeface="Poppins" panose="00000500000000000000" pitchFamily="2" charset="0"/>
                <a:cs typeface="Poppins" panose="00000500000000000000" pitchFamily="2" charset="0"/>
              </a:rPr>
              <a:t>Ambient Systems</a:t>
            </a:r>
          </a:p>
        </p:txBody>
      </p:sp>
      <p:pic>
        <p:nvPicPr>
          <p:cNvPr id="40" name="Picture 39" descr="A person wearing a suit and tie&#10;&#10;Description automatically generated">
            <a:extLst>
              <a:ext uri="{FF2B5EF4-FFF2-40B4-BE49-F238E27FC236}">
                <a16:creationId xmlns:a16="http://schemas.microsoft.com/office/drawing/2014/main" id="{4A6ADEA3-092C-034C-9118-B0DBE8B5B9EA}"/>
              </a:ext>
            </a:extLst>
          </p:cNvPr>
          <p:cNvPicPr>
            <a:picLocks noChangeAspect="1"/>
          </p:cNvPicPr>
          <p:nvPr/>
        </p:nvPicPr>
        <p:blipFill rotWithShape="1">
          <a:blip r:embed="rId3">
            <a:extLst>
              <a:ext uri="{28A0092B-C50C-407E-A947-70E740481C1C}">
                <a14:useLocalDpi xmlns:a14="http://schemas.microsoft.com/office/drawing/2010/main" val="0"/>
              </a:ext>
            </a:extLst>
          </a:blip>
          <a:srcRect l="19917" t="15556" r="16758" b="29126"/>
          <a:stretch/>
        </p:blipFill>
        <p:spPr>
          <a:xfrm>
            <a:off x="4082291" y="3344442"/>
            <a:ext cx="1603024" cy="1620000"/>
          </a:xfrm>
          <a:prstGeom prst="ellipse">
            <a:avLst/>
          </a:prstGeom>
          <a:ln w="12700" cap="rnd">
            <a:solidFill>
              <a:schemeClr val="bg1"/>
            </a:solidFill>
          </a:ln>
          <a:effectLst/>
          <a:scene3d>
            <a:camera prst="orthographicFront"/>
            <a:lightRig rig="contrasting" dir="t">
              <a:rot lat="0" lon="0" rev="3000000"/>
            </a:lightRig>
          </a:scene3d>
          <a:sp3d contourW="7620">
            <a:bevelT w="95250" h="31750"/>
            <a:contourClr>
              <a:srgbClr val="333333"/>
            </a:contourClr>
          </a:sp3d>
        </p:spPr>
      </p:pic>
      <p:pic>
        <p:nvPicPr>
          <p:cNvPr id="41" name="Picture 40">
            <a:extLst>
              <a:ext uri="{FF2B5EF4-FFF2-40B4-BE49-F238E27FC236}">
                <a16:creationId xmlns:a16="http://schemas.microsoft.com/office/drawing/2014/main" id="{84F26CD3-A82B-2A4C-A37B-048221E753B3}"/>
              </a:ext>
            </a:extLst>
          </p:cNvPr>
          <p:cNvPicPr>
            <a:picLocks noChangeAspect="1"/>
          </p:cNvPicPr>
          <p:nvPr/>
        </p:nvPicPr>
        <p:blipFill>
          <a:blip r:embed="rId4"/>
          <a:stretch>
            <a:fillRect/>
          </a:stretch>
        </p:blipFill>
        <p:spPr>
          <a:xfrm>
            <a:off x="6989670" y="3344442"/>
            <a:ext cx="1620000" cy="1620000"/>
          </a:xfrm>
          <a:prstGeom prst="ellipse">
            <a:avLst/>
          </a:prstGeom>
          <a:ln w="12700" cap="rnd">
            <a:solidFill>
              <a:schemeClr val="bg1"/>
            </a:solidFill>
          </a:ln>
          <a:effectLst/>
          <a:scene3d>
            <a:camera prst="orthographicFront"/>
            <a:lightRig rig="contrasting" dir="t">
              <a:rot lat="0" lon="0" rev="3000000"/>
            </a:lightRig>
          </a:scene3d>
          <a:sp3d contourW="7620">
            <a:bevelT w="95250" h="31750"/>
            <a:contourClr>
              <a:srgbClr val="333333"/>
            </a:contourClr>
          </a:sp3d>
        </p:spPr>
      </p:pic>
      <p:pic>
        <p:nvPicPr>
          <p:cNvPr id="6" name="Picture 5" descr="Icon&#10;&#10;Description automatically generated">
            <a:extLst>
              <a:ext uri="{FF2B5EF4-FFF2-40B4-BE49-F238E27FC236}">
                <a16:creationId xmlns:a16="http://schemas.microsoft.com/office/drawing/2014/main" id="{00D12B80-307F-0640-87D0-7A5E7162F1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24575" y="5519793"/>
            <a:ext cx="828000" cy="828000"/>
          </a:xfrm>
          <a:prstGeom prst="rect">
            <a:avLst/>
          </a:prstGeom>
        </p:spPr>
      </p:pic>
      <p:pic>
        <p:nvPicPr>
          <p:cNvPr id="8" name="Picture 7" descr="Icon&#10;&#10;Description automatically generated">
            <a:extLst>
              <a:ext uri="{FF2B5EF4-FFF2-40B4-BE49-F238E27FC236}">
                <a16:creationId xmlns:a16="http://schemas.microsoft.com/office/drawing/2014/main" id="{12AE1ED3-5D1B-FB4D-A727-57DA39310E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43981" y="5519793"/>
            <a:ext cx="828000" cy="828000"/>
          </a:xfrm>
          <a:prstGeom prst="rect">
            <a:avLst/>
          </a:prstGeom>
        </p:spPr>
      </p:pic>
      <p:sp>
        <p:nvSpPr>
          <p:cNvPr id="20" name="Slide Number Placeholder 1">
            <a:extLst>
              <a:ext uri="{FF2B5EF4-FFF2-40B4-BE49-F238E27FC236}">
                <a16:creationId xmlns:a16="http://schemas.microsoft.com/office/drawing/2014/main" id="{4E425408-2ED6-7A42-A04C-D4DF4C3841F8}"/>
              </a:ext>
            </a:extLst>
          </p:cNvPr>
          <p:cNvSpPr>
            <a:spLocks noGrp="1"/>
          </p:cNvSpPr>
          <p:nvPr>
            <p:ph type="sldNum" sz="quarter" idx="4"/>
          </p:nvPr>
        </p:nvSpPr>
        <p:spPr>
          <a:xfrm>
            <a:off x="8610600" y="6356352"/>
            <a:ext cx="2743200" cy="365125"/>
          </a:xfrm>
        </p:spPr>
        <p:txBody>
          <a:bodyPr/>
          <a:lstStyle/>
          <a:p>
            <a:fld id="{9312FC69-CE3E-4598-98C1-B119891192DE}" type="slidenum">
              <a:rPr lang="ar-LY" smtClean="0"/>
              <a:pPr/>
              <a:t>12</a:t>
            </a:fld>
            <a:endParaRPr lang="ar-LY" b="1" dirty="0"/>
          </a:p>
        </p:txBody>
      </p:sp>
    </p:spTree>
    <p:extLst>
      <p:ext uri="{BB962C8B-B14F-4D97-AF65-F5344CB8AC3E}">
        <p14:creationId xmlns:p14="http://schemas.microsoft.com/office/powerpoint/2010/main" val="[redacted]"/>
      </p:ext>
    </p:extLst>
  </p:cSld>
  <p:clrMapOvr>
    <a:masterClrMapping/>
  </p:clrMapOvr>
  <mc:AlternateContent xmlns:mc="http://schemas.openxmlformats.org/markup-compatibility/2006" xmlns:p14="http://schemas.microsoft.com/office/powerpoint/2010/main">
    <mc:Choice Requires="p14">
      <p:transition spd="slow" p14:dur="1600">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A9A674A-E934-41FC-A6B0-B25E4FB57122}"/>
              </a:ext>
            </a:extLst>
          </p:cNvPr>
          <p:cNvSpPr txBox="1"/>
          <p:nvPr/>
        </p:nvSpPr>
        <p:spPr>
          <a:xfrm>
            <a:off x="6045938" y="1460869"/>
            <a:ext cx="5945855" cy="3600986"/>
          </a:xfrm>
          <a:prstGeom prst="rect">
            <a:avLst/>
          </a:prstGeom>
          <a:noFill/>
        </p:spPr>
        <p:txBody>
          <a:bodyPr wrap="square" rtlCol="0">
            <a:spAutoFit/>
          </a:bodyPr>
          <a:lstStyle/>
          <a:p>
            <a:r>
              <a:rPr lang="en-US" sz="2800" spc="-151" dirty="0">
                <a:solidFill>
                  <a:schemeClr val="bg1"/>
                </a:solidFill>
                <a:ea typeface="Montserrat" charset="0"/>
                <a:cs typeface="Montserrat" charset="0"/>
              </a:rPr>
              <a:t>Summary</a:t>
            </a:r>
          </a:p>
          <a:p>
            <a:endParaRPr lang="en-US" sz="2800" spc="-151" dirty="0">
              <a:solidFill>
                <a:schemeClr val="bg1"/>
              </a:solidFill>
              <a:ea typeface="Montserrat" charset="0"/>
              <a:cs typeface="Montserrat" charset="0"/>
            </a:endParaRPr>
          </a:p>
          <a:p>
            <a:endParaRPr lang="en-US" sz="2800" spc="-151" dirty="0">
              <a:solidFill>
                <a:schemeClr val="bg1"/>
              </a:solidFill>
              <a:ea typeface="Montserrat" charset="0"/>
              <a:cs typeface="Montserrat" charset="0"/>
            </a:endParaRPr>
          </a:p>
          <a:p>
            <a:pPr marL="514338" indent="-514338">
              <a:buAutoNum type="arabicPeriod"/>
            </a:pPr>
            <a:r>
              <a:rPr lang="en-US" sz="2400" spc="-151" dirty="0">
                <a:solidFill>
                  <a:schemeClr val="bg1"/>
                </a:solidFill>
                <a:ea typeface="Montserrat" charset="0"/>
                <a:cs typeface="Montserrat" charset="0"/>
              </a:rPr>
              <a:t>Identified product-market fit as a smart-building technology provider for indoor farms.</a:t>
            </a:r>
          </a:p>
          <a:p>
            <a:pPr marL="514338" indent="-514338">
              <a:buAutoNum type="arabicPeriod"/>
            </a:pPr>
            <a:r>
              <a:rPr lang="en-US" sz="2400" spc="-151" dirty="0">
                <a:solidFill>
                  <a:schemeClr val="bg1"/>
                </a:solidFill>
                <a:ea typeface="Montserrat" charset="0"/>
                <a:cs typeface="Montserrat" charset="0"/>
              </a:rPr>
              <a:t>Developed a competitive offering and IP through hardware-software co-design.</a:t>
            </a:r>
          </a:p>
          <a:p>
            <a:pPr marL="514338" indent="-514338">
              <a:buAutoNum type="arabicPeriod"/>
            </a:pPr>
            <a:r>
              <a:rPr lang="en-US" sz="2400" spc="-151" dirty="0">
                <a:solidFill>
                  <a:schemeClr val="bg1"/>
                </a:solidFill>
                <a:ea typeface="Montserrat" charset="0"/>
                <a:cs typeface="Montserrat" charset="0"/>
              </a:rPr>
              <a:t>Confirmed pilot project with farm operator starting in January 2021.</a:t>
            </a:r>
          </a:p>
        </p:txBody>
      </p:sp>
      <p:pic>
        <p:nvPicPr>
          <p:cNvPr id="3" name="Picture Placeholder 2">
            <a:extLst>
              <a:ext uri="{FF2B5EF4-FFF2-40B4-BE49-F238E27FC236}">
                <a16:creationId xmlns:a16="http://schemas.microsoft.com/office/drawing/2014/main" id="{07EFB5AD-E5F6-C14F-BA4C-304D7107331E}"/>
              </a:ext>
            </a:extLst>
          </p:cNvPr>
          <p:cNvPicPr>
            <a:picLocks noGrp="1" noChangeAspect="1"/>
          </p:cNvPicPr>
          <p:nvPr>
            <p:ph type="pic" sz="quarter" idx="10"/>
          </p:nvPr>
        </p:nvPicPr>
        <p:blipFill rotWithShape="1">
          <a:blip r:embed="rId3" cstate="email">
            <a:alphaModFix amt="70000"/>
            <a:extLst>
              <a:ext uri="{BEBA8EAE-BF5A-486C-A8C5-ECC9F3942E4B}">
                <a14:imgProps xmlns:a14="http://schemas.microsoft.com/office/drawing/2010/main">
                  <a14:imgLayer r:embed="rId4">
                    <a14:imgEffect>
                      <a14:backgroundRemoval t="9984" b="99192" l="1573" r="99428">
                        <a14:foregroundMark x1="4804" y1="43937" x2="4804" y2="43937"/>
                        <a14:foregroundMark x1="6548" y1="48909" x2="6548" y2="48909"/>
                        <a14:foregroundMark x1="6548" y1="52829" x2="6548" y2="52829"/>
                        <a14:foregroundMark x1="6177" y1="34074" x2="6177" y2="78011"/>
                        <a14:foregroundMark x1="6177" y1="78011" x2="6177" y2="78011"/>
                        <a14:foregroundMark x1="1287" y1="26192" x2="1659" y2="87389"/>
                        <a14:foregroundMark x1="1659" y1="87389" x2="1659" y2="87389"/>
                        <a14:foregroundMark x1="94881" y1="87874" x2="94881" y2="42967"/>
                        <a14:foregroundMark x1="94881" y1="42967" x2="94881" y2="42967"/>
                        <a14:foregroundMark x1="94538" y1="37025" x2="94538" y2="37025"/>
                        <a14:foregroundMark x1="91393" y1="53314" x2="91393" y2="53314"/>
                        <a14:foregroundMark x1="79868" y1="64673" x2="92422" y2="87874"/>
                        <a14:foregroundMark x1="92422" y1="87874" x2="92422" y2="87874"/>
                        <a14:foregroundMark x1="944" y1="21746" x2="94166" y2="90340"/>
                        <a14:foregroundMark x1="94166" y1="90340" x2="94166" y2="90340"/>
                        <a14:foregroundMark x1="45296" y1="94301" x2="45296" y2="94301"/>
                        <a14:foregroundMark x1="57878" y1="93331" x2="57878" y2="93331"/>
                        <a14:foregroundMark x1="99428" y1="92320" x2="99428" y2="49879"/>
                        <a14:foregroundMark x1="99428" y1="49879" x2="99428" y2="49879"/>
                        <a14:foregroundMark x1="99428" y1="37551" x2="99428" y2="37551"/>
                        <a14:foregroundMark x1="99428" y1="72595" x2="99428" y2="72595"/>
                        <a14:foregroundMark x1="96626" y1="87389" x2="96626" y2="87389"/>
                        <a14:foregroundMark x1="57163" y1="94786" x2="57163" y2="94786"/>
                        <a14:foregroundMark x1="42494" y1="94786" x2="42494" y2="94786"/>
                        <a14:foregroundMark x1="2002" y1="97777" x2="2002" y2="97777"/>
                        <a14:foregroundMark x1="62396" y1="88884" x2="62396" y2="88884"/>
                        <a14:foregroundMark x1="45639" y1="99232" x2="45639" y2="99232"/>
                        <a14:foregroundMark x1="62053" y1="93331" x2="62053" y2="93331"/>
                        <a14:foregroundMark x1="49128" y1="94301" x2="49128" y2="94301"/>
                        <a14:foregroundMark x1="45982" y1="96766" x2="45982" y2="96766"/>
                        <a14:backgroundMark x1="35173" y1="17785" x2="35173" y2="17785"/>
                      </a14:backgroundRemoval>
                    </a14:imgEffect>
                  </a14:imgLayer>
                </a14:imgProps>
              </a:ext>
              <a:ext uri="{28A0092B-C50C-407E-A947-70E740481C1C}">
                <a14:useLocalDpi xmlns:a14="http://schemas.microsoft.com/office/drawing/2010/main"/>
              </a:ext>
            </a:extLst>
          </a:blip>
          <a:srcRect t="-1887"/>
          <a:stretch/>
        </p:blipFill>
        <p:spPr>
          <a:xfrm>
            <a:off x="0" y="2500840"/>
            <a:ext cx="6045938" cy="4357160"/>
          </a:xfrm>
        </p:spPr>
      </p:pic>
      <p:sp>
        <p:nvSpPr>
          <p:cNvPr id="2" name="TextBox 1">
            <a:extLst>
              <a:ext uri="{FF2B5EF4-FFF2-40B4-BE49-F238E27FC236}">
                <a16:creationId xmlns:a16="http://schemas.microsoft.com/office/drawing/2014/main" id="{CF37EA23-0A53-A743-A330-CC3D675EF4E3}"/>
              </a:ext>
            </a:extLst>
          </p:cNvPr>
          <p:cNvSpPr txBox="1"/>
          <p:nvPr/>
        </p:nvSpPr>
        <p:spPr>
          <a:xfrm>
            <a:off x="6146062" y="6188430"/>
            <a:ext cx="5483963" cy="369332"/>
          </a:xfrm>
          <a:prstGeom prst="rect">
            <a:avLst/>
          </a:prstGeom>
          <a:noFill/>
        </p:spPr>
        <p:txBody>
          <a:bodyPr wrap="square" rtlCol="0">
            <a:spAutoFit/>
          </a:bodyPr>
          <a:lstStyle/>
          <a:p>
            <a:r>
              <a:rPr lang="en-US" dirty="0">
                <a:solidFill>
                  <a:schemeClr val="bg1"/>
                </a:solidFill>
              </a:rPr>
              <a:t>Contact: </a:t>
            </a:r>
            <a:r>
              <a:rPr lang="en-US" dirty="0" err="1">
                <a:solidFill>
                  <a:schemeClr val="bg1"/>
                </a:solidFill>
              </a:rPr>
              <a:t>ivan@ambientsystems.ai</a:t>
            </a:r>
            <a:endParaRPr lang="en-US" dirty="0">
              <a:solidFill>
                <a:schemeClr val="bg1"/>
              </a:solidFill>
            </a:endParaRPr>
          </a:p>
        </p:txBody>
      </p:sp>
      <p:sp>
        <p:nvSpPr>
          <p:cNvPr id="5" name="Slide Number Placeholder 1">
            <a:extLst>
              <a:ext uri="{FF2B5EF4-FFF2-40B4-BE49-F238E27FC236}">
                <a16:creationId xmlns:a16="http://schemas.microsoft.com/office/drawing/2014/main" id="{7ED70654-21D0-AF4A-B300-2A6C24C0DAA6}"/>
              </a:ext>
            </a:extLst>
          </p:cNvPr>
          <p:cNvSpPr txBox="1">
            <a:spLocks/>
          </p:cNvSpPr>
          <p:nvPr/>
        </p:nvSpPr>
        <p:spPr>
          <a:xfrm>
            <a:off x="8610600" y="6356352"/>
            <a:ext cx="2743200" cy="365125"/>
          </a:xfrm>
          <a:prstGeom prst="rect">
            <a:avLst/>
          </a:prstGeom>
        </p:spPr>
        <p:txBody>
          <a:bodyPr/>
          <a:lstStyle>
            <a:defPPr>
              <a:defRPr lang="ar-L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312FC69-CE3E-4598-98C1-B119891192DE}" type="slidenum">
              <a:rPr lang="ar-LY" smtClean="0">
                <a:solidFill>
                  <a:schemeClr val="bg1"/>
                </a:solidFill>
              </a:rPr>
              <a:pPr algn="r"/>
              <a:t>13</a:t>
            </a:fld>
            <a:endParaRPr lang="ar-LY" dirty="0">
              <a:solidFill>
                <a:schemeClr val="bg1"/>
              </a:solidFill>
            </a:endParaRPr>
          </a:p>
        </p:txBody>
      </p:sp>
      <p:sp>
        <p:nvSpPr>
          <p:cNvPr id="7" name="TextBox 6">
            <a:extLst>
              <a:ext uri="{FF2B5EF4-FFF2-40B4-BE49-F238E27FC236}">
                <a16:creationId xmlns:a16="http://schemas.microsoft.com/office/drawing/2014/main" id="{4A2CADDF-0DE1-8D46-983D-5C247445810C}"/>
              </a:ext>
            </a:extLst>
          </p:cNvPr>
          <p:cNvSpPr txBox="1"/>
          <p:nvPr/>
        </p:nvSpPr>
        <p:spPr>
          <a:xfrm>
            <a:off x="1602441" y="414429"/>
            <a:ext cx="4100462" cy="1046440"/>
          </a:xfrm>
          <a:prstGeom prst="rect">
            <a:avLst/>
          </a:prstGeom>
          <a:noFill/>
        </p:spPr>
        <p:txBody>
          <a:bodyPr wrap="square" rtlCol="1">
            <a:spAutoFit/>
          </a:bodyPr>
          <a:lstStyle/>
          <a:p>
            <a:r>
              <a:rPr lang="en-US" sz="4400" dirty="0">
                <a:solidFill>
                  <a:schemeClr val="bg1"/>
                </a:solidFill>
                <a:latin typeface="Poppins" panose="00000500000000000000" pitchFamily="2" charset="0"/>
                <a:cs typeface="Poppins" panose="00000500000000000000" pitchFamily="2" charset="0"/>
              </a:rPr>
              <a:t>Ambient Systems</a:t>
            </a:r>
          </a:p>
          <a:p>
            <a:r>
              <a:rPr lang="en-CA" sz="1600" dirty="0">
                <a:solidFill>
                  <a:schemeClr val="bg1"/>
                </a:solidFill>
              </a:rPr>
              <a:t>Climate Management for Cities of Tomorrow</a:t>
            </a:r>
            <a:endParaRPr lang="en-CA" sz="2000" dirty="0">
              <a:solidFill>
                <a:schemeClr val="bg1"/>
              </a:solidFill>
            </a:endParaRPr>
          </a:p>
        </p:txBody>
      </p:sp>
      <p:pic>
        <p:nvPicPr>
          <p:cNvPr id="8" name="Graphic 7">
            <a:extLst>
              <a:ext uri="{FF2B5EF4-FFF2-40B4-BE49-F238E27FC236}">
                <a16:creationId xmlns:a16="http://schemas.microsoft.com/office/drawing/2014/main" id="{151B1913-41C0-C844-8AA1-62DE78FBDCE5}"/>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22776" y="193333"/>
            <a:ext cx="1479665" cy="1488633"/>
          </a:xfrm>
          <a:prstGeom prst="rect">
            <a:avLst/>
          </a:prstGeom>
        </p:spPr>
      </p:pic>
    </p:spTree>
    <p:extLst>
      <p:ext uri="{BB962C8B-B14F-4D97-AF65-F5344CB8AC3E}">
        <p14:creationId xmlns:p14="http://schemas.microsoft.com/office/powerpoint/2010/main" val="[redacted]"/>
      </p:ext>
    </p:extLst>
  </p:cSld>
  <p:clrMapOvr>
    <a:masterClrMapping/>
  </p:clrMapOvr>
</p:sld>
</file>

<file path=ppt/theme/theme1.xml><?xml version="1.0" encoding="utf-8"?>
<a:theme xmlns:a="http://schemas.openxmlformats.org/drawingml/2006/main" name="Office Theme">
  <a:themeElements>
    <a:clrScheme name="Blockchain 1 Dark">
      <a:dk1>
        <a:srgbClr val="010A1D"/>
      </a:dk1>
      <a:lt1>
        <a:srgbClr val="FFFFFF"/>
      </a:lt1>
      <a:dk2>
        <a:srgbClr val="02153C"/>
      </a:dk2>
      <a:lt2>
        <a:srgbClr val="F9F9F9"/>
      </a:lt2>
      <a:accent1>
        <a:srgbClr val="542EF6"/>
      </a:accent1>
      <a:accent2>
        <a:srgbClr val="6E67F9"/>
      </a:accent2>
      <a:accent3>
        <a:srgbClr val="5D89F8"/>
      </a:accent3>
      <a:accent4>
        <a:srgbClr val="3796F8"/>
      </a:accent4>
      <a:accent5>
        <a:srgbClr val="4BAAF8"/>
      </a:accent5>
      <a:accent6>
        <a:srgbClr val="28C8F8"/>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1299</Words>
  <Application>Microsoft Macintosh PowerPoint</Application>
  <PresentationFormat>Widescreen</PresentationFormat>
  <Paragraphs>252</Paragraphs>
  <Slides>14</Slides>
  <Notes>14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14</vt:i4>
      </vt:variant>
    </vt:vector>
  </HeadingPairs>
  <TitlesOfParts>
    <vt:vector size="28" baseType="lpstr">
      <vt:lpstr>Arial</vt:lpstr>
      <vt:lpstr>Calibri</vt:lpstr>
      <vt:lpstr>Calibri Light</vt:lpstr>
      <vt:lpstr>Cantarell</vt:lpstr>
      <vt:lpstr>Cantarell bold</vt:lpstr>
      <vt:lpstr>Garamond</vt:lpstr>
      <vt:lpstr>Lato</vt:lpstr>
      <vt:lpstr>Lato Black</vt:lpstr>
      <vt:lpstr>Lato Light</vt:lpstr>
      <vt:lpstr>Poppins</vt:lpstr>
      <vt:lpstr>Poppins Medium</vt:lpstr>
      <vt:lpstr>Source Sans Pro</vt:lpstr>
      <vt:lpstr>Times New Roman</vt:lpstr>
      <vt:lpstr>Office Theme</vt:lpstr>
      <vt:lpstr>PowerPoint Presentation</vt:lpstr>
      <vt:lpstr>PowerPoint Presentation</vt:lpstr>
      <vt:lpstr>New building type with few existing solutions</vt:lpstr>
      <vt:lpstr>The Urban Farmer’s Dilemma</vt:lpstr>
      <vt:lpstr>PowerPoint Presentation</vt:lpstr>
      <vt:lpstr>IP-enabled competitive advantage</vt:lpstr>
      <vt:lpstr>Competitive Landscape</vt:lpstr>
      <vt:lpstr>Smart-building technology for indoor farms</vt:lpstr>
      <vt:lpstr>Innovative revenue model  leverages value-sharing of additional savings and revenues</vt:lpstr>
      <vt:lpstr>Pilot project planned for January 2021</vt:lpstr>
      <vt:lpstr>Raising $650k with break-even in year 3</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ns0:coreProperties xmlns:ns0="http://schemas.openxmlformats.org/package/2006/metadata/core-properties" xmlns:ns1="http://purl.org/dc/terms/" xmlns:xsi="http://www.w3.org/2001/XMLSchema-instance">
  <ns0:revision>2</ns0:revision>
  <ns1:created xsi:type="dcterms:W3CDTF">2020-11-19T21:21:38Z</ns1:created>
  <ns1:modified xsi:type="dcterms:W3CDTF">2020-12-14T03:11:15Z</ns1:modified>
</ns0:coreProperties>
</file>